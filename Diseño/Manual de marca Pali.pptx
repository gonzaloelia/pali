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d57406a0-e983-5602-eb41-5e2301156798}">
          <p14:sldIdLst>
            <p14:sldId id="256"/>
          </p14:sldIdLst>
        </p14:section>
        <p14:section name="Marca" id="{d5315d8c-1005-5a59-bd7a-ad3d2fd41e3f}">
          <p14:sldIdLst>
            <p14:sldId id="257"/>
            <p14:sldId id="258"/>
            <p14:sldId id="259"/>
            <p14:sldId id="260"/>
            <p14:sldId id="261"/>
          </p14:sldIdLst>
        </p14:section>
        <p14:section name="Logo" id="{eb32dc9f-7e09-4872-fe58-3bed7dfe5872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olor" id="{d8a19ea0-d6cb-8fc2-700c-14a06e29c4a5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Tipografía" id="{83319fb9-a271-47a7-dcc2-bf293f5a5a05}">
          <p14:sldIdLst>
            <p14:sldId id="279"/>
            <p14:sldId id="280"/>
            <p14:sldId id="281"/>
            <p14:sldId id="282"/>
          </p14:sldIdLst>
        </p14:section>
        <p14:section name="Sistema" id="{ddef8f3b-0475-5b76-a2f5-8bac2c7dc214}">
          <p14:sldIdLst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Cierre" id="{fb0a0fef-a5bb-02ef-b3d1-4e4f96848e75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3429000"/>
            <a:ext cx="10972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0" b="1" spc="-5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endParaRPr lang="en-US" sz="13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I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 — Manual de marca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301752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 — Manual de marca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 — Manual de marca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D6C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solidFill>
          <a:srgbClr val="0B15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 — Manual de marca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6A09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1.png"/><Relationship Id="rId4" Type="http://schemas.openxmlformats.org/officeDocument/2006/relationships/image" Target="../media/image-13-2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4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cha · borde"/>
          <p:cNvSpPr/>
          <p:nvPr/>
        </p:nvSpPr>
        <p:spPr>
          <a:xfrm>
            <a:off x="-1280160" y="182880"/>
            <a:ext cx="15727680" cy="7863840"/>
          </a:xfrm>
          <a:prstGeom prst="rect">
            <a:avLst/>
          </a:prstGeom>
          <a:ln w="19050">
            <a:solidFill>
              <a:srgbClr val="3A6A58"/>
            </a:solidFill>
            <a:prstDash val="solid"/>
          </a:ln>
        </p:spPr>
      </p:sp>
      <p:sp>
        <p:nvSpPr>
          <p:cNvPr id="3" name="Red"/>
          <p:cNvSpPr/>
          <p:nvPr/>
        </p:nvSpPr>
        <p:spPr>
          <a:xfrm>
            <a:off x="6583680" y="182880"/>
            <a:ext cx="0" cy="7863840"/>
          </a:xfrm>
          <a:prstGeom prst="line">
            <a:avLst/>
          </a:prstGeom>
          <a:noFill/>
          <a:ln w="34290">
            <a:solidFill>
              <a:srgbClr val="3A6A58"/>
            </a:solidFill>
            <a:prstDash val="solid"/>
          </a:ln>
        </p:spPr>
      </p:sp>
      <p:sp>
        <p:nvSpPr>
          <p:cNvPr id="4" name="Línea de cancha"/>
          <p:cNvSpPr/>
          <p:nvPr/>
        </p:nvSpPr>
        <p:spPr>
          <a:xfrm>
            <a:off x="1118311" y="182880"/>
            <a:ext cx="0" cy="7863840"/>
          </a:xfrm>
          <a:prstGeom prst="line">
            <a:avLst/>
          </a:prstGeom>
          <a:noFill/>
          <a:ln w="19050">
            <a:solidFill>
              <a:srgbClr val="3A6A58"/>
            </a:solidFill>
            <a:prstDash val="solid"/>
          </a:ln>
        </p:spPr>
      </p:sp>
      <p:sp>
        <p:nvSpPr>
          <p:cNvPr id="5" name="Línea de cancha"/>
          <p:cNvSpPr/>
          <p:nvPr/>
        </p:nvSpPr>
        <p:spPr>
          <a:xfrm>
            <a:off x="12049049" y="182880"/>
            <a:ext cx="0" cy="7863840"/>
          </a:xfrm>
          <a:prstGeom prst="line">
            <a:avLst/>
          </a:prstGeom>
          <a:noFill/>
          <a:ln w="19050">
            <a:solidFill>
              <a:srgbClr val="3A6A58"/>
            </a:solidFill>
            <a:prstDash val="solid"/>
          </a:ln>
        </p:spPr>
      </p:sp>
      <p:sp>
        <p:nvSpPr>
          <p:cNvPr id="6" name="Línea de cancha"/>
          <p:cNvSpPr/>
          <p:nvPr/>
        </p:nvSpPr>
        <p:spPr>
          <a:xfrm>
            <a:off x="1118311" y="4114800"/>
            <a:ext cx="10930738" cy="0"/>
          </a:xfrm>
          <a:prstGeom prst="line">
            <a:avLst/>
          </a:prstGeom>
          <a:noFill/>
          <a:ln w="19050">
            <a:solidFill>
              <a:srgbClr val="3A6A58"/>
            </a:solidFill>
            <a:prstDash val="solid"/>
          </a:ln>
        </p:spPr>
      </p:sp>
      <p:pic>
        <p:nvPicPr>
          <p:cNvPr id="7" name="Pelota" descr="Pelota de Pali sobre un dibujo de canc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960120"/>
            <a:ext cx="2651760" cy="30495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MANUAL DE MARCA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6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VERSIÓN 1.1  ·  OCTUBRE 2026  ·  BORRADOR PARA VALIDAR</a:t>
            </a:r>
            <a:endParaRPr lang="en-US" sz="1000" dirty="0"/>
          </a:p>
        </p:txBody>
      </p:sp>
      <p:sp>
        <p:nvSpPr>
          <p:cNvPr id="10" name="Nombre"/>
          <p:cNvSpPr txBox="1"/>
          <p:nvPr/>
        </p:nvSpPr>
        <p:spPr>
          <a:xfrm>
            <a:off x="548640" y="2606040"/>
            <a:ext cx="8686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AGENDA DEL MANUAL  ·  CADA TURNO ES UN CAPÍTULO, Y SU ANCHO ES SU LARGO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Contenido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11:00</a:t>
            </a:r>
            <a:endParaRPr lang="en-US" sz="1200" dirty="0"/>
          </a:p>
        </p:txBody>
      </p:sp>
      <p:sp>
        <p:nvSpPr>
          <p:cNvPr id="5" name="Turno Marca"/>
          <p:cNvSpPr/>
          <p:nvPr/>
        </p:nvSpPr>
        <p:spPr>
          <a:xfrm>
            <a:off x="1828800" y="1920240"/>
            <a:ext cx="4937760" cy="804672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2029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Marca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es Pali y qué principios guían el diseño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20299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P. 03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12:30</a:t>
            </a:r>
            <a:endParaRPr lang="en-US" sz="1200" dirty="0"/>
          </a:p>
        </p:txBody>
      </p:sp>
      <p:sp>
        <p:nvSpPr>
          <p:cNvPr id="11" name="Turno Logo"/>
          <p:cNvSpPr/>
          <p:nvPr/>
        </p:nvSpPr>
        <p:spPr>
          <a:xfrm>
            <a:off x="1828800" y="2834640"/>
            <a:ext cx="8640064" cy="804672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57400" y="29443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310128"/>
            <a:ext cx="708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Versiones, construcción, espacio y usos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71584" y="2944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P. 07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14:00</a:t>
            </a:r>
            <a:endParaRPr lang="en-US" sz="1200" dirty="0"/>
          </a:p>
        </p:txBody>
      </p:sp>
      <p:sp>
        <p:nvSpPr>
          <p:cNvPr id="17" name="Turno Color"/>
          <p:cNvSpPr/>
          <p:nvPr/>
        </p:nvSpPr>
        <p:spPr>
          <a:xfrm>
            <a:off x="1828800" y="3749040"/>
            <a:ext cx="9720072" cy="804672"/>
          </a:xfrm>
          <a:prstGeom prst="rect">
            <a:avLst/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57400" y="38587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422452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Primarios, secundarios, estados y contraste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451592" y="38587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P. 15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937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15:30</a:t>
            </a:r>
            <a:endParaRPr lang="en-US" sz="1200" dirty="0"/>
          </a:p>
        </p:txBody>
      </p:sp>
      <p:sp>
        <p:nvSpPr>
          <p:cNvPr id="23" name="Turno Tipografía"/>
          <p:cNvSpPr/>
          <p:nvPr/>
        </p:nvSpPr>
        <p:spPr>
          <a:xfrm>
            <a:off x="1828800" y="4663440"/>
            <a:ext cx="4937760" cy="804672"/>
          </a:xfrm>
          <a:prstGeom prst="rect">
            <a:avLst/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5740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Tipografía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5138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Sans, IBM Plex Mono y su jerarquía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P. 24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52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17:00</a:t>
            </a:r>
            <a:endParaRPr lang="en-US" sz="1200" dirty="0"/>
          </a:p>
        </p:txBody>
      </p:sp>
      <p:sp>
        <p:nvSpPr>
          <p:cNvPr id="29" name="Turno Sistema"/>
          <p:cNvSpPr/>
          <p:nvPr/>
        </p:nvSpPr>
        <p:spPr>
          <a:xfrm>
            <a:off x="1828800" y="5577840"/>
            <a:ext cx="6480048" cy="804672"/>
          </a:xfrm>
          <a:prstGeom prst="rect">
            <a:avLst/>
          </a:prstGeom>
          <a:solidFill>
            <a:srgbClr val="9C8DDD"/>
          </a:solidFill>
          <a:ln w="12700">
            <a:solidFill>
              <a:srgbClr val="9C8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057400" y="56875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697480" y="5623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2697480" y="6053328"/>
            <a:ext cx="492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Forma, voz, el club y la marca en el producto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211568" y="5687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P. 28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cha · borde"/>
          <p:cNvSpPr/>
          <p:nvPr/>
        </p:nvSpPr>
        <p:spPr>
          <a:xfrm>
            <a:off x="4480560" y="502920"/>
            <a:ext cx="11338560" cy="5669280"/>
          </a:xfrm>
          <a:prstGeom prst="rect">
            <a:avLst/>
          </a:prstGeom>
          <a:ln w="19050">
            <a:solidFill>
              <a:srgbClr val="3A6A58"/>
            </a:solidFill>
            <a:prstDash val="solid"/>
          </a:ln>
        </p:spPr>
      </p:sp>
      <p:sp>
        <p:nvSpPr>
          <p:cNvPr id="3" name="Red"/>
          <p:cNvSpPr/>
          <p:nvPr/>
        </p:nvSpPr>
        <p:spPr>
          <a:xfrm>
            <a:off x="10149840" y="502920"/>
            <a:ext cx="0" cy="5669280"/>
          </a:xfrm>
          <a:prstGeom prst="line">
            <a:avLst/>
          </a:prstGeom>
          <a:noFill/>
          <a:ln w="34290">
            <a:solidFill>
              <a:srgbClr val="3A6A58"/>
            </a:solidFill>
            <a:prstDash val="solid"/>
          </a:ln>
        </p:spPr>
      </p:sp>
      <p:sp>
        <p:nvSpPr>
          <p:cNvPr id="4" name="Línea de cancha"/>
          <p:cNvSpPr/>
          <p:nvPr/>
        </p:nvSpPr>
        <p:spPr>
          <a:xfrm>
            <a:off x="6209690" y="502920"/>
            <a:ext cx="0" cy="5669280"/>
          </a:xfrm>
          <a:prstGeom prst="line">
            <a:avLst/>
          </a:prstGeom>
          <a:noFill/>
          <a:ln w="19050">
            <a:solidFill>
              <a:srgbClr val="3A6A58"/>
            </a:solidFill>
            <a:prstDash val="solid"/>
          </a:ln>
        </p:spPr>
      </p:sp>
      <p:sp>
        <p:nvSpPr>
          <p:cNvPr id="5" name="Línea de cancha"/>
          <p:cNvSpPr/>
          <p:nvPr/>
        </p:nvSpPr>
        <p:spPr>
          <a:xfrm>
            <a:off x="14089990" y="502920"/>
            <a:ext cx="0" cy="5669280"/>
          </a:xfrm>
          <a:prstGeom prst="line">
            <a:avLst/>
          </a:prstGeom>
          <a:noFill/>
          <a:ln w="19050">
            <a:solidFill>
              <a:srgbClr val="3A6A58"/>
            </a:solidFill>
            <a:prstDash val="solid"/>
          </a:ln>
        </p:spPr>
      </p:sp>
      <p:sp>
        <p:nvSpPr>
          <p:cNvPr id="6" name="Línea de cancha"/>
          <p:cNvSpPr/>
          <p:nvPr/>
        </p:nvSpPr>
        <p:spPr>
          <a:xfrm>
            <a:off x="6209690" y="3337560"/>
            <a:ext cx="7880299" cy="0"/>
          </a:xfrm>
          <a:prstGeom prst="line">
            <a:avLst/>
          </a:prstGeom>
          <a:noFill/>
          <a:ln w="19050">
            <a:solidFill>
              <a:srgbClr val="3A6A58"/>
            </a:solidFill>
            <a:prstDash val="solid"/>
          </a:ln>
        </p:spPr>
      </p:sp>
      <p:pic>
        <p:nvPicPr>
          <p:cNvPr id="7" name="Pelota" descr="Pelota sobre la canc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828800"/>
            <a:ext cx="1051560" cy="10515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 /  05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94360" y="34290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spc="-5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Marca</a:t>
            </a:r>
            <a:endParaRPr lang="en-US" sz="13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669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es Pali y los principios que guían cada decisión de diseño.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sp>
        <p:nvSpPr>
          <p:cNvPr id="3" name="Panel verde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4" name="Pelota" descr="Pelota recort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737360"/>
            <a:ext cx="5669280" cy="5669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MARCA  ·  ESENCIA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97280"/>
            <a:ext cx="7315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spc="-2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Reservar una cancha tiene que costar </a:t>
            </a:r>
            <a:pPr indent="0" marL="0">
              <a:lnSpc>
                <a:spcPct val="95000"/>
              </a:lnSpc>
              <a:buNone/>
            </a:pPr>
            <a:r>
              <a:rPr lang="en-US" sz="5600" b="1" spc="-200" kern="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</a:t>
            </a:r>
            <a:pPr indent="0" marL="0">
              <a:lnSpc>
                <a:spcPct val="95000"/>
              </a:lnSpc>
              <a:buNone/>
            </a:pPr>
            <a:r>
              <a:rPr lang="en-US" sz="5600" b="1" spc="-2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 anotarla a mano.</a:t>
            </a:r>
            <a:endParaRPr lang="en-US" sz="5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PRINCIPIO 01 — POCOS CLICS</a:t>
            </a:r>
            <a:endParaRPr lang="en-US" sz="1000" dirty="0"/>
          </a:p>
        </p:txBody>
      </p:sp>
      <p:sp>
        <p:nvSpPr>
          <p:cNvPr id="8" name="Filete"/>
          <p:cNvSpPr/>
          <p:nvPr/>
        </p:nvSpPr>
        <p:spPr>
          <a:xfrm>
            <a:off x="640080" y="4937760"/>
            <a:ext cx="2286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5047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QUÉ ES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3492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backoffice para que los clubes administren sus canchas y un chatbot para que los jugadores las alquilen.</a:t>
            </a:r>
            <a:endParaRPr lang="en-US" sz="1200" dirty="0"/>
          </a:p>
        </p:txBody>
      </p:sp>
      <p:sp>
        <p:nvSpPr>
          <p:cNvPr id="11" name="Filete"/>
          <p:cNvSpPr/>
          <p:nvPr/>
        </p:nvSpPr>
        <p:spPr>
          <a:xfrm>
            <a:off x="3154680" y="4937760"/>
            <a:ext cx="2286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54680" y="5047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 QUIÉN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154680" y="53492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Administradores de clubes que hoy anotan todo a mano. Arranca con paddle.</a:t>
            </a:r>
            <a:endParaRPr lang="en-US" sz="1200" dirty="0"/>
          </a:p>
        </p:txBody>
      </p:sp>
      <p:sp>
        <p:nvSpPr>
          <p:cNvPr id="14" name="Filete"/>
          <p:cNvSpPr/>
          <p:nvPr/>
        </p:nvSpPr>
        <p:spPr>
          <a:xfrm>
            <a:off x="5669280" y="4937760"/>
            <a:ext cx="2286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0" y="5047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CÓMO SE SIENTE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53492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Rápida y clara, con superficies blancas y un verde con carácter.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Moderna"/>
          <p:cNvSpPr/>
          <p:nvPr/>
        </p:nvSpPr>
        <p:spPr>
          <a:xfrm>
            <a:off x="0" y="0"/>
            <a:ext cx="4063868" cy="685800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Palabra Moderna"/>
          <p:cNvSpPr txBox="1"/>
          <p:nvPr/>
        </p:nvSpPr>
        <p:spPr>
          <a:xfrm rot="16200000">
            <a:off x="-2377440" y="25146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0" b="1" spc="-5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Moderna</a:t>
            </a:r>
            <a:endParaRPr lang="en-US" sz="9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384048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genérica. Un diseño con criterio propio, sin plantillas ni efectos de moda.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3429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Panel Mínima"/>
          <p:cNvSpPr/>
          <p:nvPr/>
        </p:nvSpPr>
        <p:spPr>
          <a:xfrm>
            <a:off x="4063868" y="0"/>
            <a:ext cx="4063868" cy="6858000"/>
          </a:xfrm>
          <a:prstGeom prst="rect">
            <a:avLst/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7" name="Palabra Mínima"/>
          <p:cNvSpPr txBox="1"/>
          <p:nvPr/>
        </p:nvSpPr>
        <p:spPr>
          <a:xfrm rot="16200000">
            <a:off x="1686428" y="25146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0" b="1" spc="-5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Mínima</a:t>
            </a:r>
            <a:endParaRPr lang="en-US" sz="9200" dirty="0"/>
          </a:p>
        </p:txBody>
      </p:sp>
      <p:sp>
        <p:nvSpPr>
          <p:cNvPr id="8" name="Text 6"/>
          <p:cNvSpPr txBox="1"/>
          <p:nvPr/>
        </p:nvSpPr>
        <p:spPr>
          <a:xfrm>
            <a:off x="5892668" y="384048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Nada está porque sí: cada elemento resuelve una necesidad del cliente.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92668" y="3429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3D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Panel Crece"/>
          <p:cNvSpPr/>
          <p:nvPr/>
        </p:nvSpPr>
        <p:spPr>
          <a:xfrm>
            <a:off x="8127736" y="0"/>
            <a:ext cx="4063868" cy="6858000"/>
          </a:xfrm>
          <a:prstGeom prst="rect">
            <a:avLst/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11" name="Palabra Crece"/>
          <p:cNvSpPr txBox="1"/>
          <p:nvPr/>
        </p:nvSpPr>
        <p:spPr>
          <a:xfrm rot="16200000">
            <a:off x="5750296" y="25146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0" b="1" spc="-5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Crece</a:t>
            </a:r>
            <a:endParaRPr lang="en-US" sz="9200" dirty="0"/>
          </a:p>
        </p:txBody>
      </p:sp>
      <p:sp>
        <p:nvSpPr>
          <p:cNvPr id="12" name="Text 10"/>
          <p:cNvSpPr txBox="1"/>
          <p:nvPr/>
        </p:nvSpPr>
        <p:spPr>
          <a:xfrm>
            <a:off x="9956536" y="384048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Hoy paddle. Mañana otros deportes y clubes: la marca no depende de uno solo.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956536" y="3429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MARCA  ·  DIRECCIÓN VISUAL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 MISMO LENGUAJE VALE PARA LA MARCA Y PARA EL BACKOFFICE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MARCA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Ocho principios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diseño</a:t>
            </a:r>
            <a:endParaRPr lang="en-US" sz="3600" dirty="0"/>
          </a:p>
        </p:txBody>
      </p:sp>
      <p:sp>
        <p:nvSpPr>
          <p:cNvPr id="4" name="Principio 1"/>
          <p:cNvSpPr/>
          <p:nvPr/>
        </p:nvSpPr>
        <p:spPr>
          <a:xfrm>
            <a:off x="640080" y="1691640"/>
            <a:ext cx="2727198" cy="228600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6479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300" kern="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78892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Pocos clics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136392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Reservar un turno debe costar menos que anotarlo a mano.</a:t>
            </a:r>
            <a:endParaRPr lang="en-US" sz="1200" dirty="0"/>
          </a:p>
        </p:txBody>
      </p:sp>
      <p:sp>
        <p:nvSpPr>
          <p:cNvPr id="8" name="Principio 2"/>
          <p:cNvSpPr/>
          <p:nvPr/>
        </p:nvSpPr>
        <p:spPr>
          <a:xfrm>
            <a:off x="3367278" y="1691640"/>
            <a:ext cx="2727198" cy="228600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8446" y="176479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300" kern="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3568446" y="278892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con carácter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68446" y="3136392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verde ancla la interfaz y marca la acción.</a:t>
            </a:r>
            <a:endParaRPr lang="en-US" sz="1200" dirty="0"/>
          </a:p>
        </p:txBody>
      </p:sp>
      <p:sp>
        <p:nvSpPr>
          <p:cNvPr id="12" name="Principio 3"/>
          <p:cNvSpPr/>
          <p:nvPr/>
        </p:nvSpPr>
        <p:spPr>
          <a:xfrm>
            <a:off x="6094476" y="1691640"/>
            <a:ext cx="272719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95644" y="176479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300" kern="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6295644" y="278892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Blanco para trabajar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95644" y="3136392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Agenda, tablas y formularios van sobre blanco.</a:t>
            </a:r>
            <a:endParaRPr lang="en-US" sz="1200" dirty="0"/>
          </a:p>
        </p:txBody>
      </p:sp>
      <p:sp>
        <p:nvSpPr>
          <p:cNvPr id="16" name="Principio 4"/>
          <p:cNvSpPr/>
          <p:nvPr/>
        </p:nvSpPr>
        <p:spPr>
          <a:xfrm>
            <a:off x="8821674" y="1691640"/>
            <a:ext cx="2727198" cy="2286000"/>
          </a:xfrm>
          <a:prstGeom prst="rect">
            <a:avLst/>
          </a:prstGeom>
          <a:solidFill>
            <a:srgbClr val="0D1F18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22842" y="176479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300" kern="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6600" dirty="0"/>
          </a:p>
        </p:txBody>
      </p:sp>
      <p:sp>
        <p:nvSpPr>
          <p:cNvPr id="18" name="Text 16"/>
          <p:cNvSpPr txBox="1"/>
          <p:nvPr/>
        </p:nvSpPr>
        <p:spPr>
          <a:xfrm>
            <a:off x="9022842" y="278892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negro es el texto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22842" y="3136392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negro verdoso para texto y énfasis.</a:t>
            </a:r>
            <a:endParaRPr lang="en-US" sz="1200" dirty="0"/>
          </a:p>
        </p:txBody>
      </p:sp>
      <p:sp>
        <p:nvSpPr>
          <p:cNvPr id="20" name="Principio 5"/>
          <p:cNvSpPr/>
          <p:nvPr/>
        </p:nvSpPr>
        <p:spPr>
          <a:xfrm>
            <a:off x="640080" y="3977640"/>
            <a:ext cx="2727198" cy="2286000"/>
          </a:xfrm>
          <a:prstGeom prst="rect">
            <a:avLst/>
          </a:prstGeom>
          <a:solidFill>
            <a:srgbClr val="FDEEEA"/>
          </a:solidFill>
          <a:ln w="12700">
            <a:solidFill>
              <a:srgbClr val="FDE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405079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300" kern="0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66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507492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coral solo cancela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5422392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único color cálido, solo para acciones destructivas.</a:t>
            </a:r>
            <a:endParaRPr lang="en-US" sz="1200" dirty="0"/>
          </a:p>
        </p:txBody>
      </p:sp>
      <p:sp>
        <p:nvSpPr>
          <p:cNvPr id="24" name="Principio 6"/>
          <p:cNvSpPr/>
          <p:nvPr/>
        </p:nvSpPr>
        <p:spPr>
          <a:xfrm>
            <a:off x="3367278" y="3977640"/>
            <a:ext cx="2727198" cy="2286000"/>
          </a:xfrm>
          <a:prstGeom prst="rect">
            <a:avLst/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68446" y="405079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3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6600" dirty="0"/>
          </a:p>
        </p:txBody>
      </p:sp>
      <p:sp>
        <p:nvSpPr>
          <p:cNvPr id="26" name="Text 24"/>
          <p:cNvSpPr txBox="1"/>
          <p:nvPr/>
        </p:nvSpPr>
        <p:spPr>
          <a:xfrm>
            <a:off x="3568446" y="507492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en mono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568446" y="5422392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Horarios, importes y teléfonos se alinean y se leen rápido.</a:t>
            </a:r>
            <a:endParaRPr lang="en-US" sz="1200" dirty="0"/>
          </a:p>
        </p:txBody>
      </p:sp>
      <p:sp>
        <p:nvSpPr>
          <p:cNvPr id="28" name="Principio 7"/>
          <p:cNvSpPr/>
          <p:nvPr/>
        </p:nvSpPr>
        <p:spPr>
          <a:xfrm>
            <a:off x="6094476" y="3977640"/>
            <a:ext cx="2727198" cy="2286000"/>
          </a:xfrm>
          <a:prstGeom prst="rect">
            <a:avLst/>
          </a:prstGeom>
          <a:solidFill>
            <a:srgbClr val="9C8DDD"/>
          </a:solidFill>
          <a:ln w="12700">
            <a:solidFill>
              <a:srgbClr val="9C8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95644" y="405079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3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6600" dirty="0"/>
          </a:p>
        </p:txBody>
      </p:sp>
      <p:sp>
        <p:nvSpPr>
          <p:cNvPr id="30" name="Text 28"/>
          <p:cNvSpPr txBox="1"/>
          <p:nvPr/>
        </p:nvSpPr>
        <p:spPr>
          <a:xfrm>
            <a:off x="6295644" y="507492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Obligatorio se marca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295644" y="5422392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Asterisco verde en lo obligatorio; lo opcional no lleva nada.</a:t>
            </a:r>
            <a:endParaRPr lang="en-US" sz="1200" dirty="0"/>
          </a:p>
        </p:txBody>
      </p:sp>
      <p:sp>
        <p:nvSpPr>
          <p:cNvPr id="32" name="Principio 8"/>
          <p:cNvSpPr/>
          <p:nvPr/>
        </p:nvSpPr>
        <p:spPr>
          <a:xfrm>
            <a:off x="8821674" y="3977640"/>
            <a:ext cx="2727198" cy="2286000"/>
          </a:xfrm>
          <a:prstGeom prst="rect">
            <a:avLst/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22842" y="405079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3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6600" dirty="0"/>
          </a:p>
        </p:txBody>
      </p:sp>
      <p:sp>
        <p:nvSpPr>
          <p:cNvPr id="34" name="Text 32"/>
          <p:cNvSpPr txBox="1"/>
          <p:nvPr/>
        </p:nvSpPr>
        <p:spPr>
          <a:xfrm>
            <a:off x="9022842" y="507492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Números claros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9022842" y="5422392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Cifras alineadas y siempre con su variación.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elota gigante" descr="Pelota gigante recortada por el bor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-1188720"/>
            <a:ext cx="8595360" cy="8595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/  05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94360" y="34290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spc="-5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</a:t>
            </a:r>
            <a:endParaRPr lang="en-US" sz="1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669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pelota y un nombre. Cómo se construye, cuándo se usa cada versión y qué no hacer.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logo</a:t>
            </a:r>
            <a:endParaRPr lang="en-US" sz="3600" dirty="0"/>
          </a:p>
        </p:txBody>
      </p:sp>
      <p:pic>
        <p:nvPicPr>
          <p:cNvPr id="4" name="Logo claro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31720"/>
            <a:ext cx="2194560" cy="2523744"/>
          </a:xfrm>
          <a:prstGeom prst="rect">
            <a:avLst/>
          </a:prstGeom>
        </p:spPr>
      </p:pic>
      <p:sp>
        <p:nvSpPr>
          <p:cNvPr id="5" name="Logo claro · nombre"/>
          <p:cNvSpPr txBox="1"/>
          <p:nvPr/>
        </p:nvSpPr>
        <p:spPr>
          <a:xfrm>
            <a:off x="4052621" y="2112264"/>
            <a:ext cx="65836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9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14900" dirty="0"/>
          </a:p>
        </p:txBody>
      </p:sp>
      <p:sp>
        <p:nvSpPr>
          <p:cNvPr id="6" name="Filete vertical"/>
          <p:cNvSpPr/>
          <p:nvPr/>
        </p:nvSpPr>
        <p:spPr>
          <a:xfrm>
            <a:off x="2560320" y="4663440"/>
            <a:ext cx="0" cy="502920"/>
          </a:xfrm>
          <a:prstGeom prst="line">
            <a:avLst/>
          </a:prstGeom>
          <a:noFill/>
          <a:ln w="9525">
            <a:solidFill>
              <a:srgbClr val="0D1F1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468880" y="5230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 PELOTA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5486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pelota inclinada 35°, con la costura de tenis y paddle y un gajo azul cielo. Identifica a Pali, sobre todo en tamaños chicos.</a:t>
            </a:r>
            <a:endParaRPr lang="en-US" sz="1300" dirty="0"/>
          </a:p>
        </p:txBody>
      </p:sp>
      <p:sp>
        <p:nvSpPr>
          <p:cNvPr id="9" name="Filete vertical"/>
          <p:cNvSpPr/>
          <p:nvPr/>
        </p:nvSpPr>
        <p:spPr>
          <a:xfrm>
            <a:off x="5515661" y="4663440"/>
            <a:ext cx="0" cy="502920"/>
          </a:xfrm>
          <a:prstGeom prst="line">
            <a:avLst/>
          </a:prstGeom>
          <a:noFill/>
          <a:ln w="9525">
            <a:solidFill>
              <a:srgbClr val="0D1F1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24221" y="5230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NOMBRE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24221" y="54864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“Pali” en IBM Plex Sans SemiBold, con el interletrado en −2 %. La P va en mayúscula y el resto en minúscula.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057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nombre no se usa sin la pelota. La pelota sí puede usarse sola.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246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F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BOTE CELESTE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3520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sombra plana de abajo solo acompaña al logo grande (pelota de 48 px o más). En favicon, barra lateral y versiones de un color va sin bote.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Construcción de la pelota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arcos del mismo radio forman la costura. El conjunto se inclina 35° y un gajo azul cielo rellena el borde exterior.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86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AE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BOTE: SOLO EN TAMAÑOS GRANDES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sombra plana celeste, centrada debajo: 0,65 veces el diámetro de ancho y separada 0,1 D de la pelota.</a:t>
            </a:r>
            <a:endParaRPr lang="en-US" sz="1300" dirty="0"/>
          </a:p>
        </p:txBody>
      </p:sp>
      <p:pic>
        <p:nvPicPr>
          <p:cNvPr id="7" name="Pelota" descr="Pelota del logo con guías de construc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37360"/>
            <a:ext cx="2926080" cy="3364992"/>
          </a:xfrm>
          <a:prstGeom prst="rect">
            <a:avLst/>
          </a:prstGeom>
        </p:spPr>
      </p:pic>
      <p:sp>
        <p:nvSpPr>
          <p:cNvPr id="8" name="Guía arco 1"/>
          <p:cNvSpPr/>
          <p:nvPr/>
        </p:nvSpPr>
        <p:spPr>
          <a:xfrm>
            <a:off x="4648221" y="298348"/>
            <a:ext cx="4125773" cy="4125773"/>
          </a:xfrm>
          <a:prstGeom prst="ellipse">
            <a:avLst/>
          </a:prstGeom>
          <a:ln w="9525">
            <a:solidFill>
              <a:srgbClr val="A9D6C4"/>
            </a:solidFill>
            <a:prstDash val="dash"/>
          </a:ln>
        </p:spPr>
      </p:sp>
      <p:sp>
        <p:nvSpPr>
          <p:cNvPr id="9" name="Guía arco 2"/>
          <p:cNvSpPr/>
          <p:nvPr/>
        </p:nvSpPr>
        <p:spPr>
          <a:xfrm>
            <a:off x="7045126" y="1976679"/>
            <a:ext cx="4125773" cy="4125773"/>
          </a:xfrm>
          <a:prstGeom prst="ellipse">
            <a:avLst/>
          </a:prstGeom>
          <a:ln w="9525">
            <a:solidFill>
              <a:srgbClr val="A9D6C4"/>
            </a:solidFill>
            <a:prstDash val="dash"/>
          </a:ln>
        </p:spPr>
      </p:sp>
      <p:sp>
        <p:nvSpPr>
          <p:cNvPr id="10" name="Eje de los centros"/>
          <p:cNvSpPr/>
          <p:nvPr/>
        </p:nvSpPr>
        <p:spPr>
          <a:xfrm>
            <a:off x="6448946" y="2177667"/>
            <a:ext cx="2921227" cy="2045465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Eje de la costura"/>
          <p:cNvSpPr/>
          <p:nvPr/>
        </p:nvSpPr>
        <p:spPr>
          <a:xfrm flipH="1">
            <a:off x="6886827" y="1739786"/>
            <a:ext cx="2045465" cy="2921227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Centro 1"/>
          <p:cNvSpPr/>
          <p:nvPr/>
        </p:nvSpPr>
        <p:spPr>
          <a:xfrm>
            <a:off x="6647100" y="2297227"/>
            <a:ext cx="128016" cy="128016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Centro 2"/>
          <p:cNvSpPr/>
          <p:nvPr/>
        </p:nvSpPr>
        <p:spPr>
          <a:xfrm>
            <a:off x="9044004" y="3975557"/>
            <a:ext cx="128016" cy="128016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" name="Filete"/>
          <p:cNvSpPr/>
          <p:nvPr/>
        </p:nvSpPr>
        <p:spPr>
          <a:xfrm>
            <a:off x="6446520" y="5513832"/>
            <a:ext cx="29260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Filete vertical"/>
          <p:cNvSpPr/>
          <p:nvPr/>
        </p:nvSpPr>
        <p:spPr>
          <a:xfrm>
            <a:off x="6446520" y="5449824"/>
            <a:ext cx="0" cy="12801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Filete vertical"/>
          <p:cNvSpPr/>
          <p:nvPr/>
        </p:nvSpPr>
        <p:spPr>
          <a:xfrm>
            <a:off x="9372600" y="5449824"/>
            <a:ext cx="0" cy="12801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46520" y="5221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836588" y="2251507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2C9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CENTRO DEL ARCO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509760" y="1783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INCLINACIÓN 35°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509760" y="2852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 = 0,70 D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509760" y="3127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TRAZO = 6 % DE D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50976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AE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GAJO AZUL CIELO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509760" y="4864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AE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BOTE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114800" y="6080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Radio, trazo e inclinación se miden sobre el diámetro (D) y valen en cualquier tamaño.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D6C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 oscuro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Claro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868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Oscuro</a:t>
            </a:r>
            <a:endParaRPr lang="en-US" sz="3600" dirty="0"/>
          </a:p>
        </p:txBody>
      </p:sp>
      <p:pic>
        <p:nvPicPr>
          <p:cNvPr id="6" name="Logo claro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1280160" cy="1472184"/>
          </a:xfrm>
          <a:prstGeom prst="rect">
            <a:avLst/>
          </a:prstGeom>
        </p:spPr>
      </p:pic>
      <p:sp>
        <p:nvSpPr>
          <p:cNvPr id="7" name="Logo claro · nombre"/>
          <p:cNvSpPr txBox="1"/>
          <p:nvPr/>
        </p:nvSpPr>
        <p:spPr>
          <a:xfrm>
            <a:off x="2470709" y="2569464"/>
            <a:ext cx="3840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8700" dirty="0"/>
          </a:p>
        </p:txBody>
      </p:sp>
      <p:pic>
        <p:nvPicPr>
          <p:cNvPr id="8" name="Logo oscuro · pelota" descr="Pelota del logo de Pa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697480"/>
            <a:ext cx="1280160" cy="1472184"/>
          </a:xfrm>
          <a:prstGeom prst="rect">
            <a:avLst/>
          </a:prstGeom>
        </p:spPr>
      </p:pic>
      <p:sp>
        <p:nvSpPr>
          <p:cNvPr id="9" name="Logo oscuro · nombre"/>
          <p:cNvSpPr txBox="1"/>
          <p:nvPr/>
        </p:nvSpPr>
        <p:spPr>
          <a:xfrm>
            <a:off x="8597189" y="2569464"/>
            <a:ext cx="3840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87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fondos blancos o claros. Pelota verde de marca con costura blanca y gajo azul cielo; nombre en verde bosque.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76656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verde bosque y tema oscuro. Pelota menta con costura verde bosque y gajo azul cielo; nombre en blanco.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6172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pali-logo-claro.svg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6172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pali-logo-oscuro.svg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Otras versiones</a:t>
            </a:r>
            <a:endParaRPr lang="en-US" sz="3600" dirty="0"/>
          </a:p>
        </p:txBody>
      </p:sp>
      <p:sp>
        <p:nvSpPr>
          <p:cNvPr id="4" name="Campo Ícono · fondo claro"/>
          <p:cNvSpPr/>
          <p:nvPr/>
        </p:nvSpPr>
        <p:spPr>
          <a:xfrm>
            <a:off x="0" y="1828800"/>
            <a:ext cx="30472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Ícono · fondo claro" descr="Ícono · fondo cla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34640"/>
            <a:ext cx="1216152" cy="12161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Ícono · fondo claro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5742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Favicon, avatar y app.</a:t>
            </a:r>
            <a:endParaRPr lang="en-US" sz="1300" dirty="0"/>
          </a:p>
        </p:txBody>
      </p:sp>
      <p:sp>
        <p:nvSpPr>
          <p:cNvPr id="9" name="Campo Ícono · fondo oscuro"/>
          <p:cNvSpPr/>
          <p:nvPr/>
        </p:nvSpPr>
        <p:spPr>
          <a:xfrm>
            <a:off x="3047238" y="1828800"/>
            <a:ext cx="3047238" cy="329184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10" name="Ícono · fondo oscuro" descr="Ícono · fondo oscu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638" y="2834640"/>
            <a:ext cx="1216152" cy="12161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21558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321558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Ícono · fondo oscuro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321558" y="5742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Favicon, avatar y app.</a:t>
            </a:r>
            <a:endParaRPr lang="en-US" sz="1300" dirty="0"/>
          </a:p>
        </p:txBody>
      </p:sp>
      <p:sp>
        <p:nvSpPr>
          <p:cNvPr id="14" name="Campo Monocromo negro"/>
          <p:cNvSpPr/>
          <p:nvPr/>
        </p:nvSpPr>
        <p:spPr>
          <a:xfrm>
            <a:off x="6094476" y="1828800"/>
            <a:ext cx="3047238" cy="3291840"/>
          </a:xfrm>
          <a:prstGeom prst="rect">
            <a:avLst/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pic>
        <p:nvPicPr>
          <p:cNvPr id="15" name="Mono negro · pelota" descr="Pelota del logo de Pal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3063240"/>
            <a:ext cx="685800" cy="685800"/>
          </a:xfrm>
          <a:prstGeom prst="rect">
            <a:avLst/>
          </a:prstGeom>
        </p:spPr>
      </p:pic>
      <p:sp>
        <p:nvSpPr>
          <p:cNvPr id="16" name="Mono negro · nombre"/>
          <p:cNvSpPr txBox="1"/>
          <p:nvPr/>
        </p:nvSpPr>
        <p:spPr>
          <a:xfrm>
            <a:off x="7406640" y="29946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4700" dirty="0"/>
          </a:p>
        </p:txBody>
      </p:sp>
      <p:sp>
        <p:nvSpPr>
          <p:cNvPr id="17" name="Text 12"/>
          <p:cNvSpPr txBox="1"/>
          <p:nvPr/>
        </p:nvSpPr>
        <p:spPr>
          <a:xfrm>
            <a:off x="6368796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6368796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Monocromo negro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68796" y="5742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solo color, sin gajo ni bote, sobre fondo claro.</a:t>
            </a:r>
            <a:endParaRPr lang="en-US" sz="1300" dirty="0"/>
          </a:p>
        </p:txBody>
      </p:sp>
      <p:sp>
        <p:nvSpPr>
          <p:cNvPr id="20" name="Campo Monocromo blanco"/>
          <p:cNvSpPr/>
          <p:nvPr/>
        </p:nvSpPr>
        <p:spPr>
          <a:xfrm>
            <a:off x="9141714" y="1828800"/>
            <a:ext cx="3047238" cy="329184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pic>
        <p:nvPicPr>
          <p:cNvPr id="21" name="Mono blanco · pelota" descr="Pelota del logo de Pal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634" y="3063240"/>
            <a:ext cx="685800" cy="685800"/>
          </a:xfrm>
          <a:prstGeom prst="rect">
            <a:avLst/>
          </a:prstGeom>
        </p:spPr>
      </p:pic>
      <p:sp>
        <p:nvSpPr>
          <p:cNvPr id="22" name="Mono blanco · nombre"/>
          <p:cNvSpPr txBox="1"/>
          <p:nvPr/>
        </p:nvSpPr>
        <p:spPr>
          <a:xfrm>
            <a:off x="10453878" y="29946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4700" dirty="0"/>
          </a:p>
        </p:txBody>
      </p:sp>
      <p:sp>
        <p:nvSpPr>
          <p:cNvPr id="23" name="Text 17"/>
          <p:cNvSpPr txBox="1"/>
          <p:nvPr/>
        </p:nvSpPr>
        <p:spPr>
          <a:xfrm>
            <a:off x="9416034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9416034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Monocromo blanco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416034" y="5742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solo color, sin gajo ni bote, sobre fondos de color.</a:t>
            </a:r>
            <a:endParaRPr lang="en-US" sz="1300" dirty="0"/>
          </a:p>
        </p:txBody>
      </p:sp>
      <p:sp>
        <p:nvSpPr>
          <p:cNvPr id="26" name="Filete vertical"/>
          <p:cNvSpPr/>
          <p:nvPr/>
        </p:nvSpPr>
        <p:spPr>
          <a:xfrm>
            <a:off x="3047238" y="1828800"/>
            <a:ext cx="0" cy="3291840"/>
          </a:xfrm>
          <a:prstGeom prst="line">
            <a:avLst/>
          </a:prstGeom>
          <a:noFill/>
          <a:ln w="9525">
            <a:solidFill>
              <a:srgbClr val="CAD6C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n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2FC"/>
          </a:solidFill>
          <a:ln w="12700">
            <a:solidFill>
              <a:srgbClr val="E8F2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F6F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  ·  PLANO TÉCNICO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B4F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Espacio de respeto y tamaño mínimo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4F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Alrededor del logo queda libre, como mínimo, el diámetro de la pelota (x).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PROPUESTA — A CONFIRMAR</a:t>
            </a:r>
            <a:endParaRPr lang="en-US" sz="1000" dirty="0"/>
          </a:p>
        </p:txBody>
      </p:sp>
      <p:sp>
        <p:nvSpPr>
          <p:cNvPr id="7" name="Zona de respeto"/>
          <p:cNvSpPr/>
          <p:nvPr/>
        </p:nvSpPr>
        <p:spPr>
          <a:xfrm>
            <a:off x="5120640" y="2103120"/>
            <a:ext cx="4343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C0"/>
            </a:solidFill>
            <a:prstDash val="dash"/>
          </a:ln>
        </p:spPr>
      </p:sp>
      <p:sp>
        <p:nvSpPr>
          <p:cNvPr id="8" name="Caja del logo"/>
          <p:cNvSpPr/>
          <p:nvPr/>
        </p:nvSpPr>
        <p:spPr>
          <a:xfrm>
            <a:off x="5989320" y="2971800"/>
            <a:ext cx="2606040" cy="868680"/>
          </a:xfrm>
          <a:prstGeom prst="rect">
            <a:avLst/>
          </a:prstGeom>
          <a:ln w="9525">
            <a:solidFill>
              <a:srgbClr val="6BAEE8"/>
            </a:solidFill>
            <a:prstDash val="solid"/>
          </a:ln>
        </p:spPr>
      </p:sp>
      <p:pic>
        <p:nvPicPr>
          <p:cNvPr id="9" name="Logo respeto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971800"/>
            <a:ext cx="868680" cy="868680"/>
          </a:xfrm>
          <a:prstGeom prst="rect">
            <a:avLst/>
          </a:prstGeom>
        </p:spPr>
      </p:pic>
      <p:sp>
        <p:nvSpPr>
          <p:cNvPr id="10" name="Logo respeto · nombre"/>
          <p:cNvSpPr txBox="1"/>
          <p:nvPr/>
        </p:nvSpPr>
        <p:spPr>
          <a:xfrm>
            <a:off x="7014362" y="2884932"/>
            <a:ext cx="2606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5900" dirty="0"/>
          </a:p>
        </p:txBody>
      </p:sp>
      <p:sp>
        <p:nvSpPr>
          <p:cNvPr id="11" name="Filete"/>
          <p:cNvSpPr/>
          <p:nvPr/>
        </p:nvSpPr>
        <p:spPr>
          <a:xfrm>
            <a:off x="5120640" y="1920240"/>
            <a:ext cx="868680" cy="0"/>
          </a:xfrm>
          <a:prstGeom prst="line">
            <a:avLst/>
          </a:prstGeom>
          <a:noFill/>
          <a:ln w="12700">
            <a:solidFill>
              <a:srgbClr val="2F6FC0"/>
            </a:solidFill>
            <a:prstDash val="solid"/>
          </a:ln>
        </p:spPr>
      </p:sp>
      <p:sp>
        <p:nvSpPr>
          <p:cNvPr id="12" name="Filete vertical"/>
          <p:cNvSpPr/>
          <p:nvPr/>
        </p:nvSpPr>
        <p:spPr>
          <a:xfrm>
            <a:off x="5120640" y="1856232"/>
            <a:ext cx="0" cy="128016"/>
          </a:xfrm>
          <a:prstGeom prst="line">
            <a:avLst/>
          </a:prstGeom>
          <a:noFill/>
          <a:ln w="12700">
            <a:solidFill>
              <a:srgbClr val="2F6FC0"/>
            </a:solidFill>
            <a:prstDash val="solid"/>
          </a:ln>
        </p:spPr>
      </p:sp>
      <p:sp>
        <p:nvSpPr>
          <p:cNvPr id="13" name="Filete vertical"/>
          <p:cNvSpPr/>
          <p:nvPr/>
        </p:nvSpPr>
        <p:spPr>
          <a:xfrm>
            <a:off x="5989320" y="1856232"/>
            <a:ext cx="0" cy="128016"/>
          </a:xfrm>
          <a:prstGeom prst="line">
            <a:avLst/>
          </a:prstGeom>
          <a:noFill/>
          <a:ln w="12700">
            <a:solidFill>
              <a:srgbClr val="2F6FC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20640" y="16276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6F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</a:t>
            </a:r>
            <a:endParaRPr lang="en-US" sz="1100" dirty="0"/>
          </a:p>
        </p:txBody>
      </p:sp>
      <p:sp>
        <p:nvSpPr>
          <p:cNvPr id="15" name="Filete"/>
          <p:cNvSpPr/>
          <p:nvPr/>
        </p:nvSpPr>
        <p:spPr>
          <a:xfrm>
            <a:off x="8595360" y="1920240"/>
            <a:ext cx="868680" cy="0"/>
          </a:xfrm>
          <a:prstGeom prst="line">
            <a:avLst/>
          </a:prstGeom>
          <a:noFill/>
          <a:ln w="12700">
            <a:solidFill>
              <a:srgbClr val="2F6FC0"/>
            </a:solidFill>
            <a:prstDash val="solid"/>
          </a:ln>
        </p:spPr>
      </p:sp>
      <p:sp>
        <p:nvSpPr>
          <p:cNvPr id="16" name="Filete vertical"/>
          <p:cNvSpPr/>
          <p:nvPr/>
        </p:nvSpPr>
        <p:spPr>
          <a:xfrm>
            <a:off x="8595360" y="1856232"/>
            <a:ext cx="0" cy="128016"/>
          </a:xfrm>
          <a:prstGeom prst="line">
            <a:avLst/>
          </a:prstGeom>
          <a:noFill/>
          <a:ln w="12700">
            <a:solidFill>
              <a:srgbClr val="2F6FC0"/>
            </a:solidFill>
            <a:prstDash val="solid"/>
          </a:ln>
        </p:spPr>
      </p:sp>
      <p:sp>
        <p:nvSpPr>
          <p:cNvPr id="17" name="Filete vertical"/>
          <p:cNvSpPr/>
          <p:nvPr/>
        </p:nvSpPr>
        <p:spPr>
          <a:xfrm>
            <a:off x="9464040" y="1856232"/>
            <a:ext cx="0" cy="128016"/>
          </a:xfrm>
          <a:prstGeom prst="line">
            <a:avLst/>
          </a:prstGeom>
          <a:noFill/>
          <a:ln w="12700">
            <a:solidFill>
              <a:srgbClr val="2F6FC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0" y="16276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6F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</a:t>
            </a:r>
            <a:endParaRPr lang="en-US" sz="1100" dirty="0"/>
          </a:p>
        </p:txBody>
      </p:sp>
      <p:sp>
        <p:nvSpPr>
          <p:cNvPr id="19" name="Filete vertical"/>
          <p:cNvSpPr/>
          <p:nvPr/>
        </p:nvSpPr>
        <p:spPr>
          <a:xfrm>
            <a:off x="4937760" y="2103120"/>
            <a:ext cx="0" cy="868680"/>
          </a:xfrm>
          <a:prstGeom prst="line">
            <a:avLst/>
          </a:prstGeom>
          <a:noFill/>
          <a:ln w="12700">
            <a:solidFill>
              <a:srgbClr val="2F6FC0"/>
            </a:solidFill>
            <a:prstDash val="solid"/>
          </a:ln>
        </p:spPr>
      </p:sp>
      <p:sp>
        <p:nvSpPr>
          <p:cNvPr id="20" name="Filete"/>
          <p:cNvSpPr/>
          <p:nvPr/>
        </p:nvSpPr>
        <p:spPr>
          <a:xfrm>
            <a:off x="4873752" y="2103120"/>
            <a:ext cx="128016" cy="0"/>
          </a:xfrm>
          <a:prstGeom prst="line">
            <a:avLst/>
          </a:prstGeom>
          <a:noFill/>
          <a:ln w="12700">
            <a:solidFill>
              <a:srgbClr val="2F6FC0"/>
            </a:solidFill>
            <a:prstDash val="solid"/>
          </a:ln>
        </p:spPr>
      </p:sp>
      <p:sp>
        <p:nvSpPr>
          <p:cNvPr id="21" name="Filete"/>
          <p:cNvSpPr/>
          <p:nvPr/>
        </p:nvSpPr>
        <p:spPr>
          <a:xfrm>
            <a:off x="4873752" y="2971800"/>
            <a:ext cx="128016" cy="0"/>
          </a:xfrm>
          <a:prstGeom prst="line">
            <a:avLst/>
          </a:prstGeom>
          <a:noFill/>
          <a:ln w="12700">
            <a:solidFill>
              <a:srgbClr val="2F6FC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80560" y="24277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2F6F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</a:t>
            </a:r>
            <a:endParaRPr lang="en-US" sz="1100" dirty="0"/>
          </a:p>
        </p:txBody>
      </p:sp>
      <p:sp>
        <p:nvSpPr>
          <p:cNvPr id="23" name="Filete vertical"/>
          <p:cNvSpPr/>
          <p:nvPr/>
        </p:nvSpPr>
        <p:spPr>
          <a:xfrm>
            <a:off x="4937760" y="3840480"/>
            <a:ext cx="0" cy="868680"/>
          </a:xfrm>
          <a:prstGeom prst="line">
            <a:avLst/>
          </a:prstGeom>
          <a:noFill/>
          <a:ln w="12700">
            <a:solidFill>
              <a:srgbClr val="2F6FC0"/>
            </a:solidFill>
            <a:prstDash val="solid"/>
          </a:ln>
        </p:spPr>
      </p:sp>
      <p:sp>
        <p:nvSpPr>
          <p:cNvPr id="24" name="Filete"/>
          <p:cNvSpPr/>
          <p:nvPr/>
        </p:nvSpPr>
        <p:spPr>
          <a:xfrm>
            <a:off x="4873752" y="3840480"/>
            <a:ext cx="128016" cy="0"/>
          </a:xfrm>
          <a:prstGeom prst="line">
            <a:avLst/>
          </a:prstGeom>
          <a:noFill/>
          <a:ln w="12700">
            <a:solidFill>
              <a:srgbClr val="2F6FC0"/>
            </a:solidFill>
            <a:prstDash val="solid"/>
          </a:ln>
        </p:spPr>
      </p:sp>
      <p:sp>
        <p:nvSpPr>
          <p:cNvPr id="25" name="Filete"/>
          <p:cNvSpPr/>
          <p:nvPr/>
        </p:nvSpPr>
        <p:spPr>
          <a:xfrm>
            <a:off x="4873752" y="4709160"/>
            <a:ext cx="128016" cy="0"/>
          </a:xfrm>
          <a:prstGeom prst="line">
            <a:avLst/>
          </a:prstGeom>
          <a:noFill/>
          <a:ln w="12700">
            <a:solidFill>
              <a:srgbClr val="2F6FC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80560" y="41650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2F6F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Filete"/>
          <p:cNvSpPr/>
          <p:nvPr/>
        </p:nvSpPr>
        <p:spPr>
          <a:xfrm>
            <a:off x="4114800" y="5120640"/>
            <a:ext cx="7434072" cy="0"/>
          </a:xfrm>
          <a:prstGeom prst="line">
            <a:avLst/>
          </a:prstGeom>
          <a:noFill/>
          <a:ln w="15875">
            <a:solidFill>
              <a:srgbClr val="2F6FC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114800" y="5230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F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TAMAÑO MÍNIMO</a:t>
            </a:r>
            <a:endParaRPr lang="en-US" sz="1000" dirty="0"/>
          </a:p>
        </p:txBody>
      </p:sp>
      <p:pic>
        <p:nvPicPr>
          <p:cNvPr id="29" name="Mínimo logo · pelota" descr="Pelota del logo de Pa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669280"/>
            <a:ext cx="301752" cy="301752"/>
          </a:xfrm>
          <a:prstGeom prst="rect">
            <a:avLst/>
          </a:prstGeom>
        </p:spPr>
      </p:pic>
      <p:sp>
        <p:nvSpPr>
          <p:cNvPr id="30" name="Mínimo logo · nombre"/>
          <p:cNvSpPr txBox="1"/>
          <p:nvPr/>
        </p:nvSpPr>
        <p:spPr>
          <a:xfrm>
            <a:off x="4470867" y="5639105"/>
            <a:ext cx="9052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2000" dirty="0"/>
          </a:p>
        </p:txBody>
      </p:sp>
      <p:sp>
        <p:nvSpPr>
          <p:cNvPr id="31" name="Text 27"/>
          <p:cNvSpPr txBox="1"/>
          <p:nvPr/>
        </p:nvSpPr>
        <p:spPr>
          <a:xfrm>
            <a:off x="5303520" y="5779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B4F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LOGO · 24 PX DE PELOTA</a:t>
            </a:r>
            <a:endParaRPr lang="en-US" sz="1000" dirty="0"/>
          </a:p>
        </p:txBody>
      </p:sp>
      <p:pic>
        <p:nvPicPr>
          <p:cNvPr id="32" name="Mínimo ícono" descr="Ícono al tamaño mínim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742432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9006840" y="5760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B4F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ÍCONO · 16 PX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Usos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correctos</a:t>
            </a:r>
            <a:endParaRPr lang="en-US" sz="3600" dirty="0"/>
          </a:p>
        </p:txBody>
      </p:sp>
      <p:sp>
        <p:nvSpPr>
          <p:cNvPr id="4" name="Muestra Sobre blanco"/>
          <p:cNvSpPr/>
          <p:nvPr/>
        </p:nvSpPr>
        <p:spPr>
          <a:xfrm>
            <a:off x="640080" y="1691640"/>
            <a:ext cx="363626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pic>
        <p:nvPicPr>
          <p:cNvPr id="5" name="Muestra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6672" y="2208276"/>
            <a:ext cx="566928" cy="566928"/>
          </a:xfrm>
          <a:prstGeom prst="rect">
            <a:avLst/>
          </a:prstGeom>
        </p:spPr>
      </p:pic>
      <p:sp>
        <p:nvSpPr>
          <p:cNvPr id="6" name="Muestra · nombre"/>
          <p:cNvSpPr txBox="1"/>
          <p:nvPr/>
        </p:nvSpPr>
        <p:spPr>
          <a:xfrm>
            <a:off x="2235647" y="2151583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01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5584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blanco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65760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claro.</a:t>
            </a:r>
            <a:endParaRPr lang="en-US" sz="1200" dirty="0"/>
          </a:p>
        </p:txBody>
      </p:sp>
      <p:sp>
        <p:nvSpPr>
          <p:cNvPr id="10" name="Muestra Sobre verde bosque"/>
          <p:cNvSpPr/>
          <p:nvPr/>
        </p:nvSpPr>
        <p:spPr>
          <a:xfrm>
            <a:off x="4276344" y="1691640"/>
            <a:ext cx="3636264" cy="160020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11" name="Muestra · pelota" descr="Pelota del logo de Pa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2208276"/>
            <a:ext cx="566928" cy="566928"/>
          </a:xfrm>
          <a:prstGeom prst="rect">
            <a:avLst/>
          </a:prstGeom>
        </p:spPr>
      </p:pic>
      <p:sp>
        <p:nvSpPr>
          <p:cNvPr id="12" name="Muestra · nombre"/>
          <p:cNvSpPr txBox="1"/>
          <p:nvPr/>
        </p:nvSpPr>
        <p:spPr>
          <a:xfrm>
            <a:off x="5871911" y="2151583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13" name="Text 9"/>
          <p:cNvSpPr txBox="1"/>
          <p:nvPr/>
        </p:nvSpPr>
        <p:spPr>
          <a:xfrm>
            <a:off x="4276344" y="3401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733544" y="335584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verde bosque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733544" y="365760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oscuro.</a:t>
            </a:r>
            <a:endParaRPr lang="en-US" sz="1200" dirty="0"/>
          </a:p>
        </p:txBody>
      </p:sp>
      <p:sp>
        <p:nvSpPr>
          <p:cNvPr id="16" name="Muestra Sobre menta suave"/>
          <p:cNvSpPr/>
          <p:nvPr/>
        </p:nvSpPr>
        <p:spPr>
          <a:xfrm>
            <a:off x="7912608" y="1691640"/>
            <a:ext cx="3636264" cy="1600200"/>
          </a:xfrm>
          <a:prstGeom prst="rect">
            <a:avLst/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pic>
        <p:nvPicPr>
          <p:cNvPr id="17" name="Muestra · pelota" descr="Pelota del logo de Pal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2208276"/>
            <a:ext cx="566928" cy="566928"/>
          </a:xfrm>
          <a:prstGeom prst="rect">
            <a:avLst/>
          </a:prstGeom>
        </p:spPr>
      </p:pic>
      <p:sp>
        <p:nvSpPr>
          <p:cNvPr id="18" name="Muestra · nombre"/>
          <p:cNvSpPr txBox="1"/>
          <p:nvPr/>
        </p:nvSpPr>
        <p:spPr>
          <a:xfrm>
            <a:off x="9508175" y="2151583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19" name="Text 14"/>
          <p:cNvSpPr txBox="1"/>
          <p:nvPr/>
        </p:nvSpPr>
        <p:spPr>
          <a:xfrm>
            <a:off x="7912608" y="3401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8369808" y="335584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menta suave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369808" y="365760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claro; el contraste se mantiene.</a:t>
            </a:r>
            <a:endParaRPr lang="en-US" sz="1200" dirty="0"/>
          </a:p>
        </p:txBody>
      </p:sp>
      <p:sp>
        <p:nvSpPr>
          <p:cNvPr id="22" name="Muestra En el tema oscuro"/>
          <p:cNvSpPr/>
          <p:nvPr/>
        </p:nvSpPr>
        <p:spPr>
          <a:xfrm>
            <a:off x="640080" y="4069080"/>
            <a:ext cx="3636264" cy="1600200"/>
          </a:xfrm>
          <a:prstGeom prst="rect">
            <a:avLst/>
          </a:prstGeom>
          <a:solidFill>
            <a:srgbClr val="0B1511"/>
          </a:solidFill>
          <a:ln w="12700">
            <a:solidFill>
              <a:srgbClr val="0B1511"/>
            </a:solidFill>
            <a:prstDash val="solid"/>
          </a:ln>
        </p:spPr>
      </p:sp>
      <p:pic>
        <p:nvPicPr>
          <p:cNvPr id="23" name="Muestra · pelota" descr="Pelota del logo de Pal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672" y="4585716"/>
            <a:ext cx="566928" cy="566928"/>
          </a:xfrm>
          <a:prstGeom prst="rect">
            <a:avLst/>
          </a:prstGeom>
        </p:spPr>
      </p:pic>
      <p:sp>
        <p:nvSpPr>
          <p:cNvPr id="24" name="Muestra · nombre"/>
          <p:cNvSpPr txBox="1"/>
          <p:nvPr/>
        </p:nvSpPr>
        <p:spPr>
          <a:xfrm>
            <a:off x="2235647" y="4529023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5779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" y="573328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el tema oscuro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1097280" y="603504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oscuro sobre el fondo casi negro.</a:t>
            </a:r>
            <a:endParaRPr lang="en-US" sz="1200" dirty="0"/>
          </a:p>
        </p:txBody>
      </p:sp>
      <p:sp>
        <p:nvSpPr>
          <p:cNvPr id="28" name="Muestra Con su espacio de respeto"/>
          <p:cNvSpPr/>
          <p:nvPr/>
        </p:nvSpPr>
        <p:spPr>
          <a:xfrm>
            <a:off x="4276344" y="4069080"/>
            <a:ext cx="363626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608576" y="4297680"/>
            <a:ext cx="2971800" cy="1143000"/>
          </a:xfrm>
          <a:prstGeom prst="rect">
            <a:avLst/>
          </a:prstGeom>
          <a:ln w="9525">
            <a:solidFill>
              <a:srgbClr val="1F6F57"/>
            </a:solidFill>
            <a:prstDash val="dash"/>
          </a:ln>
        </p:spPr>
      </p:sp>
      <p:pic>
        <p:nvPicPr>
          <p:cNvPr id="30" name="Muestra · pelota" descr="Pelota del logo de Pal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2936" y="4581144"/>
            <a:ext cx="566928" cy="566928"/>
          </a:xfrm>
          <a:prstGeom prst="rect">
            <a:avLst/>
          </a:prstGeom>
        </p:spPr>
      </p:pic>
      <p:sp>
        <p:nvSpPr>
          <p:cNvPr id="31" name="Muestra · nombre"/>
          <p:cNvSpPr txBox="1"/>
          <p:nvPr/>
        </p:nvSpPr>
        <p:spPr>
          <a:xfrm>
            <a:off x="5871911" y="4524451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32" name="Text 25"/>
          <p:cNvSpPr txBox="1"/>
          <p:nvPr/>
        </p:nvSpPr>
        <p:spPr>
          <a:xfrm>
            <a:off x="4276344" y="5779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733544" y="573328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su espacio de respeto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4733544" y="603504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textos ni bordes pegados.</a:t>
            </a:r>
            <a:endParaRPr lang="en-US" sz="1200" dirty="0"/>
          </a:p>
        </p:txBody>
      </p:sp>
      <p:sp>
        <p:nvSpPr>
          <p:cNvPr id="35" name="Muestra En proporción"/>
          <p:cNvSpPr/>
          <p:nvPr/>
        </p:nvSpPr>
        <p:spPr>
          <a:xfrm>
            <a:off x="7912608" y="4069080"/>
            <a:ext cx="3636264" cy="1600200"/>
          </a:xfrm>
          <a:prstGeom prst="rect">
            <a:avLst/>
          </a:prstGeom>
          <a:solidFill>
            <a:srgbClr val="F5F8F6"/>
          </a:solidFill>
          <a:ln w="9525">
            <a:solidFill>
              <a:srgbClr val="E2EAE5"/>
            </a:solidFill>
            <a:prstDash val="solid"/>
          </a:ln>
        </p:spPr>
      </p:sp>
      <p:pic>
        <p:nvPicPr>
          <p:cNvPr id="36" name="Muestra · pelota" descr="Pelota del logo de Pal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9200" y="4686300"/>
            <a:ext cx="365760" cy="365760"/>
          </a:xfrm>
          <a:prstGeom prst="rect">
            <a:avLst/>
          </a:prstGeom>
        </p:spPr>
      </p:pic>
      <p:sp>
        <p:nvSpPr>
          <p:cNvPr id="37" name="Muestra · nombre"/>
          <p:cNvSpPr txBox="1"/>
          <p:nvPr/>
        </p:nvSpPr>
        <p:spPr>
          <a:xfrm>
            <a:off x="9270797" y="464972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2500" dirty="0"/>
          </a:p>
        </p:txBody>
      </p:sp>
      <p:sp>
        <p:nvSpPr>
          <p:cNvPr id="38" name="Text 30"/>
          <p:cNvSpPr txBox="1"/>
          <p:nvPr/>
        </p:nvSpPr>
        <p:spPr>
          <a:xfrm>
            <a:off x="7912608" y="5779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8369808" y="573328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proporción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8369808" y="603504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agranda o achica siempre en bloque.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Usos </a:t>
            </a:r>
            <a:pPr algn="l" indent="0" marL="0">
              <a:buNone/>
            </a:pPr>
            <a:r>
              <a:rPr lang="en-US" sz="3600" b="1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incorrectos</a:t>
            </a:r>
            <a:endParaRPr lang="en-US" sz="3600" dirty="0"/>
          </a:p>
        </p:txBody>
      </p:sp>
      <p:sp>
        <p:nvSpPr>
          <p:cNvPr id="4" name="Muestra No deformar"/>
          <p:cNvSpPr/>
          <p:nvPr/>
        </p:nvSpPr>
        <p:spPr>
          <a:xfrm>
            <a:off x="640080" y="1691640"/>
            <a:ext cx="3636264" cy="160020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5" name="Image 0" descr="Pelota deform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3792" y="2286000"/>
            <a:ext cx="10972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18232" y="2148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400" dirty="0"/>
          </a:p>
        </p:txBody>
      </p:sp>
      <p:sp>
        <p:nvSpPr>
          <p:cNvPr id="7" name="Tachado"/>
          <p:cNvSpPr/>
          <p:nvPr/>
        </p:nvSpPr>
        <p:spPr>
          <a:xfrm>
            <a:off x="640080" y="1691640"/>
            <a:ext cx="3636264" cy="1600200"/>
          </a:xfrm>
          <a:prstGeom prst="line">
            <a:avLst/>
          </a:prstGeom>
          <a:noFill/>
          <a:ln w="19050">
            <a:solidFill>
              <a:srgbClr val="E553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401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35584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deformar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65760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estirar ni aplastar la pelota ni el nombre.</a:t>
            </a:r>
            <a:endParaRPr lang="en-US" sz="1200" dirty="0"/>
          </a:p>
        </p:txBody>
      </p:sp>
      <p:sp>
        <p:nvSpPr>
          <p:cNvPr id="11" name="Muestra No cambiar los colores"/>
          <p:cNvSpPr/>
          <p:nvPr/>
        </p:nvSpPr>
        <p:spPr>
          <a:xfrm>
            <a:off x="4276344" y="1691640"/>
            <a:ext cx="363626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pic>
        <p:nvPicPr>
          <p:cNvPr id="12" name="Image 1" descr="Pelota azu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2203704"/>
            <a:ext cx="566928" cy="5669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88736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8C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14" name="Tachado"/>
          <p:cNvSpPr/>
          <p:nvPr/>
        </p:nvSpPr>
        <p:spPr>
          <a:xfrm>
            <a:off x="4276344" y="1691640"/>
            <a:ext cx="3636264" cy="1600200"/>
          </a:xfrm>
          <a:prstGeom prst="line">
            <a:avLst/>
          </a:prstGeom>
          <a:noFill/>
          <a:ln w="19050">
            <a:solidFill>
              <a:srgbClr val="E5533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76344" y="3401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733544" y="335584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cambiar los colores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733544" y="365760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las versiones definidas.</a:t>
            </a:r>
            <a:endParaRPr lang="en-US" sz="1200" dirty="0"/>
          </a:p>
        </p:txBody>
      </p:sp>
      <p:sp>
        <p:nvSpPr>
          <p:cNvPr id="18" name="Muestra No usar con poco contraste"/>
          <p:cNvSpPr/>
          <p:nvPr/>
        </p:nvSpPr>
        <p:spPr>
          <a:xfrm>
            <a:off x="7912608" y="1691640"/>
            <a:ext cx="3636264" cy="1600200"/>
          </a:xfrm>
          <a:prstGeom prst="rect">
            <a:avLst/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pic>
        <p:nvPicPr>
          <p:cNvPr id="19" name="Image 2" descr="Pelota con poco contras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2203704"/>
            <a:ext cx="566928" cy="56692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52500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21" name="Tachado"/>
          <p:cNvSpPr/>
          <p:nvPr/>
        </p:nvSpPr>
        <p:spPr>
          <a:xfrm>
            <a:off x="7912608" y="1691640"/>
            <a:ext cx="3636264" cy="1600200"/>
          </a:xfrm>
          <a:prstGeom prst="line">
            <a:avLst/>
          </a:prstGeom>
          <a:noFill/>
          <a:ln w="19050">
            <a:solidFill>
              <a:srgbClr val="E5533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912608" y="3401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369808" y="335584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usar con poco contraste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369808" y="365760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 sobre menta suave casi no se lee.</a:t>
            </a:r>
            <a:endParaRPr lang="en-US" sz="1200" dirty="0"/>
          </a:p>
        </p:txBody>
      </p:sp>
      <p:sp>
        <p:nvSpPr>
          <p:cNvPr id="25" name="Muestra No cambiar la inclinación"/>
          <p:cNvSpPr/>
          <p:nvPr/>
        </p:nvSpPr>
        <p:spPr>
          <a:xfrm>
            <a:off x="640080" y="4069080"/>
            <a:ext cx="363626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pic>
        <p:nvPicPr>
          <p:cNvPr id="26" name="Image 3" descr="Pelota enderezad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100000">
            <a:off x="1475232" y="4617720"/>
            <a:ext cx="566928" cy="56692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 rot="1080000">
            <a:off x="2252472" y="4526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28" name="Tachado"/>
          <p:cNvSpPr/>
          <p:nvPr/>
        </p:nvSpPr>
        <p:spPr>
          <a:xfrm>
            <a:off x="640080" y="4069080"/>
            <a:ext cx="3636264" cy="1600200"/>
          </a:xfrm>
          <a:prstGeom prst="line">
            <a:avLst/>
          </a:prstGeom>
          <a:noFill/>
          <a:ln w="19050">
            <a:solidFill>
              <a:srgbClr val="E5533D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40080" y="5779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" y="573328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cambiar la inclinación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1097280" y="603504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pelota va siempre a 35°: no la enderezes ni la gires.</a:t>
            </a:r>
            <a:endParaRPr lang="en-US" sz="1200" dirty="0"/>
          </a:p>
        </p:txBody>
      </p:sp>
      <p:sp>
        <p:nvSpPr>
          <p:cNvPr id="32" name="Muestra No sumar sombras ni efectos"/>
          <p:cNvSpPr/>
          <p:nvPr/>
        </p:nvSpPr>
        <p:spPr>
          <a:xfrm>
            <a:off x="4276344" y="4069080"/>
            <a:ext cx="363626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pic>
        <p:nvPicPr>
          <p:cNvPr id="33" name="Image 4" descr="Pelota con sombr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4480560"/>
            <a:ext cx="777240" cy="7772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117336" y="4526280"/>
            <a:ext cx="146304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27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35" name="Tachado"/>
          <p:cNvSpPr/>
          <p:nvPr/>
        </p:nvSpPr>
        <p:spPr>
          <a:xfrm>
            <a:off x="4276344" y="4069080"/>
            <a:ext cx="3636264" cy="1600200"/>
          </a:xfrm>
          <a:prstGeom prst="line">
            <a:avLst/>
          </a:prstGeom>
          <a:noFill/>
          <a:ln w="19050">
            <a:solidFill>
              <a:srgbClr val="E5533D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4276344" y="5779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4733544" y="573328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sumar sombras ni efectos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4733544" y="603504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el bote plano. Sin sombras difusas, brillos ni degradés.</a:t>
            </a:r>
            <a:endParaRPr lang="en-US" sz="1200" dirty="0"/>
          </a:p>
        </p:txBody>
      </p:sp>
      <p:sp>
        <p:nvSpPr>
          <p:cNvPr id="39" name="Muestra No cambiar la tipografía"/>
          <p:cNvSpPr/>
          <p:nvPr/>
        </p:nvSpPr>
        <p:spPr>
          <a:xfrm>
            <a:off x="7912608" y="4069080"/>
            <a:ext cx="363626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pic>
        <p:nvPicPr>
          <p:cNvPr id="40" name="Image 5" descr="Pelot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9200" y="4581144"/>
            <a:ext cx="566928" cy="566928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525000" y="4526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F3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Pali</a:t>
            </a:r>
            <a:endParaRPr lang="en-US" sz="3800" dirty="0"/>
          </a:p>
        </p:txBody>
      </p:sp>
      <p:sp>
        <p:nvSpPr>
          <p:cNvPr id="42" name="Tachado"/>
          <p:cNvSpPr/>
          <p:nvPr/>
        </p:nvSpPr>
        <p:spPr>
          <a:xfrm>
            <a:off x="7912608" y="4069080"/>
            <a:ext cx="3636264" cy="1600200"/>
          </a:xfrm>
          <a:prstGeom prst="line">
            <a:avLst/>
          </a:prstGeom>
          <a:noFill/>
          <a:ln w="19050">
            <a:solidFill>
              <a:srgbClr val="E5533D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7912608" y="5779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8369808" y="573328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cambiar la tipografía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8369808" y="603504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nombre va siempre en IBM Plex Sans.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0F3D2E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Banda 1F6F57"/>
          <p:cNvSpPr/>
          <p:nvPr/>
        </p:nvSpPr>
        <p:spPr>
          <a:xfrm>
            <a:off x="6583680" y="0"/>
            <a:ext cx="1554480" cy="685800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4" name="Banda A9D6C4"/>
          <p:cNvSpPr/>
          <p:nvPr/>
        </p:nvSpPr>
        <p:spPr>
          <a:xfrm>
            <a:off x="8138160" y="0"/>
            <a:ext cx="1005840" cy="6858000"/>
          </a:xfrm>
          <a:prstGeom prst="rect">
            <a:avLst/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5" name="Banda 6BAEE8"/>
          <p:cNvSpPr/>
          <p:nvPr/>
        </p:nvSpPr>
        <p:spPr>
          <a:xfrm>
            <a:off x="9144000" y="0"/>
            <a:ext cx="1005840" cy="6858000"/>
          </a:xfrm>
          <a:prstGeom prst="rect">
            <a:avLst/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6" name="Banda 9C8DDD"/>
          <p:cNvSpPr/>
          <p:nvPr/>
        </p:nvSpPr>
        <p:spPr>
          <a:xfrm>
            <a:off x="10149840" y="0"/>
            <a:ext cx="1005840" cy="6858000"/>
          </a:xfrm>
          <a:prstGeom prst="rect">
            <a:avLst/>
          </a:prstGeom>
          <a:solidFill>
            <a:srgbClr val="9C8DDD"/>
          </a:solidFill>
          <a:ln w="12700">
            <a:solidFill>
              <a:srgbClr val="9C8DDD"/>
            </a:solidFill>
            <a:prstDash val="solid"/>
          </a:ln>
        </p:spPr>
      </p:sp>
      <p:sp>
        <p:nvSpPr>
          <p:cNvPr id="7" name="Banda FFFFFF"/>
          <p:cNvSpPr/>
          <p:nvPr/>
        </p:nvSpPr>
        <p:spPr>
          <a:xfrm>
            <a:off x="11155680" y="0"/>
            <a:ext cx="103601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 /  05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94360" y="34290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spc="-5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</a:t>
            </a:r>
            <a:endParaRPr lang="en-US" sz="13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6692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paleta corta y reconocible: verde, blanco y negro verdoso, con azul cielo y lavanda de apoyo y un solo coral.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Colores </a:t>
            </a:r>
            <a:pPr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primarios</a:t>
            </a:r>
            <a:endParaRPr lang="en-US" sz="3600" dirty="0"/>
          </a:p>
        </p:txBody>
      </p:sp>
      <p:sp>
        <p:nvSpPr>
          <p:cNvPr id="4" name="Primario Verde bosque"/>
          <p:cNvSpPr/>
          <p:nvPr/>
        </p:nvSpPr>
        <p:spPr>
          <a:xfrm>
            <a:off x="0" y="1828800"/>
            <a:ext cx="4846320" cy="502920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38404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bosque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754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#0F3D2E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50292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15 · 61 · 46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52852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--forest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56692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Barra lateral, botón oscuro y turno completo.</a:t>
            </a:r>
            <a:endParaRPr lang="en-US" sz="1300" dirty="0"/>
          </a:p>
        </p:txBody>
      </p:sp>
      <p:sp>
        <p:nvSpPr>
          <p:cNvPr id="11" name="Primario Verde de marca"/>
          <p:cNvSpPr/>
          <p:nvPr/>
        </p:nvSpPr>
        <p:spPr>
          <a:xfrm>
            <a:off x="4846320" y="1828800"/>
            <a:ext cx="3108960" cy="502920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3840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de marca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#1F6F57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5029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31 · 111 · 87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52852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--brand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5669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Acción principal, enlaces y foco.</a:t>
            </a:r>
            <a:endParaRPr lang="en-US" sz="1300" dirty="0"/>
          </a:p>
        </p:txBody>
      </p:sp>
      <p:sp>
        <p:nvSpPr>
          <p:cNvPr id="18" name="Primario Blanco"/>
          <p:cNvSpPr/>
          <p:nvPr/>
        </p:nvSpPr>
        <p:spPr>
          <a:xfrm>
            <a:off x="7955280" y="1828800"/>
            <a:ext cx="23774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Filete vertical"/>
          <p:cNvSpPr/>
          <p:nvPr/>
        </p:nvSpPr>
        <p:spPr>
          <a:xfrm>
            <a:off x="7955280" y="1828800"/>
            <a:ext cx="0" cy="5029200"/>
          </a:xfrm>
          <a:prstGeom prst="line">
            <a:avLst/>
          </a:prstGeom>
          <a:noFill/>
          <a:ln w="9525">
            <a:solidFill>
              <a:srgbClr val="CAD6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840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Blanco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#FFFFFF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5029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255 · 255 · 255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52852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--white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56692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 y superficies de trabajo.</a:t>
            </a:r>
            <a:endParaRPr lang="en-US" sz="1300" dirty="0"/>
          </a:p>
        </p:txBody>
      </p:sp>
      <p:sp>
        <p:nvSpPr>
          <p:cNvPr id="26" name="Primario Negro verdoso"/>
          <p:cNvSpPr/>
          <p:nvPr/>
        </p:nvSpPr>
        <p:spPr>
          <a:xfrm>
            <a:off x="10332720" y="1828800"/>
            <a:ext cx="1856232" cy="5029200"/>
          </a:xfrm>
          <a:prstGeom prst="rect">
            <a:avLst/>
          </a:prstGeom>
          <a:solidFill>
            <a:srgbClr val="0D1F18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0704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3840480"/>
            <a:ext cx="1399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Negro verdoso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47548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#0D1F18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0" y="5029200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13 · 31 · 24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0" y="5285232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--ink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0" y="566928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principal.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Colores secundarios </a:t>
            </a:r>
            <a:pPr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de apoyo</a:t>
            </a:r>
            <a:endParaRPr lang="en-US" sz="3600" dirty="0"/>
          </a:p>
        </p:txBody>
      </p:sp>
      <p:sp>
        <p:nvSpPr>
          <p:cNvPr id="4" name="Franja Menta"/>
          <p:cNvSpPr/>
          <p:nvPr/>
        </p:nvSpPr>
        <p:spPr>
          <a:xfrm>
            <a:off x="0" y="1828800"/>
            <a:ext cx="12191695" cy="868680"/>
          </a:xfrm>
          <a:prstGeom prst="rect">
            <a:avLst/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802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0345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#A9D6C4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2814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169 · 214 · 196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534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--mint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20802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Ítem activo y acentos sobre verde bosque.</a:t>
            </a:r>
            <a:endParaRPr lang="en-US" sz="1200" dirty="0"/>
          </a:p>
        </p:txBody>
      </p:sp>
      <p:sp>
        <p:nvSpPr>
          <p:cNvPr id="10" name="Franja Menta suave"/>
          <p:cNvSpPr/>
          <p:nvPr/>
        </p:nvSpPr>
        <p:spPr>
          <a:xfrm>
            <a:off x="0" y="2697480"/>
            <a:ext cx="12191695" cy="868680"/>
          </a:xfrm>
          <a:prstGeom prst="rect">
            <a:avLst/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9489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 suave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9032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#DFEEE6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501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223 · 238 · 230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30220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--mint-soft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9489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Panel de encabezado de página.</a:t>
            </a:r>
            <a:endParaRPr lang="en-US" sz="1200" dirty="0"/>
          </a:p>
        </p:txBody>
      </p:sp>
      <p:sp>
        <p:nvSpPr>
          <p:cNvPr id="16" name="Franja Verde suave"/>
          <p:cNvSpPr/>
          <p:nvPr/>
        </p:nvSpPr>
        <p:spPr>
          <a:xfrm>
            <a:off x="0" y="3566160"/>
            <a:ext cx="12191695" cy="777240"/>
          </a:xfrm>
          <a:prstGeom prst="rect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719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suave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7261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#E8F4EE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9730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232 · 244 · 238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38450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--brand-soft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37719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 de “reservado” y chips suaves.</a:t>
            </a:r>
            <a:endParaRPr lang="en-US" sz="1200" dirty="0"/>
          </a:p>
        </p:txBody>
      </p:sp>
      <p:sp>
        <p:nvSpPr>
          <p:cNvPr id="22" name="Franja Crema"/>
          <p:cNvSpPr/>
          <p:nvPr/>
        </p:nvSpPr>
        <p:spPr>
          <a:xfrm>
            <a:off x="0" y="4343400"/>
            <a:ext cx="12191695" cy="685800"/>
          </a:xfrm>
          <a:prstGeom prst="rect">
            <a:avLst/>
          </a:prstGeom>
          <a:solidFill>
            <a:srgbClr val="F6EFE6"/>
          </a:solidFill>
          <a:ln w="12700">
            <a:solidFill>
              <a:srgbClr val="F6EF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5034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Crema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4577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#F6EFE6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47045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246 · 239 · 230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45765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--cream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45034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Superficie cálida reservada, sin uso hoy.</a:t>
            </a:r>
            <a:endParaRPr lang="en-US" sz="1200" dirty="0"/>
          </a:p>
        </p:txBody>
      </p:sp>
      <p:sp>
        <p:nvSpPr>
          <p:cNvPr id="28" name="Franja Coral"/>
          <p:cNvSpPr/>
          <p:nvPr/>
        </p:nvSpPr>
        <p:spPr>
          <a:xfrm>
            <a:off x="0" y="5029200"/>
            <a:ext cx="12191695" cy="777240"/>
          </a:xfrm>
          <a:prstGeom prst="rect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2349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Coral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566160" y="51892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#E5533D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54361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229 · 83 · 61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53080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--coral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52349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cancelar y estados negativos.</a:t>
            </a:r>
            <a:endParaRPr lang="en-US" sz="1200" dirty="0"/>
          </a:p>
        </p:txBody>
      </p:sp>
      <p:sp>
        <p:nvSpPr>
          <p:cNvPr id="34" name="Franja Grises de texto"/>
          <p:cNvSpPr/>
          <p:nvPr/>
        </p:nvSpPr>
        <p:spPr>
          <a:xfrm>
            <a:off x="0" y="5806440"/>
            <a:ext cx="12191695" cy="685800"/>
          </a:xfrm>
          <a:prstGeom prst="rect">
            <a:avLst/>
          </a:prstGeom>
          <a:solidFill>
            <a:srgbClr val="43544D"/>
          </a:solidFill>
          <a:ln w="12700">
            <a:solidFill>
              <a:srgbClr val="43544D"/>
            </a:solidFill>
            <a:prstDash val="solid"/>
          </a:ln>
        </p:spPr>
      </p:sp>
      <p:sp>
        <p:nvSpPr>
          <p:cNvPr id="35" name="Franja mute"/>
          <p:cNvSpPr/>
          <p:nvPr/>
        </p:nvSpPr>
        <p:spPr>
          <a:xfrm>
            <a:off x="7315200" y="5806440"/>
            <a:ext cx="4876495" cy="685800"/>
          </a:xfrm>
          <a:prstGeom prst="rect">
            <a:avLst/>
          </a:prstGeom>
          <a:solidFill>
            <a:srgbClr val="6A7B74"/>
          </a:solidFill>
          <a:ln w="12700">
            <a:solidFill>
              <a:srgbClr val="6A7B7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59664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Grises de texto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3566160" y="59207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#43544D  /  #6A7B74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566160" y="61676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67 · 84 · 77  /  106 · 123 · 116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498080" y="60396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--ink-2  /  --mute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052560" y="59664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secundario y de apoyo.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Azul cielo </a:t>
            </a:r>
            <a:pPr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lavanda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92240" y="868680"/>
            <a:ext cx="5056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colores fríos para lo que el verde no cubre: datos, comparaciones, promos y novedades. Ninguno sirve para cancelar ni reemplaza al verde en la acción.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INTERMEDIO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128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Azul cielo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Datos, comparaciones e información.</a:t>
            </a:r>
            <a:endParaRPr lang="en-US" sz="1300" dirty="0"/>
          </a:p>
        </p:txBody>
      </p:sp>
      <p:sp>
        <p:nvSpPr>
          <p:cNvPr id="8" name="Azul cielo 700"/>
          <p:cNvSpPr/>
          <p:nvPr/>
        </p:nvSpPr>
        <p:spPr>
          <a:xfrm>
            <a:off x="3291840" y="1920240"/>
            <a:ext cx="1779971" cy="1920240"/>
          </a:xfrm>
          <a:prstGeom prst="rect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971800"/>
            <a:ext cx="15056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#1B4F8E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291840"/>
            <a:ext cx="1459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sobre celeste</a:t>
            </a:r>
            <a:endParaRPr lang="en-US" sz="1100" dirty="0"/>
          </a:p>
        </p:txBody>
      </p:sp>
      <p:sp>
        <p:nvSpPr>
          <p:cNvPr id="12" name="Azul cielo 600"/>
          <p:cNvSpPr/>
          <p:nvPr/>
        </p:nvSpPr>
        <p:spPr>
          <a:xfrm>
            <a:off x="5071811" y="1920240"/>
            <a:ext cx="1779971" cy="1920240"/>
          </a:xfrm>
          <a:prstGeom prst="rect">
            <a:avLst/>
          </a:prstGeom>
          <a:solidFill>
            <a:srgbClr val="2F6FC0"/>
          </a:solidFill>
          <a:ln w="12700">
            <a:solidFill>
              <a:srgbClr val="2F6F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54691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254691" y="2971800"/>
            <a:ext cx="15056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#2F6FC0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54691" y="3291840"/>
            <a:ext cx="1459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y líneas · 5,1 : 1</a:t>
            </a:r>
            <a:endParaRPr lang="en-US" sz="1100" dirty="0"/>
          </a:p>
        </p:txBody>
      </p:sp>
      <p:sp>
        <p:nvSpPr>
          <p:cNvPr id="16" name="Azul cielo 400 · PRINCIPAL"/>
          <p:cNvSpPr/>
          <p:nvPr/>
        </p:nvSpPr>
        <p:spPr>
          <a:xfrm>
            <a:off x="6851782" y="1920240"/>
            <a:ext cx="1779971" cy="1920240"/>
          </a:xfrm>
          <a:prstGeom prst="rect">
            <a:avLst/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34662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400 · PRINCIPAL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034662" y="2971800"/>
            <a:ext cx="15056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#6BAEE8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34662" y="3291840"/>
            <a:ext cx="1459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Series y relleno</a:t>
            </a:r>
            <a:endParaRPr lang="en-US" sz="1100" dirty="0"/>
          </a:p>
        </p:txBody>
      </p:sp>
      <p:sp>
        <p:nvSpPr>
          <p:cNvPr id="20" name="Azul cielo 100"/>
          <p:cNvSpPr/>
          <p:nvPr/>
        </p:nvSpPr>
        <p:spPr>
          <a:xfrm>
            <a:off x="8631753" y="1920240"/>
            <a:ext cx="1779971" cy="1920240"/>
          </a:xfrm>
          <a:prstGeom prst="rect">
            <a:avLst/>
          </a:prstGeom>
          <a:solidFill>
            <a:srgbClr val="BFDDF7"/>
          </a:solidFill>
          <a:ln w="12700">
            <a:solidFill>
              <a:srgbClr val="BFDD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14633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814633" y="2971800"/>
            <a:ext cx="15056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#BFDDF7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814633" y="3291840"/>
            <a:ext cx="1459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Fondos</a:t>
            </a:r>
            <a:endParaRPr lang="en-US" sz="1100" dirty="0"/>
          </a:p>
        </p:txBody>
      </p:sp>
      <p:sp>
        <p:nvSpPr>
          <p:cNvPr id="24" name="Azul cielo 50"/>
          <p:cNvSpPr/>
          <p:nvPr/>
        </p:nvSpPr>
        <p:spPr>
          <a:xfrm>
            <a:off x="10411724" y="1920240"/>
            <a:ext cx="1779971" cy="1920240"/>
          </a:xfrm>
          <a:prstGeom prst="rect">
            <a:avLst/>
          </a:prstGeom>
          <a:solidFill>
            <a:srgbClr val="E8F2FC"/>
          </a:solidFill>
          <a:ln w="9525">
            <a:solidFill>
              <a:srgbClr val="E2EA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94604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594604" y="2971800"/>
            <a:ext cx="15056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#E8F2FC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94604" y="3291840"/>
            <a:ext cx="1459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Fondos suaves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160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 DETALLE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53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Lavanda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Promos, novedades y acentos puntuales.</a:t>
            </a:r>
            <a:endParaRPr lang="en-US" sz="1300" dirty="0"/>
          </a:p>
        </p:txBody>
      </p:sp>
      <p:sp>
        <p:nvSpPr>
          <p:cNvPr id="31" name="Lavanda 700"/>
          <p:cNvSpPr/>
          <p:nvPr/>
        </p:nvSpPr>
        <p:spPr>
          <a:xfrm>
            <a:off x="3291840" y="4160520"/>
            <a:ext cx="2224964" cy="1920240"/>
          </a:xfrm>
          <a:prstGeom prst="rect">
            <a:avLst/>
          </a:prstGeom>
          <a:solidFill>
            <a:srgbClr val="4A3C8C"/>
          </a:solidFill>
          <a:ln w="12700">
            <a:solidFill>
              <a:srgbClr val="4A3C8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74720" y="4343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700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474720" y="5212080"/>
            <a:ext cx="1950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#4A3C8C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474720" y="5532120"/>
            <a:ext cx="1904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· 9,1 : 1</a:t>
            </a:r>
            <a:endParaRPr lang="en-US" sz="1100" dirty="0"/>
          </a:p>
        </p:txBody>
      </p:sp>
      <p:sp>
        <p:nvSpPr>
          <p:cNvPr id="35" name="Lavanda 500 · PRINCIPAL"/>
          <p:cNvSpPr/>
          <p:nvPr/>
        </p:nvSpPr>
        <p:spPr>
          <a:xfrm>
            <a:off x="5516804" y="4160520"/>
            <a:ext cx="2224964" cy="1920240"/>
          </a:xfrm>
          <a:prstGeom prst="rect">
            <a:avLst/>
          </a:prstGeom>
          <a:solidFill>
            <a:srgbClr val="9C8DDD"/>
          </a:solidFill>
          <a:ln w="12700">
            <a:solidFill>
              <a:srgbClr val="9C8D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99684" y="4343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500 · PRINCIPAL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699684" y="5212080"/>
            <a:ext cx="1950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#9C8DDD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699684" y="5532120"/>
            <a:ext cx="1904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Relleno con texto oscuro · 5,9 : 1</a:t>
            </a:r>
            <a:endParaRPr lang="en-US" sz="1100" dirty="0"/>
          </a:p>
        </p:txBody>
      </p:sp>
      <p:sp>
        <p:nvSpPr>
          <p:cNvPr id="39" name="Lavanda 100"/>
          <p:cNvSpPr/>
          <p:nvPr/>
        </p:nvSpPr>
        <p:spPr>
          <a:xfrm>
            <a:off x="7741768" y="4160520"/>
            <a:ext cx="2224964" cy="1920240"/>
          </a:xfrm>
          <a:prstGeom prst="rect">
            <a:avLst/>
          </a:prstGeom>
          <a:solidFill>
            <a:srgbClr val="E4DFF7"/>
          </a:solidFill>
          <a:ln w="12700">
            <a:solidFill>
              <a:srgbClr val="E4DFF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24648" y="4343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924648" y="5212080"/>
            <a:ext cx="1950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#E4DFF7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924648" y="5532120"/>
            <a:ext cx="1904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3C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Fondos</a:t>
            </a:r>
            <a:endParaRPr lang="en-US" sz="1100" dirty="0"/>
          </a:p>
        </p:txBody>
      </p:sp>
      <p:sp>
        <p:nvSpPr>
          <p:cNvPr id="43" name="Lavanda 50"/>
          <p:cNvSpPr/>
          <p:nvPr/>
        </p:nvSpPr>
        <p:spPr>
          <a:xfrm>
            <a:off x="9966731" y="4160520"/>
            <a:ext cx="2224964" cy="1920240"/>
          </a:xfrm>
          <a:prstGeom prst="rect">
            <a:avLst/>
          </a:prstGeom>
          <a:solidFill>
            <a:srgbClr val="F1EEFB"/>
          </a:solidFill>
          <a:ln w="9525">
            <a:solidFill>
              <a:srgbClr val="E2EAE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149611" y="4343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149611" y="5212080"/>
            <a:ext cx="1950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#F1EEFB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149611" y="5532120"/>
            <a:ext cx="1904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3C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Fondos suaves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Dónde viven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azul y la lavanda</a:t>
            </a:r>
            <a:endParaRPr lang="en-US" sz="3600" dirty="0"/>
          </a:p>
        </p:txBody>
      </p:sp>
      <p:sp>
        <p:nvSpPr>
          <p:cNvPr id="4" name="Panel AZUL CIELO · DATOS E INFORMACIÓN"/>
          <p:cNvSpPr/>
          <p:nvPr/>
        </p:nvSpPr>
        <p:spPr>
          <a:xfrm>
            <a:off x="640080" y="1691640"/>
            <a:ext cx="5271516" cy="3383280"/>
          </a:xfrm>
          <a:prstGeom prst="rect">
            <a:avLst/>
          </a:prstGeom>
          <a:solidFill>
            <a:srgbClr val="E8F2FC"/>
          </a:solidFill>
          <a:ln w="12700">
            <a:solidFill>
              <a:srgbClr val="E8F2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7228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4F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AZUL CIELO · DATOS E INFORMACIÓN</a:t>
            </a:r>
            <a:endParaRPr lang="en-US" sz="1000" dirty="0"/>
          </a:p>
        </p:txBody>
      </p:sp>
      <p:sp>
        <p:nvSpPr>
          <p:cNvPr id="6" name="Panel LAVANDA · DETALLE"/>
          <p:cNvSpPr/>
          <p:nvPr/>
        </p:nvSpPr>
        <p:spPr>
          <a:xfrm>
            <a:off x="6277356" y="1691640"/>
            <a:ext cx="5271516" cy="3383280"/>
          </a:xfrm>
          <a:prstGeom prst="rect">
            <a:avLst/>
          </a:prstGeom>
          <a:solidFill>
            <a:srgbClr val="F1EEFB"/>
          </a:solidFill>
          <a:ln w="12700">
            <a:solidFill>
              <a:srgbClr val="F1EE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1676" y="1874520"/>
            <a:ext cx="47228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LAVANDA · DETALLE</a:t>
            </a:r>
            <a:endParaRPr lang="en-US" sz="1000" dirty="0"/>
          </a:p>
        </p:txBody>
      </p:sp>
      <p:sp>
        <p:nvSpPr>
          <p:cNvPr id="8" name="Chip Cancha 1 · 4 veces"/>
          <p:cNvSpPr/>
          <p:nvPr/>
        </p:nvSpPr>
        <p:spPr>
          <a:xfrm>
            <a:off x="914400" y="23317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 w="9525">
            <a:solidFill>
              <a:srgbClr val="BFDD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3317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Cancha 1 · 4 veces</a:t>
            </a:r>
            <a:endParaRPr lang="en-US" sz="1000" dirty="0"/>
          </a:p>
        </p:txBody>
      </p:sp>
      <p:sp>
        <p:nvSpPr>
          <p:cNvPr id="10" name="Chip Precio base"/>
          <p:cNvSpPr/>
          <p:nvPr/>
        </p:nvSpPr>
        <p:spPr>
          <a:xfrm>
            <a:off x="2788920" y="23317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 w="9525">
            <a:solidFill>
              <a:srgbClr val="BFDD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23317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Precio base</a:t>
            </a:r>
            <a:endParaRPr lang="en-US" sz="1000" dirty="0"/>
          </a:p>
        </p:txBody>
      </p:sp>
      <p:sp>
        <p:nvSpPr>
          <p:cNvPr id="12" name="Chip Total $ 770.000"/>
          <p:cNvSpPr/>
          <p:nvPr/>
        </p:nvSpPr>
        <p:spPr>
          <a:xfrm>
            <a:off x="4160520" y="23317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 w="9525">
            <a:solidFill>
              <a:srgbClr val="BFDD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60520" y="2331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 $ 770.000</a:t>
            </a:r>
            <a:endParaRPr lang="en-US" sz="1000" dirty="0"/>
          </a:p>
        </p:txBody>
      </p:sp>
      <p:sp>
        <p:nvSpPr>
          <p:cNvPr id="14" name="Gráfico de ejemplo"/>
          <p:cNvSpPr/>
          <p:nvPr/>
        </p:nvSpPr>
        <p:spPr>
          <a:xfrm>
            <a:off x="914400" y="2926080"/>
            <a:ext cx="4800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DDF7"/>
            </a:solidFill>
            <a:prstDash val="solid"/>
          </a:ln>
        </p:spPr>
      </p:sp>
      <p:sp>
        <p:nvSpPr>
          <p:cNvPr id="15" name="Barra"/>
          <p:cNvSpPr/>
          <p:nvPr/>
        </p:nvSpPr>
        <p:spPr>
          <a:xfrm>
            <a:off x="1188720" y="3387852"/>
            <a:ext cx="457200" cy="251460"/>
          </a:xfrm>
          <a:prstGeom prst="rect">
            <a:avLst/>
          </a:prstGeom>
          <a:solidFill>
            <a:srgbClr val="BCDCCB"/>
          </a:solidFill>
          <a:ln w="12700">
            <a:solidFill>
              <a:srgbClr val="BCDCCB"/>
            </a:solidFill>
            <a:prstDash val="solid"/>
          </a:ln>
        </p:spPr>
      </p:sp>
      <p:sp>
        <p:nvSpPr>
          <p:cNvPr id="16" name="Barra"/>
          <p:cNvSpPr/>
          <p:nvPr/>
        </p:nvSpPr>
        <p:spPr>
          <a:xfrm>
            <a:off x="2011680" y="3186684"/>
            <a:ext cx="457200" cy="452628"/>
          </a:xfrm>
          <a:prstGeom prst="rect">
            <a:avLst/>
          </a:prstGeom>
          <a:solidFill>
            <a:srgbClr val="BCDCCB"/>
          </a:solidFill>
          <a:ln w="12700">
            <a:solidFill>
              <a:srgbClr val="BCDCCB"/>
            </a:solidFill>
            <a:prstDash val="solid"/>
          </a:ln>
        </p:spPr>
      </p:sp>
      <p:sp>
        <p:nvSpPr>
          <p:cNvPr id="17" name="Barra"/>
          <p:cNvSpPr/>
          <p:nvPr/>
        </p:nvSpPr>
        <p:spPr>
          <a:xfrm>
            <a:off x="2834640" y="3327502"/>
            <a:ext cx="457200" cy="311810"/>
          </a:xfrm>
          <a:prstGeom prst="rect">
            <a:avLst/>
          </a:prstGeom>
          <a:solidFill>
            <a:srgbClr val="BCDCCB"/>
          </a:solidFill>
          <a:ln w="12700">
            <a:solidFill>
              <a:srgbClr val="BCDCCB"/>
            </a:solidFill>
            <a:prstDash val="solid"/>
          </a:ln>
        </p:spPr>
      </p:sp>
      <p:sp>
        <p:nvSpPr>
          <p:cNvPr id="18" name="Barra"/>
          <p:cNvSpPr/>
          <p:nvPr/>
        </p:nvSpPr>
        <p:spPr>
          <a:xfrm>
            <a:off x="3657600" y="3136392"/>
            <a:ext cx="457200" cy="50292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19" name="Barra"/>
          <p:cNvSpPr/>
          <p:nvPr/>
        </p:nvSpPr>
        <p:spPr>
          <a:xfrm>
            <a:off x="4480560" y="3287268"/>
            <a:ext cx="457200" cy="352044"/>
          </a:xfrm>
          <a:prstGeom prst="rect">
            <a:avLst/>
          </a:prstGeom>
          <a:solidFill>
            <a:srgbClr val="BCDCCB"/>
          </a:solidFill>
          <a:ln w="12700">
            <a:solidFill>
              <a:srgbClr val="BCDCCB"/>
            </a:solidFill>
            <a:prstDash val="solid"/>
          </a:ln>
        </p:spPr>
      </p:sp>
      <p:sp>
        <p:nvSpPr>
          <p:cNvPr id="20" name="Promedio"/>
          <p:cNvSpPr/>
          <p:nvPr/>
        </p:nvSpPr>
        <p:spPr>
          <a:xfrm>
            <a:off x="1005840" y="3310128"/>
            <a:ext cx="4617720" cy="0"/>
          </a:xfrm>
          <a:prstGeom prst="line">
            <a:avLst/>
          </a:prstGeom>
          <a:noFill/>
          <a:ln w="15875">
            <a:solidFill>
              <a:srgbClr val="2F6FC0"/>
            </a:solidFill>
            <a:prstDash val="dash"/>
          </a:ln>
        </p:spPr>
      </p:sp>
      <p:sp>
        <p:nvSpPr>
          <p:cNvPr id="21" name="Chip Promedio 128 k"/>
          <p:cNvSpPr/>
          <p:nvPr/>
        </p:nvSpPr>
        <p:spPr>
          <a:xfrm>
            <a:off x="1005840" y="299008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 w="9525">
            <a:solidFill>
              <a:srgbClr val="BFDD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2990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Promedio 128 k</a:t>
            </a:r>
            <a:endParaRPr lang="en-US" sz="1000" dirty="0"/>
          </a:p>
        </p:txBody>
      </p:sp>
      <p:sp>
        <p:nvSpPr>
          <p:cNvPr id="23" name="Panel de caja"/>
          <p:cNvSpPr/>
          <p:nvPr/>
        </p:nvSpPr>
        <p:spPr>
          <a:xfrm>
            <a:off x="914400" y="3977640"/>
            <a:ext cx="2377440" cy="8229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AE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370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$ 28.000</a:t>
            </a:r>
            <a:endParaRPr lang="en-US" sz="1800" dirty="0"/>
          </a:p>
        </p:txBody>
      </p:sp>
      <p:sp>
        <p:nvSpPr>
          <p:cNvPr id="26" name="Botón ojo"/>
          <p:cNvSpPr/>
          <p:nvPr/>
        </p:nvSpPr>
        <p:spPr>
          <a:xfrm>
            <a:off x="3429000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3D2E"/>
          </a:solidFill>
          <a:ln w="9525">
            <a:solidFill>
              <a:srgbClr val="6BAE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AE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OJO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4F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ETIQUETAS Y OJITO SOBRE VERDE</a:t>
            </a:r>
            <a:endParaRPr lang="en-US" sz="800" dirty="0"/>
          </a:p>
        </p:txBody>
      </p:sp>
      <p:sp>
        <p:nvSpPr>
          <p:cNvPr id="29" name="Chip 8ª"/>
          <p:cNvSpPr/>
          <p:nvPr/>
        </p:nvSpPr>
        <p:spPr>
          <a:xfrm>
            <a:off x="6551676" y="233172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1EEFB"/>
          </a:solidFill>
          <a:ln w="9525">
            <a:solidFill>
              <a:srgbClr val="E4DF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51676" y="2331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8ª</a:t>
            </a:r>
            <a:endParaRPr lang="en-US" sz="1000" dirty="0"/>
          </a:p>
        </p:txBody>
      </p:sp>
      <p:sp>
        <p:nvSpPr>
          <p:cNvPr id="31" name="Chip Promo"/>
          <p:cNvSpPr/>
          <p:nvPr/>
        </p:nvSpPr>
        <p:spPr>
          <a:xfrm>
            <a:off x="7511796" y="23317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9C8DDD"/>
          </a:solidFill>
          <a:ln w="9525">
            <a:solidFill>
              <a:srgbClr val="9C8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11796" y="23317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Promo</a:t>
            </a:r>
            <a:endParaRPr lang="en-US" sz="1000" dirty="0"/>
          </a:p>
        </p:txBody>
      </p:sp>
      <p:sp>
        <p:nvSpPr>
          <p:cNvPr id="33" name="Chip Pico"/>
          <p:cNvSpPr/>
          <p:nvPr/>
        </p:nvSpPr>
        <p:spPr>
          <a:xfrm>
            <a:off x="8654796" y="23317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1EEFB"/>
          </a:solidFill>
          <a:ln w="9525">
            <a:solidFill>
              <a:srgbClr val="E4DF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54796" y="23317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Pico</a:t>
            </a:r>
            <a:endParaRPr lang="en-US" sz="1000" dirty="0"/>
          </a:p>
        </p:txBody>
      </p:sp>
      <p:sp>
        <p:nvSpPr>
          <p:cNvPr id="35" name="Tarjeta categoría"/>
          <p:cNvSpPr/>
          <p:nvPr/>
        </p:nvSpPr>
        <p:spPr>
          <a:xfrm>
            <a:off x="6551676" y="2926080"/>
            <a:ext cx="2286000" cy="1005840"/>
          </a:xfrm>
          <a:prstGeom prst="rect">
            <a:avLst/>
          </a:prstGeom>
          <a:solidFill>
            <a:srgbClr val="F1EEFB"/>
          </a:solidFill>
          <a:ln w="9525">
            <a:solidFill>
              <a:srgbClr val="E4DF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34556" y="30358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CATEGORÍA ACTUAL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734556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4A3C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8ª</a:t>
            </a:r>
            <a:endParaRPr lang="en-US" sz="3400" dirty="0"/>
          </a:p>
        </p:txBody>
      </p:sp>
      <p:sp>
        <p:nvSpPr>
          <p:cNvPr id="38" name="Text 36"/>
          <p:cNvSpPr txBox="1"/>
          <p:nvPr/>
        </p:nvSpPr>
        <p:spPr>
          <a:xfrm>
            <a:off x="6551676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PROMOS Y DESCUENTOS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066276" y="2926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Categoría del jugador, insignia de promo, etiqueta de pico y títulos de promociones. Siempre pequeño.</a:t>
            </a:r>
            <a:endParaRPr lang="en-US" sz="1100" dirty="0"/>
          </a:p>
        </p:txBody>
      </p:sp>
      <p:sp>
        <p:nvSpPr>
          <p:cNvPr id="40" name="Filete"/>
          <p:cNvSpPr/>
          <p:nvPr/>
        </p:nvSpPr>
        <p:spPr>
          <a:xfrm>
            <a:off x="640080" y="5349240"/>
            <a:ext cx="2544318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5458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97280" y="5422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primero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5760720"/>
            <a:ext cx="24985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Acciones, barras, menú y estados siguen en verde, blanco y negro.</a:t>
            </a:r>
            <a:endParaRPr lang="en-US" sz="1050" dirty="0"/>
          </a:p>
        </p:txBody>
      </p:sp>
      <p:sp>
        <p:nvSpPr>
          <p:cNvPr id="44" name="Filete"/>
          <p:cNvSpPr/>
          <p:nvPr/>
        </p:nvSpPr>
        <p:spPr>
          <a:xfrm>
            <a:off x="3367278" y="5349240"/>
            <a:ext cx="2544318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367278" y="5458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3824478" y="5422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fondos grandes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3367278" y="5760720"/>
            <a:ext cx="24985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chips, líneas, números y etiquetas. Ningún panel entero en azul o lavanda.</a:t>
            </a:r>
            <a:endParaRPr lang="en-US" sz="1050" dirty="0"/>
          </a:p>
        </p:txBody>
      </p:sp>
      <p:sp>
        <p:nvSpPr>
          <p:cNvPr id="48" name="Filete"/>
          <p:cNvSpPr/>
          <p:nvPr/>
        </p:nvSpPr>
        <p:spPr>
          <a:xfrm>
            <a:off x="6094476" y="5349240"/>
            <a:ext cx="2544318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094476" y="5458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551676" y="5422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Dosis a ojo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094476" y="5760720"/>
            <a:ext cx="24985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pesa pantalla por pantalla, sin un porcentaje fijo.</a:t>
            </a:r>
            <a:endParaRPr lang="en-US" sz="1050" dirty="0"/>
          </a:p>
        </p:txBody>
      </p:sp>
      <p:sp>
        <p:nvSpPr>
          <p:cNvPr id="52" name="Filete"/>
          <p:cNvSpPr/>
          <p:nvPr/>
        </p:nvSpPr>
        <p:spPr>
          <a:xfrm>
            <a:off x="8821674" y="5349240"/>
            <a:ext cx="2544318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821674" y="5458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278874" y="5422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oscuro, más claros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821674" y="5760720"/>
            <a:ext cx="24985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Cielo #8CC4F2 · Lavanda #B8ACEC: suben de tono para mantener el contraste.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reparte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color</a:t>
            </a:r>
            <a:endParaRPr lang="en-US" sz="3600" dirty="0"/>
          </a:p>
        </p:txBody>
      </p:sp>
      <p:sp>
        <p:nvSpPr>
          <p:cNvPr id="4" name="Proporción Blanco"/>
          <p:cNvSpPr/>
          <p:nvPr/>
        </p:nvSpPr>
        <p:spPr>
          <a:xfrm>
            <a:off x="640080" y="1965960"/>
            <a:ext cx="44805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3101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BLANCO</a:t>
            </a:r>
            <a:endParaRPr lang="en-US" sz="900" dirty="0"/>
          </a:p>
        </p:txBody>
      </p:sp>
      <p:sp>
        <p:nvSpPr>
          <p:cNvPr id="6" name="Proporción Bosque"/>
          <p:cNvSpPr/>
          <p:nvPr/>
        </p:nvSpPr>
        <p:spPr>
          <a:xfrm>
            <a:off x="5120640" y="1965960"/>
            <a:ext cx="2103120" cy="164592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57800" y="3310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BOSQUE</a:t>
            </a:r>
            <a:endParaRPr lang="en-US" sz="900" dirty="0"/>
          </a:p>
        </p:txBody>
      </p:sp>
      <p:sp>
        <p:nvSpPr>
          <p:cNvPr id="8" name="Proporción Marca"/>
          <p:cNvSpPr/>
          <p:nvPr/>
        </p:nvSpPr>
        <p:spPr>
          <a:xfrm>
            <a:off x="7223760" y="1965960"/>
            <a:ext cx="1280160" cy="164592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60920" y="33101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MARCA</a:t>
            </a:r>
            <a:endParaRPr lang="en-US" sz="900" dirty="0"/>
          </a:p>
        </p:txBody>
      </p:sp>
      <p:sp>
        <p:nvSpPr>
          <p:cNvPr id="10" name="Proporción Menta"/>
          <p:cNvSpPr/>
          <p:nvPr/>
        </p:nvSpPr>
        <p:spPr>
          <a:xfrm>
            <a:off x="8503920" y="1965960"/>
            <a:ext cx="914400" cy="1645920"/>
          </a:xfrm>
          <a:prstGeom prst="rect">
            <a:avLst/>
          </a:prstGeom>
          <a:solidFill>
            <a:srgbClr val="DFEEE6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33101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MENTA</a:t>
            </a:r>
            <a:endParaRPr lang="en-US" sz="900" dirty="0"/>
          </a:p>
        </p:txBody>
      </p:sp>
      <p:sp>
        <p:nvSpPr>
          <p:cNvPr id="12" name="Proporción "/>
          <p:cNvSpPr/>
          <p:nvPr/>
        </p:nvSpPr>
        <p:spPr>
          <a:xfrm>
            <a:off x="9418320" y="1965960"/>
            <a:ext cx="640080" cy="1645920"/>
          </a:xfrm>
          <a:prstGeom prst="rect">
            <a:avLst/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13" name="Proporción "/>
          <p:cNvSpPr/>
          <p:nvPr/>
        </p:nvSpPr>
        <p:spPr>
          <a:xfrm>
            <a:off x="10058400" y="1965960"/>
            <a:ext cx="457200" cy="1645920"/>
          </a:xfrm>
          <a:prstGeom prst="rect">
            <a:avLst/>
          </a:prstGeom>
          <a:solidFill>
            <a:srgbClr val="9C8DDD"/>
          </a:solidFill>
          <a:ln w="12700">
            <a:solidFill>
              <a:srgbClr val="9C8DDD"/>
            </a:solidFill>
            <a:prstDash val="solid"/>
          </a:ln>
        </p:spPr>
      </p:sp>
      <p:sp>
        <p:nvSpPr>
          <p:cNvPr id="14" name="Proporción "/>
          <p:cNvSpPr/>
          <p:nvPr/>
        </p:nvSpPr>
        <p:spPr>
          <a:xfrm>
            <a:off x="10515600" y="1965960"/>
            <a:ext cx="640080" cy="1645920"/>
          </a:xfrm>
          <a:prstGeom prst="rect">
            <a:avLst/>
          </a:prstGeom>
          <a:solidFill>
            <a:srgbClr val="0D1F18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15" name="Proporción "/>
          <p:cNvSpPr/>
          <p:nvPr/>
        </p:nvSpPr>
        <p:spPr>
          <a:xfrm>
            <a:off x="11155680" y="1965960"/>
            <a:ext cx="393192" cy="1645920"/>
          </a:xfrm>
          <a:prstGeom prst="rect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49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PROPORCIÓN ORIENTATIVA — PROPUESTA</a:t>
            </a:r>
            <a:endParaRPr lang="en-US" sz="1000" dirty="0"/>
          </a:p>
        </p:txBody>
      </p:sp>
      <p:sp>
        <p:nvSpPr>
          <p:cNvPr id="17" name="Filete"/>
          <p:cNvSpPr/>
          <p:nvPr/>
        </p:nvSpPr>
        <p:spPr>
          <a:xfrm>
            <a:off x="640080" y="452628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blanco domina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1206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superficies de trabajo son blancas con bordes finos. El color marca estado e identidad.</a:t>
            </a:r>
            <a:endParaRPr lang="en-US" sz="1400" dirty="0"/>
          </a:p>
        </p:txBody>
      </p:sp>
      <p:sp>
        <p:nvSpPr>
          <p:cNvPr id="20" name="Filete"/>
          <p:cNvSpPr/>
          <p:nvPr/>
        </p:nvSpPr>
        <p:spPr>
          <a:xfrm>
            <a:off x="4343400" y="452628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verde ancla y actúa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51206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bosque para la estructura; verde de marca para la acción. Un solo botón primario por vista.</a:t>
            </a:r>
            <a:endParaRPr lang="en-US" sz="1400" dirty="0"/>
          </a:p>
        </p:txBody>
      </p:sp>
      <p:sp>
        <p:nvSpPr>
          <p:cNvPr id="23" name="Filete"/>
          <p:cNvSpPr/>
          <p:nvPr/>
        </p:nvSpPr>
        <p:spPr>
          <a:xfrm>
            <a:off x="8046720" y="4526280"/>
            <a:ext cx="3429000" cy="0"/>
          </a:xfrm>
          <a:prstGeom prst="line">
            <a:avLst/>
          </a:prstGeom>
          <a:noFill/>
          <a:ln w="15875">
            <a:solidFill>
              <a:srgbClr val="E553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coral solo cancela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51206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 usa para decorar ni para una baja de números: una baja va en gris oscuro.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Colores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estado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AGENDA · FRÍO, FIRME Y SELLADO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920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CANCHA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920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CANCHA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14:00</a:t>
            </a:r>
            <a:endParaRPr lang="en-US" sz="1100" dirty="0"/>
          </a:p>
        </p:txBody>
      </p:sp>
      <p:sp>
        <p:nvSpPr>
          <p:cNvPr id="8" name="✓ Finalizado"/>
          <p:cNvSpPr/>
          <p:nvPr/>
        </p:nvSpPr>
        <p:spPr>
          <a:xfrm>
            <a:off x="1508760" y="2194560"/>
            <a:ext cx="2606040" cy="896112"/>
          </a:xfrm>
          <a:prstGeom prst="roundRect">
            <a:avLst>
              <a:gd name="adj" fmla="val 10204"/>
            </a:avLst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73352" y="23500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FINALIZADO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673352" y="2670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personas · cobrado</a:t>
            </a:r>
            <a:endParaRPr lang="en-US" sz="1200" dirty="0"/>
          </a:p>
        </p:txBody>
      </p:sp>
      <p:sp>
        <p:nvSpPr>
          <p:cNvPr id="11" name="✓ Finalizado"/>
          <p:cNvSpPr/>
          <p:nvPr/>
        </p:nvSpPr>
        <p:spPr>
          <a:xfrm>
            <a:off x="4206240" y="2194560"/>
            <a:ext cx="2606040" cy="896112"/>
          </a:xfrm>
          <a:prstGeom prst="roundRect">
            <a:avLst>
              <a:gd name="adj" fmla="val 10204"/>
            </a:avLst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0832" y="23500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FINALIZADO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370832" y="2670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personas · cobrado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021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17:00</a:t>
            </a:r>
            <a:endParaRPr lang="en-US" sz="1100" dirty="0"/>
          </a:p>
        </p:txBody>
      </p:sp>
      <p:sp>
        <p:nvSpPr>
          <p:cNvPr id="15" name="Completo"/>
          <p:cNvSpPr/>
          <p:nvPr/>
        </p:nvSpPr>
        <p:spPr>
          <a:xfrm>
            <a:off x="1508760" y="3182112"/>
            <a:ext cx="2606040" cy="896112"/>
          </a:xfrm>
          <a:prstGeom prst="roundRect">
            <a:avLst>
              <a:gd name="adj" fmla="val 10204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73352" y="3337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673352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personas · confirmado</a:t>
            </a:r>
            <a:endParaRPr lang="en-US" sz="1200" dirty="0"/>
          </a:p>
        </p:txBody>
      </p:sp>
      <p:sp>
        <p:nvSpPr>
          <p:cNvPr id="18" name="Reservado"/>
          <p:cNvSpPr/>
          <p:nvPr/>
        </p:nvSpPr>
        <p:spPr>
          <a:xfrm>
            <a:off x="4206240" y="3182112"/>
            <a:ext cx="2606040" cy="896112"/>
          </a:xfrm>
          <a:prstGeom prst="roundRect">
            <a:avLst>
              <a:gd name="adj" fmla="val 10204"/>
            </a:avLst>
          </a:prstGeom>
          <a:solidFill>
            <a:srgbClr val="E8F4EE"/>
          </a:solidFill>
          <a:ln w="15875">
            <a:solidFill>
              <a:srgbClr val="BCDCCB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370832" y="3337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RESERVADO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370832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personas · sin confirmar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4897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18:30</a:t>
            </a:r>
            <a:endParaRPr lang="en-US" sz="1100" dirty="0"/>
          </a:p>
        </p:txBody>
      </p:sp>
      <p:sp>
        <p:nvSpPr>
          <p:cNvPr id="22" name="Reservado"/>
          <p:cNvSpPr/>
          <p:nvPr/>
        </p:nvSpPr>
        <p:spPr>
          <a:xfrm>
            <a:off x="1508760" y="4169664"/>
            <a:ext cx="2606040" cy="896112"/>
          </a:xfrm>
          <a:prstGeom prst="roundRect">
            <a:avLst>
              <a:gd name="adj" fmla="val 10204"/>
            </a:avLst>
          </a:prstGeom>
          <a:solidFill>
            <a:srgbClr val="E8F4EE"/>
          </a:solidFill>
          <a:ln w="15875">
            <a:solidFill>
              <a:srgbClr val="BCDCCB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1673352" y="43251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RESERVADO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673352" y="4645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personas · sin confirmar</a:t>
            </a:r>
            <a:endParaRPr lang="en-US" sz="1200" dirty="0"/>
          </a:p>
        </p:txBody>
      </p:sp>
      <p:sp>
        <p:nvSpPr>
          <p:cNvPr id="25" name="Completo"/>
          <p:cNvSpPr/>
          <p:nvPr/>
        </p:nvSpPr>
        <p:spPr>
          <a:xfrm>
            <a:off x="4206240" y="4169664"/>
            <a:ext cx="2606040" cy="896112"/>
          </a:xfrm>
          <a:prstGeom prst="roundRect">
            <a:avLst>
              <a:gd name="adj" fmla="val 10204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70832" y="43251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370832" y="4645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personas · confirmado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4772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21:30</a:t>
            </a:r>
            <a:endParaRPr lang="en-US" sz="1100" dirty="0"/>
          </a:p>
        </p:txBody>
      </p:sp>
      <p:sp>
        <p:nvSpPr>
          <p:cNvPr id="29" name="Libre"/>
          <p:cNvSpPr/>
          <p:nvPr/>
        </p:nvSpPr>
        <p:spPr>
          <a:xfrm>
            <a:off x="1508760" y="5157216"/>
            <a:ext cx="26060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875">
            <a:solidFill>
              <a:srgbClr val="CAD6CF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1673352" y="53126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LIBRE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673352" y="5632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Tocá para reservar</a:t>
            </a:r>
            <a:endParaRPr lang="en-US" sz="1200" dirty="0"/>
          </a:p>
        </p:txBody>
      </p:sp>
      <p:sp>
        <p:nvSpPr>
          <p:cNvPr id="32" name="Libre"/>
          <p:cNvSpPr/>
          <p:nvPr/>
        </p:nvSpPr>
        <p:spPr>
          <a:xfrm>
            <a:off x="4206240" y="5157216"/>
            <a:ext cx="26060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875">
            <a:solidFill>
              <a:srgbClr val="CAD6CF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4370832" y="53126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LIBRE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370832" y="5632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Tocá para reservar</a:t>
            </a:r>
            <a:endParaRPr lang="en-US" sz="1200" dirty="0"/>
          </a:p>
        </p:txBody>
      </p:sp>
      <p:sp>
        <p:nvSpPr>
          <p:cNvPr id="35" name="Filete"/>
          <p:cNvSpPr/>
          <p:nvPr/>
        </p:nvSpPr>
        <p:spPr>
          <a:xfrm>
            <a:off x="7680960" y="1920240"/>
            <a:ext cx="3867912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80960" y="20482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Libre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Blanco con borde punteado gris. Sin personas.</a:t>
            </a:r>
            <a:endParaRPr lang="en-US" sz="1100" dirty="0"/>
          </a:p>
        </p:txBody>
      </p:sp>
      <p:sp>
        <p:nvSpPr>
          <p:cNvPr id="39" name="Filete"/>
          <p:cNvSpPr/>
          <p:nvPr/>
        </p:nvSpPr>
        <p:spPr>
          <a:xfrm>
            <a:off x="7680960" y="2633472"/>
            <a:ext cx="386791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80960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183880" y="2724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Reservado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18388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suave con borde punteado: hay personas, pero sin confirmar.</a:t>
            </a:r>
            <a:endParaRPr lang="en-US" sz="1100" dirty="0"/>
          </a:p>
        </p:txBody>
      </p:sp>
      <p:sp>
        <p:nvSpPr>
          <p:cNvPr id="43" name="Filete"/>
          <p:cNvSpPr/>
          <p:nvPr/>
        </p:nvSpPr>
        <p:spPr>
          <a:xfrm>
            <a:off x="7680960" y="3346704"/>
            <a:ext cx="386791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680960" y="3474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183880" y="3438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Completo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8183880" y="37124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bosque pleno: confirmado, listo para jugarse.</a:t>
            </a:r>
            <a:endParaRPr lang="en-US" sz="1100" dirty="0"/>
          </a:p>
        </p:txBody>
      </p:sp>
      <p:sp>
        <p:nvSpPr>
          <p:cNvPr id="47" name="Filete"/>
          <p:cNvSpPr/>
          <p:nvPr/>
        </p:nvSpPr>
        <p:spPr>
          <a:xfrm>
            <a:off x="7680960" y="4059936"/>
            <a:ext cx="386791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0" y="4187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183880" y="4151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Finalizado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8183880" y="44256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Azul cielo pleno con tilde: ya se jugó y se cobró.</a:t>
            </a:r>
            <a:endParaRPr lang="en-US" sz="1100" dirty="0"/>
          </a:p>
        </p:txBody>
      </p:sp>
      <p:sp>
        <p:nvSpPr>
          <p:cNvPr id="51" name="Filete"/>
          <p:cNvSpPr/>
          <p:nvPr/>
        </p:nvSpPr>
        <p:spPr>
          <a:xfrm>
            <a:off x="7680960" y="4773168"/>
            <a:ext cx="386791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68096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8183880" y="4864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confirmar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8183880" y="5138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Chip con borde punteado: dato no definido.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7680960" y="557784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estados nunca dependen solo del color: llevan su nombre y cambian el relleno o el borde.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Combinaciones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contraste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MUESTRA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COMBINACIÓN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783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CONTRASTE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NIVEL WCAG</a:t>
            </a:r>
            <a:endParaRPr lang="en-US" sz="1000" dirty="0"/>
          </a:p>
        </p:txBody>
      </p:sp>
      <p:sp>
        <p:nvSpPr>
          <p:cNvPr id="8" name="Filete"/>
          <p:cNvSpPr/>
          <p:nvPr/>
        </p:nvSpPr>
        <p:spPr>
          <a:xfrm>
            <a:off x="640080" y="2084832"/>
            <a:ext cx="77724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9" name="Muestra 1"/>
          <p:cNvSpPr/>
          <p:nvPr/>
        </p:nvSpPr>
        <p:spPr>
          <a:xfrm>
            <a:off x="640080" y="2139696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39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1396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Negro verdoso sobre blanco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2128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17,1 : 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2128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AAA</a:t>
            </a:r>
            <a:endParaRPr lang="en-US" sz="1000" dirty="0"/>
          </a:p>
        </p:txBody>
      </p:sp>
      <p:sp>
        <p:nvSpPr>
          <p:cNvPr id="14" name="Filete"/>
          <p:cNvSpPr/>
          <p:nvPr/>
        </p:nvSpPr>
        <p:spPr>
          <a:xfrm>
            <a:off x="640080" y="2560320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5" name="Muestra 2"/>
          <p:cNvSpPr/>
          <p:nvPr/>
        </p:nvSpPr>
        <p:spPr>
          <a:xfrm>
            <a:off x="640080" y="2615184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615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615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Gris secundario sobre blanco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6883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8,0 : 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6883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AAA</a:t>
            </a:r>
            <a:endParaRPr lang="en-US" sz="1000" dirty="0"/>
          </a:p>
        </p:txBody>
      </p:sp>
      <p:sp>
        <p:nvSpPr>
          <p:cNvPr id="20" name="Filete"/>
          <p:cNvSpPr/>
          <p:nvPr/>
        </p:nvSpPr>
        <p:spPr>
          <a:xfrm>
            <a:off x="640080" y="3035808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1" name="Muestra 3"/>
          <p:cNvSpPr/>
          <p:nvPr/>
        </p:nvSpPr>
        <p:spPr>
          <a:xfrm>
            <a:off x="640080" y="3090672"/>
            <a:ext cx="1645920" cy="3657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090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3090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Blanco sobre verde bosque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31638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12,2 : 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31638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AAA</a:t>
            </a:r>
            <a:endParaRPr lang="en-US" sz="1000" dirty="0"/>
          </a:p>
        </p:txBody>
      </p:sp>
      <p:sp>
        <p:nvSpPr>
          <p:cNvPr id="26" name="Filete"/>
          <p:cNvSpPr/>
          <p:nvPr/>
        </p:nvSpPr>
        <p:spPr>
          <a:xfrm>
            <a:off x="640080" y="3511296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7" name="Muestra 4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46888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 sobre verde bosque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6393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7,6 : 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6393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AAA</a:t>
            </a:r>
            <a:endParaRPr lang="en-US" sz="1000" dirty="0"/>
          </a:p>
        </p:txBody>
      </p:sp>
      <p:sp>
        <p:nvSpPr>
          <p:cNvPr id="32" name="Filete"/>
          <p:cNvSpPr/>
          <p:nvPr/>
        </p:nvSpPr>
        <p:spPr>
          <a:xfrm>
            <a:off x="640080" y="3986784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33" name="Muestra 5"/>
          <p:cNvSpPr/>
          <p:nvPr/>
        </p:nvSpPr>
        <p:spPr>
          <a:xfrm>
            <a:off x="640080" y="4041648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041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2468880" y="4041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de marca sobre blanco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6,1 : 1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4114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</a:t>
            </a:r>
            <a:endParaRPr lang="en-US" sz="1000" dirty="0"/>
          </a:p>
        </p:txBody>
      </p:sp>
      <p:sp>
        <p:nvSpPr>
          <p:cNvPr id="38" name="Filete"/>
          <p:cNvSpPr/>
          <p:nvPr/>
        </p:nvSpPr>
        <p:spPr>
          <a:xfrm>
            <a:off x="640080" y="4462272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39" name="Muestra 6"/>
          <p:cNvSpPr/>
          <p:nvPr/>
        </p:nvSpPr>
        <p:spPr>
          <a:xfrm>
            <a:off x="640080" y="4517136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7240" y="45171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2468880" y="45171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Azul cielo 600 sobre blanco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0" y="4590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5,1 : 1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45902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</a:t>
            </a:r>
            <a:endParaRPr lang="en-US" sz="1000" dirty="0"/>
          </a:p>
        </p:txBody>
      </p:sp>
      <p:sp>
        <p:nvSpPr>
          <p:cNvPr id="44" name="Filete"/>
          <p:cNvSpPr/>
          <p:nvPr/>
        </p:nvSpPr>
        <p:spPr>
          <a:xfrm>
            <a:off x="640080" y="4937760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45" name="Muestra 7"/>
          <p:cNvSpPr/>
          <p:nvPr/>
        </p:nvSpPr>
        <p:spPr>
          <a:xfrm>
            <a:off x="640080" y="4992624"/>
            <a:ext cx="1645920" cy="365760"/>
          </a:xfrm>
          <a:prstGeom prst="rect">
            <a:avLst/>
          </a:prstGeom>
          <a:solidFill>
            <a:srgbClr val="9C8DDD"/>
          </a:solidFill>
          <a:ln w="12700">
            <a:solidFill>
              <a:srgbClr val="9C8DD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4992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2468880" y="49926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oscuro sobre lavanda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0" y="50657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5,9 : 1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949440" y="50657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</a:t>
            </a:r>
            <a:endParaRPr lang="en-US" sz="1000" dirty="0"/>
          </a:p>
        </p:txBody>
      </p:sp>
      <p:sp>
        <p:nvSpPr>
          <p:cNvPr id="50" name="Filete"/>
          <p:cNvSpPr/>
          <p:nvPr/>
        </p:nvSpPr>
        <p:spPr>
          <a:xfrm>
            <a:off x="640080" y="5413248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51" name="Muestra 8"/>
          <p:cNvSpPr/>
          <p:nvPr/>
        </p:nvSpPr>
        <p:spPr>
          <a:xfrm>
            <a:off x="640080" y="5468112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77240" y="5468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2468880" y="5468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Gris de apoyo sobre blanco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0" y="55412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4,47 : 1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949440" y="55412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JUSTO</a:t>
            </a:r>
            <a:endParaRPr lang="en-US" sz="1000" dirty="0"/>
          </a:p>
        </p:txBody>
      </p:sp>
      <p:sp>
        <p:nvSpPr>
          <p:cNvPr id="56" name="Filete"/>
          <p:cNvSpPr/>
          <p:nvPr/>
        </p:nvSpPr>
        <p:spPr>
          <a:xfrm>
            <a:off x="640080" y="5888736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57" name="Muestra 9"/>
          <p:cNvSpPr/>
          <p:nvPr/>
        </p:nvSpPr>
        <p:spPr>
          <a:xfrm>
            <a:off x="640080" y="5943600"/>
            <a:ext cx="1645920" cy="365760"/>
          </a:xfrm>
          <a:prstGeom prst="rect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77240" y="5943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2468880" y="5943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Blanco sobre coral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0" y="6016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3,7 : 1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6949440" y="6016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SOLO TEXTO GRANDE</a:t>
            </a:r>
            <a:endParaRPr lang="en-US" sz="1000" dirty="0"/>
          </a:p>
        </p:txBody>
      </p:sp>
      <p:sp>
        <p:nvSpPr>
          <p:cNvPr id="62" name="Filete"/>
          <p:cNvSpPr/>
          <p:nvPr/>
        </p:nvSpPr>
        <p:spPr>
          <a:xfrm>
            <a:off x="640080" y="6364224"/>
            <a:ext cx="77724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86968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REVISAR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8869680" y="2103120"/>
            <a:ext cx="26791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Gris de apoyo. </a:t>
            </a:r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Queda en 4,47 : 1, apenas debajo del 4,5 que pide AA. Conviene oscurecerlo un poco.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Coral. </a:t>
            </a:r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botón de cancelar con texto blanco llega a 3,7 : 1: sirve para texto grande. En texto chico, pasar a un coral más oscuro.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Paleta del </a:t>
            </a:r>
            <a:pPr algn="l" indent="0" marL="0">
              <a:buNone/>
            </a:pPr>
            <a:r>
              <a:rPr lang="en-US" sz="3600" b="1" dirty="0">
                <a:solidFill>
                  <a:srgbClr val="3FAE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tema oscuro</a:t>
            </a:r>
            <a:endParaRPr lang="en-US" sz="3600" dirty="0"/>
          </a:p>
        </p:txBody>
      </p:sp>
      <p:pic>
        <p:nvPicPr>
          <p:cNvPr id="4" name="Tema oscuro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868680"/>
            <a:ext cx="502920" cy="502920"/>
          </a:xfrm>
          <a:prstGeom prst="rect">
            <a:avLst/>
          </a:prstGeom>
        </p:spPr>
      </p:pic>
      <p:sp>
        <p:nvSpPr>
          <p:cNvPr id="5" name="Tema oscuro · nombre"/>
          <p:cNvSpPr txBox="1"/>
          <p:nvPr/>
        </p:nvSpPr>
        <p:spPr>
          <a:xfrm>
            <a:off x="10011766" y="81838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745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5C8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cambian los tokens: ningún componente tiene colores propios. El verde de marca se aclara y el texto pasa a casi blanco para sostener el contraste.</a:t>
            </a:r>
            <a:endParaRPr lang="en-US" sz="1600" dirty="0"/>
          </a:p>
        </p:txBody>
      </p:sp>
      <p:sp>
        <p:nvSpPr>
          <p:cNvPr id="7" name="Oscuro Fondo"/>
          <p:cNvSpPr/>
          <p:nvPr/>
        </p:nvSpPr>
        <p:spPr>
          <a:xfrm>
            <a:off x="0" y="3657600"/>
            <a:ext cx="1354633" cy="3200400"/>
          </a:xfrm>
          <a:prstGeom prst="rect">
            <a:avLst/>
          </a:prstGeom>
          <a:solidFill>
            <a:srgbClr val="0B1511"/>
          </a:solidFill>
          <a:ln w="9525">
            <a:solidFill>
              <a:srgbClr val="345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288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82880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82880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#0B1511</a:t>
            </a:r>
            <a:endParaRPr lang="en-US" sz="900" dirty="0"/>
          </a:p>
        </p:txBody>
      </p:sp>
      <p:sp>
        <p:nvSpPr>
          <p:cNvPr id="11" name="Oscuro Superficie"/>
          <p:cNvSpPr/>
          <p:nvPr/>
        </p:nvSpPr>
        <p:spPr>
          <a:xfrm>
            <a:off x="1354633" y="3657600"/>
            <a:ext cx="1354633" cy="3200400"/>
          </a:xfrm>
          <a:prstGeom prst="rect">
            <a:avLst/>
          </a:prstGeom>
          <a:solidFill>
            <a:srgbClr val="12221B"/>
          </a:solidFill>
          <a:ln w="12700">
            <a:solidFill>
              <a:srgbClr val="12221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37513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537513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Superficie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537513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#12221B</a:t>
            </a:r>
            <a:endParaRPr lang="en-US" sz="900" dirty="0"/>
          </a:p>
        </p:txBody>
      </p:sp>
      <p:sp>
        <p:nvSpPr>
          <p:cNvPr id="15" name="Oscuro Suave"/>
          <p:cNvSpPr/>
          <p:nvPr/>
        </p:nvSpPr>
        <p:spPr>
          <a:xfrm>
            <a:off x="2709266" y="3657600"/>
            <a:ext cx="1354633" cy="3200400"/>
          </a:xfrm>
          <a:prstGeom prst="rect">
            <a:avLst/>
          </a:prstGeom>
          <a:solidFill>
            <a:srgbClr val="16271F"/>
          </a:solidFill>
          <a:ln w="12700">
            <a:solidFill>
              <a:srgbClr val="16271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92146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892146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Suave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892146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#16271F</a:t>
            </a:r>
            <a:endParaRPr lang="en-US" sz="900" dirty="0"/>
          </a:p>
        </p:txBody>
      </p:sp>
      <p:sp>
        <p:nvSpPr>
          <p:cNvPr id="19" name="Oscuro Línea"/>
          <p:cNvSpPr/>
          <p:nvPr/>
        </p:nvSpPr>
        <p:spPr>
          <a:xfrm>
            <a:off x="4063898" y="3657600"/>
            <a:ext cx="1354633" cy="3200400"/>
          </a:xfrm>
          <a:prstGeom prst="rect">
            <a:avLst/>
          </a:prstGeom>
          <a:solidFill>
            <a:srgbClr val="233A2F"/>
          </a:solidFill>
          <a:ln w="12700">
            <a:solidFill>
              <a:srgbClr val="233A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46778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246778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Línea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246778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#233A2F</a:t>
            </a:r>
            <a:endParaRPr lang="en-US" sz="900" dirty="0"/>
          </a:p>
        </p:txBody>
      </p:sp>
      <p:sp>
        <p:nvSpPr>
          <p:cNvPr id="23" name="Oscuro Texto"/>
          <p:cNvSpPr/>
          <p:nvPr/>
        </p:nvSpPr>
        <p:spPr>
          <a:xfrm>
            <a:off x="5418531" y="3657600"/>
            <a:ext cx="1354633" cy="3200400"/>
          </a:xfrm>
          <a:prstGeom prst="rect">
            <a:avLst/>
          </a:prstGeom>
          <a:solidFill>
            <a:srgbClr val="E9F2ED"/>
          </a:solidFill>
          <a:ln w="12700">
            <a:solidFill>
              <a:srgbClr val="E9F2E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01411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601411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601411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#E9F2ED</a:t>
            </a:r>
            <a:endParaRPr lang="en-US" sz="900" dirty="0"/>
          </a:p>
        </p:txBody>
      </p:sp>
      <p:sp>
        <p:nvSpPr>
          <p:cNvPr id="27" name="Oscuro Texto 2"/>
          <p:cNvSpPr/>
          <p:nvPr/>
        </p:nvSpPr>
        <p:spPr>
          <a:xfrm>
            <a:off x="6773164" y="3657600"/>
            <a:ext cx="1354633" cy="3200400"/>
          </a:xfrm>
          <a:prstGeom prst="rect">
            <a:avLst/>
          </a:prstGeom>
          <a:solidFill>
            <a:srgbClr val="B5C8BF"/>
          </a:solidFill>
          <a:ln w="12700">
            <a:solidFill>
              <a:srgbClr val="B5C8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56044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956044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2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956044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#B5C8BF</a:t>
            </a:r>
            <a:endParaRPr lang="en-US" sz="900" dirty="0"/>
          </a:p>
        </p:txBody>
      </p:sp>
      <p:sp>
        <p:nvSpPr>
          <p:cNvPr id="31" name="Oscuro Marca"/>
          <p:cNvSpPr/>
          <p:nvPr/>
        </p:nvSpPr>
        <p:spPr>
          <a:xfrm>
            <a:off x="8127797" y="3657600"/>
            <a:ext cx="1354633" cy="3200400"/>
          </a:xfrm>
          <a:prstGeom prst="rect">
            <a:avLst/>
          </a:prstGeom>
          <a:solidFill>
            <a:srgbClr val="3FAE87"/>
          </a:solidFill>
          <a:ln w="12700">
            <a:solidFill>
              <a:srgbClr val="3FAE8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10677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310677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Marca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310677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#3FAE87</a:t>
            </a:r>
            <a:endParaRPr lang="en-US" sz="900" dirty="0"/>
          </a:p>
        </p:txBody>
      </p:sp>
      <p:sp>
        <p:nvSpPr>
          <p:cNvPr id="35" name="Oscuro Relleno"/>
          <p:cNvSpPr/>
          <p:nvPr/>
        </p:nvSpPr>
        <p:spPr>
          <a:xfrm>
            <a:off x="9482430" y="3657600"/>
            <a:ext cx="1354633" cy="320040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6531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9665310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Relleno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665310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#1F6F57</a:t>
            </a:r>
            <a:endParaRPr lang="en-US" sz="900" dirty="0"/>
          </a:p>
        </p:txBody>
      </p:sp>
      <p:sp>
        <p:nvSpPr>
          <p:cNvPr id="39" name="Oscuro Coral"/>
          <p:cNvSpPr/>
          <p:nvPr/>
        </p:nvSpPr>
        <p:spPr>
          <a:xfrm>
            <a:off x="10837062" y="3657600"/>
            <a:ext cx="1354633" cy="3200400"/>
          </a:xfrm>
          <a:prstGeom prst="rect">
            <a:avLst/>
          </a:prstGeom>
          <a:solidFill>
            <a:srgbClr val="F0705B"/>
          </a:solidFill>
          <a:ln w="12700">
            <a:solidFill>
              <a:srgbClr val="F0705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19942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1019942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Coral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11019942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#F0705B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6A09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a gigante"/>
          <p:cNvSpPr txBox="1"/>
          <p:nvPr/>
        </p:nvSpPr>
        <p:spPr>
          <a:xfrm>
            <a:off x="4754880" y="-1280160"/>
            <a:ext cx="8686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0" b="1" spc="-2000" kern="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</a:t>
            </a:r>
            <a:endParaRPr lang="en-US" sz="5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 /  05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94360" y="34290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spc="-5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Tipografía</a:t>
            </a:r>
            <a:endParaRPr lang="en-US" sz="1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familias de IBM Plex: una para leer y otra para los datos.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— TIPOGRAFÍA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0" b="1" spc="-10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</a:t>
            </a:r>
            <a:endParaRPr lang="en-US" sz="300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Texto, títulos, botones y formularios.</a:t>
            </a:r>
            <a:endParaRPr lang="en-US" sz="1600" dirty="0"/>
          </a:p>
        </p:txBody>
      </p:sp>
      <p:sp>
        <p:nvSpPr>
          <p:cNvPr id="6" name="Filete"/>
          <p:cNvSpPr/>
          <p:nvPr/>
        </p:nvSpPr>
        <p:spPr>
          <a:xfrm>
            <a:off x="6766560" y="2514600"/>
            <a:ext cx="475488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 · Reservá un turno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875520" y="2715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REGULAR 400</a:t>
            </a:r>
            <a:endParaRPr lang="en-US" sz="900" dirty="0"/>
          </a:p>
        </p:txBody>
      </p:sp>
      <p:sp>
        <p:nvSpPr>
          <p:cNvPr id="9" name="Filete"/>
          <p:cNvSpPr/>
          <p:nvPr/>
        </p:nvSpPr>
        <p:spPr>
          <a:xfrm>
            <a:off x="6766560" y="3081528"/>
            <a:ext cx="475488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3172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 · Reservá un turno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32826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 500</a:t>
            </a:r>
            <a:endParaRPr lang="en-US" sz="900" dirty="0"/>
          </a:p>
        </p:txBody>
      </p:sp>
      <p:sp>
        <p:nvSpPr>
          <p:cNvPr id="12" name="Filete"/>
          <p:cNvSpPr/>
          <p:nvPr/>
        </p:nvSpPr>
        <p:spPr>
          <a:xfrm>
            <a:off x="6766560" y="3648456"/>
            <a:ext cx="475488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37398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 · Reservá un turno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0" y="38496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SEMIBOLD 600</a:t>
            </a:r>
            <a:endParaRPr lang="en-US" sz="900" dirty="0"/>
          </a:p>
        </p:txBody>
      </p:sp>
      <p:sp>
        <p:nvSpPr>
          <p:cNvPr id="15" name="Filete"/>
          <p:cNvSpPr/>
          <p:nvPr/>
        </p:nvSpPr>
        <p:spPr>
          <a:xfrm>
            <a:off x="6766560" y="4215384"/>
            <a:ext cx="475488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4434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ABCDEFGHIJKLMNÑOPQRSTUVWXYZ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abcdefghijklmnñopqrstuvwxyz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0123456789  $ % ( ) ¿ ? ¡ !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9436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 CARGA DESDE GOOGLE FONTS. SIN CONEXIÓN SE USA LA FUENTE DEL SISTEMA.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— TIPOGRAFÍA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Mono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0" b="1" spc="-10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</a:t>
            </a:r>
            <a:endParaRPr lang="en-US" sz="300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1783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y etiquetas: horarios, importes y teléfonos.</a:t>
            </a:r>
            <a:endParaRPr lang="en-US" sz="1600" dirty="0"/>
          </a:p>
        </p:txBody>
      </p:sp>
      <p:sp>
        <p:nvSpPr>
          <p:cNvPr id="6" name="Filete"/>
          <p:cNvSpPr/>
          <p:nvPr/>
        </p:nvSpPr>
        <p:spPr>
          <a:xfrm>
            <a:off x="6766560" y="2697480"/>
            <a:ext cx="47548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19:30 – 21:00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875520" y="2898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REGULAR 400</a:t>
            </a:r>
            <a:endParaRPr lang="en-US" sz="900" dirty="0"/>
          </a:p>
        </p:txBody>
      </p:sp>
      <p:sp>
        <p:nvSpPr>
          <p:cNvPr id="9" name="Filete"/>
          <p:cNvSpPr/>
          <p:nvPr/>
        </p:nvSpPr>
        <p:spPr>
          <a:xfrm>
            <a:off x="6766560" y="3264408"/>
            <a:ext cx="4754880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3355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19:30 – 21:00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34655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 500</a:t>
            </a:r>
            <a:endParaRPr lang="en-US" sz="900" dirty="0"/>
          </a:p>
        </p:txBody>
      </p:sp>
      <p:sp>
        <p:nvSpPr>
          <p:cNvPr id="12" name="Filete"/>
          <p:cNvSpPr/>
          <p:nvPr/>
        </p:nvSpPr>
        <p:spPr>
          <a:xfrm>
            <a:off x="6766560" y="3831336"/>
            <a:ext cx="4754880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40690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$ 1.372.000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2284-363702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CANCHA 1 · 4 DE 4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D6C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— TIPOGRAFÍA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Jerarquía tipográfica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Seis roles y una cifra destacada. Cada tamaño tiene una sola función.</a:t>
            </a:r>
            <a:endParaRPr lang="en-US" sz="1500" dirty="0"/>
          </a:p>
        </p:txBody>
      </p:sp>
      <p:sp>
        <p:nvSpPr>
          <p:cNvPr id="5" name="Filete"/>
          <p:cNvSpPr/>
          <p:nvPr/>
        </p:nvSpPr>
        <p:spPr>
          <a:xfrm>
            <a:off x="4114800" y="868680"/>
            <a:ext cx="7434072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0" y="978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Título de página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252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42 PX · 600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868680"/>
            <a:ext cx="5056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Cuánto entró</a:t>
            </a:r>
            <a:endParaRPr lang="en-US" sz="4200" dirty="0"/>
          </a:p>
        </p:txBody>
      </p:sp>
      <p:sp>
        <p:nvSpPr>
          <p:cNvPr id="9" name="Filete"/>
          <p:cNvSpPr/>
          <p:nvPr/>
        </p:nvSpPr>
        <p:spPr>
          <a:xfrm>
            <a:off x="4114800" y="1828800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Título de sección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212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PX · 600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82880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Reservas del día</a:t>
            </a:r>
            <a:endParaRPr lang="en-US" sz="2800" dirty="0"/>
          </a:p>
        </p:txBody>
      </p:sp>
      <p:sp>
        <p:nvSpPr>
          <p:cNvPr id="13" name="Filete"/>
          <p:cNvSpPr/>
          <p:nvPr/>
        </p:nvSpPr>
        <p:spPr>
          <a:xfrm>
            <a:off x="4114800" y="2560320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Subtítulo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944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15,5 PX · 600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56032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Cancha 1 · Turno completo</a:t>
            </a:r>
            <a:endParaRPr lang="en-US" sz="1550" dirty="0"/>
          </a:p>
        </p:txBody>
      </p:sp>
      <p:sp>
        <p:nvSpPr>
          <p:cNvPr id="17" name="Filete"/>
          <p:cNvSpPr/>
          <p:nvPr/>
        </p:nvSpPr>
        <p:spPr>
          <a:xfrm>
            <a:off x="4114800" y="3154680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0" y="3264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base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3538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14,5 PX · 400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15468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Tocá un turno libre para reservarlo.</a:t>
            </a:r>
            <a:endParaRPr lang="en-US" sz="1450" dirty="0"/>
          </a:p>
        </p:txBody>
      </p:sp>
      <p:sp>
        <p:nvSpPr>
          <p:cNvPr id="21" name="Filete"/>
          <p:cNvSpPr/>
          <p:nvPr/>
        </p:nvSpPr>
        <p:spPr>
          <a:xfrm>
            <a:off x="4114800" y="3749040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0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de apoyo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133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12,5 PX · 400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74904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importes son una estimación.</a:t>
            </a:r>
            <a:endParaRPr lang="en-US" sz="1250" dirty="0"/>
          </a:p>
        </p:txBody>
      </p:sp>
      <p:sp>
        <p:nvSpPr>
          <p:cNvPr id="25" name="Filete"/>
          <p:cNvSpPr/>
          <p:nvPr/>
        </p:nvSpPr>
        <p:spPr>
          <a:xfrm>
            <a:off x="4114800" y="4343400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0" y="4453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Etiqueta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4727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10,5 PX · MONO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343400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BUSCADOR ÚNICO</a:t>
            </a:r>
            <a:endParaRPr lang="en-US" sz="1100" dirty="0"/>
          </a:p>
        </p:txBody>
      </p:sp>
      <p:sp>
        <p:nvSpPr>
          <p:cNvPr id="29" name="Filete"/>
          <p:cNvSpPr/>
          <p:nvPr/>
        </p:nvSpPr>
        <p:spPr>
          <a:xfrm>
            <a:off x="4114800" y="4892040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0" y="5001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Cifra destacada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0" y="5276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48 PX · 600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4892040"/>
            <a:ext cx="5056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$ 1.372.000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urno completo"/>
          <p:cNvSpPr/>
          <p:nvPr/>
        </p:nvSpPr>
        <p:spPr>
          <a:xfrm>
            <a:off x="5760720" y="548640"/>
            <a:ext cx="1078992" cy="896112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3" name="Turno completo"/>
          <p:cNvSpPr/>
          <p:nvPr/>
        </p:nvSpPr>
        <p:spPr>
          <a:xfrm>
            <a:off x="6931152" y="548640"/>
            <a:ext cx="1078992" cy="896112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4" name="Turno libre"/>
          <p:cNvSpPr/>
          <p:nvPr/>
        </p:nvSpPr>
        <p:spPr>
          <a:xfrm>
            <a:off x="8101584" y="548640"/>
            <a:ext cx="1078992" cy="896112"/>
          </a:xfrm>
          <a:prstGeom prst="rect">
            <a:avLst/>
          </a:prstGeom>
          <a:ln w="9525">
            <a:solidFill>
              <a:srgbClr val="3A6A58"/>
            </a:solidFill>
            <a:prstDash val="dash"/>
          </a:ln>
        </p:spPr>
      </p:sp>
      <p:sp>
        <p:nvSpPr>
          <p:cNvPr id="5" name="Turno libre"/>
          <p:cNvSpPr/>
          <p:nvPr/>
        </p:nvSpPr>
        <p:spPr>
          <a:xfrm>
            <a:off x="9272016" y="548640"/>
            <a:ext cx="1078992" cy="896112"/>
          </a:xfrm>
          <a:prstGeom prst="rect">
            <a:avLst/>
          </a:prstGeom>
          <a:ln w="9525">
            <a:solidFill>
              <a:srgbClr val="3A6A58"/>
            </a:solidFill>
            <a:prstDash val="dash"/>
          </a:ln>
        </p:spPr>
      </p:sp>
      <p:sp>
        <p:nvSpPr>
          <p:cNvPr id="6" name="Turno reservado"/>
          <p:cNvSpPr/>
          <p:nvPr/>
        </p:nvSpPr>
        <p:spPr>
          <a:xfrm>
            <a:off x="10442448" y="548640"/>
            <a:ext cx="1078992" cy="896112"/>
          </a:xfrm>
          <a:prstGeom prst="rect">
            <a:avLst/>
          </a:prstGeom>
          <a:solidFill>
            <a:srgbClr val="17503E"/>
          </a:solidFill>
          <a:ln w="12700">
            <a:solidFill>
              <a:srgbClr val="17503E"/>
            </a:solidFill>
            <a:prstDash val="solid"/>
          </a:ln>
        </p:spPr>
      </p:sp>
      <p:sp>
        <p:nvSpPr>
          <p:cNvPr id="7" name="Turno libre"/>
          <p:cNvSpPr/>
          <p:nvPr/>
        </p:nvSpPr>
        <p:spPr>
          <a:xfrm>
            <a:off x="5760720" y="1536192"/>
            <a:ext cx="1078992" cy="896112"/>
          </a:xfrm>
          <a:prstGeom prst="rect">
            <a:avLst/>
          </a:prstGeom>
          <a:ln w="9525">
            <a:solidFill>
              <a:srgbClr val="3A6A58"/>
            </a:solidFill>
            <a:prstDash val="dash"/>
          </a:ln>
        </p:spPr>
      </p:sp>
      <p:sp>
        <p:nvSpPr>
          <p:cNvPr id="8" name="Turno reservado"/>
          <p:cNvSpPr/>
          <p:nvPr/>
        </p:nvSpPr>
        <p:spPr>
          <a:xfrm>
            <a:off x="6931152" y="1536192"/>
            <a:ext cx="1078992" cy="896112"/>
          </a:xfrm>
          <a:prstGeom prst="rect">
            <a:avLst/>
          </a:prstGeom>
          <a:solidFill>
            <a:srgbClr val="17503E"/>
          </a:solidFill>
          <a:ln w="12700">
            <a:solidFill>
              <a:srgbClr val="17503E"/>
            </a:solidFill>
            <a:prstDash val="solid"/>
          </a:ln>
        </p:spPr>
      </p:sp>
      <p:sp>
        <p:nvSpPr>
          <p:cNvPr id="9" name="Turno libre"/>
          <p:cNvSpPr/>
          <p:nvPr/>
        </p:nvSpPr>
        <p:spPr>
          <a:xfrm>
            <a:off x="8101584" y="1536192"/>
            <a:ext cx="1078992" cy="896112"/>
          </a:xfrm>
          <a:prstGeom prst="rect">
            <a:avLst/>
          </a:prstGeom>
          <a:ln w="9525">
            <a:solidFill>
              <a:srgbClr val="3A6A58"/>
            </a:solidFill>
            <a:prstDash val="dash"/>
          </a:ln>
        </p:spPr>
      </p:sp>
      <p:sp>
        <p:nvSpPr>
          <p:cNvPr id="10" name="Turno cancelado"/>
          <p:cNvSpPr/>
          <p:nvPr/>
        </p:nvSpPr>
        <p:spPr>
          <a:xfrm>
            <a:off x="9272016" y="1536192"/>
            <a:ext cx="1078992" cy="896112"/>
          </a:xfrm>
          <a:prstGeom prst="rect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11" name="Turno libre"/>
          <p:cNvSpPr/>
          <p:nvPr/>
        </p:nvSpPr>
        <p:spPr>
          <a:xfrm>
            <a:off x="10442448" y="1536192"/>
            <a:ext cx="1078992" cy="896112"/>
          </a:xfrm>
          <a:prstGeom prst="rect">
            <a:avLst/>
          </a:prstGeom>
          <a:ln w="9525">
            <a:solidFill>
              <a:srgbClr val="3A6A58"/>
            </a:solidFill>
            <a:prstDash val="dash"/>
          </a:ln>
        </p:spPr>
      </p:sp>
      <p:sp>
        <p:nvSpPr>
          <p:cNvPr id="12" name="Turno destacado"/>
          <p:cNvSpPr/>
          <p:nvPr/>
        </p:nvSpPr>
        <p:spPr>
          <a:xfrm>
            <a:off x="5760720" y="2523744"/>
            <a:ext cx="1078992" cy="896112"/>
          </a:xfrm>
          <a:prstGeom prst="rect">
            <a:avLst/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13" name="Turno completo"/>
          <p:cNvSpPr/>
          <p:nvPr/>
        </p:nvSpPr>
        <p:spPr>
          <a:xfrm>
            <a:off x="6931152" y="2523744"/>
            <a:ext cx="1078992" cy="896112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14" name="Turno reservado"/>
          <p:cNvSpPr/>
          <p:nvPr/>
        </p:nvSpPr>
        <p:spPr>
          <a:xfrm>
            <a:off x="8101584" y="2523744"/>
            <a:ext cx="1078992" cy="896112"/>
          </a:xfrm>
          <a:prstGeom prst="rect">
            <a:avLst/>
          </a:prstGeom>
          <a:solidFill>
            <a:srgbClr val="17503E"/>
          </a:solidFill>
          <a:ln w="12700">
            <a:solidFill>
              <a:srgbClr val="17503E"/>
            </a:solidFill>
            <a:prstDash val="solid"/>
          </a:ln>
        </p:spPr>
      </p:sp>
      <p:sp>
        <p:nvSpPr>
          <p:cNvPr id="15" name="Turno libre"/>
          <p:cNvSpPr/>
          <p:nvPr/>
        </p:nvSpPr>
        <p:spPr>
          <a:xfrm>
            <a:off x="9272016" y="2523744"/>
            <a:ext cx="1078992" cy="896112"/>
          </a:xfrm>
          <a:prstGeom prst="rect">
            <a:avLst/>
          </a:prstGeom>
          <a:ln w="9525">
            <a:solidFill>
              <a:srgbClr val="3A6A58"/>
            </a:solidFill>
            <a:prstDash val="dash"/>
          </a:ln>
        </p:spPr>
      </p:sp>
      <p:sp>
        <p:nvSpPr>
          <p:cNvPr id="16" name="Turno libre"/>
          <p:cNvSpPr/>
          <p:nvPr/>
        </p:nvSpPr>
        <p:spPr>
          <a:xfrm>
            <a:off x="10442448" y="2523744"/>
            <a:ext cx="1078992" cy="896112"/>
          </a:xfrm>
          <a:prstGeom prst="rect">
            <a:avLst/>
          </a:prstGeom>
          <a:ln w="9525">
            <a:solidFill>
              <a:srgbClr val="3A6A58"/>
            </a:solidFill>
            <a:prstDash val="dash"/>
          </a:ln>
        </p:spPr>
      </p:sp>
      <p:sp>
        <p:nvSpPr>
          <p:cNvPr id="17" name="Turno reservado"/>
          <p:cNvSpPr/>
          <p:nvPr/>
        </p:nvSpPr>
        <p:spPr>
          <a:xfrm>
            <a:off x="5760720" y="3511296"/>
            <a:ext cx="1078992" cy="896112"/>
          </a:xfrm>
          <a:prstGeom prst="rect">
            <a:avLst/>
          </a:prstGeom>
          <a:solidFill>
            <a:srgbClr val="17503E"/>
          </a:solidFill>
          <a:ln w="12700">
            <a:solidFill>
              <a:srgbClr val="17503E"/>
            </a:solidFill>
            <a:prstDash val="solid"/>
          </a:ln>
        </p:spPr>
      </p:sp>
      <p:sp>
        <p:nvSpPr>
          <p:cNvPr id="18" name="Turno reservado"/>
          <p:cNvSpPr/>
          <p:nvPr/>
        </p:nvSpPr>
        <p:spPr>
          <a:xfrm>
            <a:off x="6931152" y="3511296"/>
            <a:ext cx="1078992" cy="896112"/>
          </a:xfrm>
          <a:prstGeom prst="rect">
            <a:avLst/>
          </a:prstGeom>
          <a:solidFill>
            <a:srgbClr val="17503E"/>
          </a:solidFill>
          <a:ln w="12700">
            <a:solidFill>
              <a:srgbClr val="17503E"/>
            </a:solidFill>
            <a:prstDash val="solid"/>
          </a:ln>
        </p:spPr>
      </p:sp>
      <p:sp>
        <p:nvSpPr>
          <p:cNvPr id="19" name="Turno reservado"/>
          <p:cNvSpPr/>
          <p:nvPr/>
        </p:nvSpPr>
        <p:spPr>
          <a:xfrm>
            <a:off x="8101584" y="3511296"/>
            <a:ext cx="1078992" cy="896112"/>
          </a:xfrm>
          <a:prstGeom prst="rect">
            <a:avLst/>
          </a:prstGeom>
          <a:solidFill>
            <a:srgbClr val="17503E"/>
          </a:solidFill>
          <a:ln w="12700">
            <a:solidFill>
              <a:srgbClr val="17503E"/>
            </a:solidFill>
            <a:prstDash val="solid"/>
          </a:ln>
        </p:spPr>
      </p:sp>
      <p:sp>
        <p:nvSpPr>
          <p:cNvPr id="20" name="Turno reservado"/>
          <p:cNvSpPr/>
          <p:nvPr/>
        </p:nvSpPr>
        <p:spPr>
          <a:xfrm>
            <a:off x="9272016" y="3511296"/>
            <a:ext cx="1078992" cy="896112"/>
          </a:xfrm>
          <a:prstGeom prst="rect">
            <a:avLst/>
          </a:prstGeom>
          <a:solidFill>
            <a:srgbClr val="17503E"/>
          </a:solidFill>
          <a:ln w="12700">
            <a:solidFill>
              <a:srgbClr val="17503E"/>
            </a:solidFill>
            <a:prstDash val="solid"/>
          </a:ln>
        </p:spPr>
      </p:sp>
      <p:sp>
        <p:nvSpPr>
          <p:cNvPr id="21" name="Turno reservado"/>
          <p:cNvSpPr/>
          <p:nvPr/>
        </p:nvSpPr>
        <p:spPr>
          <a:xfrm>
            <a:off x="10442448" y="3511296"/>
            <a:ext cx="1078992" cy="896112"/>
          </a:xfrm>
          <a:prstGeom prst="rect">
            <a:avLst/>
          </a:prstGeom>
          <a:solidFill>
            <a:srgbClr val="17503E"/>
          </a:solidFill>
          <a:ln w="12700">
            <a:solidFill>
              <a:srgbClr val="17503E"/>
            </a:solidFill>
            <a:prstDash val="solid"/>
          </a:ln>
        </p:spPr>
      </p:sp>
      <p:sp>
        <p:nvSpPr>
          <p:cNvPr id="22" name="Turno reservado"/>
          <p:cNvSpPr/>
          <p:nvPr/>
        </p:nvSpPr>
        <p:spPr>
          <a:xfrm>
            <a:off x="5760720" y="4498848"/>
            <a:ext cx="1078992" cy="896112"/>
          </a:xfrm>
          <a:prstGeom prst="rect">
            <a:avLst/>
          </a:prstGeom>
          <a:solidFill>
            <a:srgbClr val="17503E"/>
          </a:solidFill>
          <a:ln w="12700">
            <a:solidFill>
              <a:srgbClr val="17503E"/>
            </a:solidFill>
            <a:prstDash val="solid"/>
          </a:ln>
        </p:spPr>
      </p:sp>
      <p:sp>
        <p:nvSpPr>
          <p:cNvPr id="23" name="Turno completo"/>
          <p:cNvSpPr/>
          <p:nvPr/>
        </p:nvSpPr>
        <p:spPr>
          <a:xfrm>
            <a:off x="6931152" y="4498848"/>
            <a:ext cx="1078992" cy="896112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4" name="Turno destacado"/>
          <p:cNvSpPr/>
          <p:nvPr/>
        </p:nvSpPr>
        <p:spPr>
          <a:xfrm>
            <a:off x="8101584" y="4498848"/>
            <a:ext cx="1078992" cy="896112"/>
          </a:xfrm>
          <a:prstGeom prst="rect">
            <a:avLst/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25" name="Turno libre"/>
          <p:cNvSpPr/>
          <p:nvPr/>
        </p:nvSpPr>
        <p:spPr>
          <a:xfrm>
            <a:off x="9272016" y="4498848"/>
            <a:ext cx="1078992" cy="896112"/>
          </a:xfrm>
          <a:prstGeom prst="rect">
            <a:avLst/>
          </a:prstGeom>
          <a:ln w="9525">
            <a:solidFill>
              <a:srgbClr val="3A6A58"/>
            </a:solidFill>
            <a:prstDash val="dash"/>
          </a:ln>
        </p:spPr>
      </p:sp>
      <p:sp>
        <p:nvSpPr>
          <p:cNvPr id="26" name="Turno completo"/>
          <p:cNvSpPr/>
          <p:nvPr/>
        </p:nvSpPr>
        <p:spPr>
          <a:xfrm>
            <a:off x="10442448" y="4498848"/>
            <a:ext cx="1078992" cy="896112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7" name="Turno libre"/>
          <p:cNvSpPr/>
          <p:nvPr/>
        </p:nvSpPr>
        <p:spPr>
          <a:xfrm>
            <a:off x="5760720" y="5486400"/>
            <a:ext cx="1078992" cy="896112"/>
          </a:xfrm>
          <a:prstGeom prst="rect">
            <a:avLst/>
          </a:prstGeom>
          <a:ln w="9525">
            <a:solidFill>
              <a:srgbClr val="3A6A58"/>
            </a:solidFill>
            <a:prstDash val="dash"/>
          </a:ln>
        </p:spPr>
      </p:sp>
      <p:sp>
        <p:nvSpPr>
          <p:cNvPr id="28" name="Turno reservado"/>
          <p:cNvSpPr/>
          <p:nvPr/>
        </p:nvSpPr>
        <p:spPr>
          <a:xfrm>
            <a:off x="6931152" y="5486400"/>
            <a:ext cx="1078992" cy="896112"/>
          </a:xfrm>
          <a:prstGeom prst="rect">
            <a:avLst/>
          </a:prstGeom>
          <a:solidFill>
            <a:srgbClr val="17503E"/>
          </a:solidFill>
          <a:ln w="12700">
            <a:solidFill>
              <a:srgbClr val="17503E"/>
            </a:solidFill>
            <a:prstDash val="solid"/>
          </a:ln>
        </p:spPr>
      </p:sp>
      <p:sp>
        <p:nvSpPr>
          <p:cNvPr id="29" name="Turno libre"/>
          <p:cNvSpPr/>
          <p:nvPr/>
        </p:nvSpPr>
        <p:spPr>
          <a:xfrm>
            <a:off x="8101584" y="5486400"/>
            <a:ext cx="1078992" cy="896112"/>
          </a:xfrm>
          <a:prstGeom prst="rect">
            <a:avLst/>
          </a:prstGeom>
          <a:ln w="9525">
            <a:solidFill>
              <a:srgbClr val="3A6A58"/>
            </a:solidFill>
            <a:prstDash val="dash"/>
          </a:ln>
        </p:spPr>
      </p:sp>
      <p:sp>
        <p:nvSpPr>
          <p:cNvPr id="30" name="Turno completo"/>
          <p:cNvSpPr/>
          <p:nvPr/>
        </p:nvSpPr>
        <p:spPr>
          <a:xfrm>
            <a:off x="9272016" y="5486400"/>
            <a:ext cx="1078992" cy="896112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31" name="Turno libre"/>
          <p:cNvSpPr/>
          <p:nvPr/>
        </p:nvSpPr>
        <p:spPr>
          <a:xfrm>
            <a:off x="10442448" y="5486400"/>
            <a:ext cx="1078992" cy="896112"/>
          </a:xfrm>
          <a:prstGeom prst="rect">
            <a:avLst/>
          </a:prstGeom>
          <a:ln w="9525">
            <a:solidFill>
              <a:srgbClr val="3A6A5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4008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 /  05</a:t>
            </a:r>
            <a:endParaRPr lang="en-US" sz="1200" dirty="0"/>
          </a:p>
        </p:txBody>
      </p:sp>
      <p:sp>
        <p:nvSpPr>
          <p:cNvPr id="33" name="Text 0"/>
          <p:cNvSpPr/>
          <p:nvPr>
            <p:ph idx="100" type="title" hasCustomPrompt="1"/>
          </p:nvPr>
        </p:nvSpPr>
        <p:spPr>
          <a:xfrm>
            <a:off x="594360" y="34290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spc="-5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</a:t>
            </a:r>
            <a:endParaRPr lang="en-US" sz="130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669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Forma, espacio, voz y cómo se ve la marca cuando trabaja en el producto.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SISTEMA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Forma, espacio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movimiento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ESQUINAS</a:t>
            </a:r>
            <a:endParaRPr lang="en-US" sz="1000" dirty="0"/>
          </a:p>
        </p:txBody>
      </p:sp>
      <p:sp>
        <p:nvSpPr>
          <p:cNvPr id="5" name="Radio 8"/>
          <p:cNvSpPr/>
          <p:nvPr/>
        </p:nvSpPr>
        <p:spPr>
          <a:xfrm>
            <a:off x="640080" y="2148840"/>
            <a:ext cx="12344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PX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Controles</a:t>
            </a:r>
            <a:endParaRPr lang="en-US" sz="1200" dirty="0"/>
          </a:p>
        </p:txBody>
      </p:sp>
      <p:sp>
        <p:nvSpPr>
          <p:cNvPr id="8" name="Radio 12"/>
          <p:cNvSpPr/>
          <p:nvPr/>
        </p:nvSpPr>
        <p:spPr>
          <a:xfrm>
            <a:off x="2057400" y="2148840"/>
            <a:ext cx="123444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1488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PX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Cards, turnos, modal</a:t>
            </a:r>
            <a:endParaRPr lang="en-US" sz="1200" dirty="0"/>
          </a:p>
        </p:txBody>
      </p:sp>
      <p:sp>
        <p:nvSpPr>
          <p:cNvPr id="11" name="Radio 20"/>
          <p:cNvSpPr/>
          <p:nvPr/>
        </p:nvSpPr>
        <p:spPr>
          <a:xfrm>
            <a:off x="3474720" y="2148840"/>
            <a:ext cx="123444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21488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PX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Panel de encabezado</a:t>
            </a:r>
            <a:endParaRPr lang="en-US" sz="1200" dirty="0"/>
          </a:p>
        </p:txBody>
      </p:sp>
      <p:sp>
        <p:nvSpPr>
          <p:cNvPr id="14" name="Radio ∞"/>
          <p:cNvSpPr/>
          <p:nvPr/>
        </p:nvSpPr>
        <p:spPr>
          <a:xfrm>
            <a:off x="4892040" y="2148840"/>
            <a:ext cx="1234440" cy="914400"/>
          </a:xfrm>
          <a:prstGeom prst="roundRect">
            <a:avLst>
              <a:gd name="adj" fmla="val 34000"/>
            </a:avLst>
          </a:prstGeom>
          <a:solidFill>
            <a:srgbClr val="FFFFFF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21488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PÍLDORA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Chips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ESPACIADO · MÚLTIPLOS DE 4 PX</a:t>
            </a:r>
            <a:endParaRPr lang="en-US" sz="1000" dirty="0"/>
          </a:p>
        </p:txBody>
      </p:sp>
      <p:sp>
        <p:nvSpPr>
          <p:cNvPr id="18" name="Espacio 4"/>
          <p:cNvSpPr/>
          <p:nvPr/>
        </p:nvSpPr>
        <p:spPr>
          <a:xfrm>
            <a:off x="6492240" y="2975458"/>
            <a:ext cx="91440" cy="87782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3154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Espacio 8"/>
          <p:cNvSpPr/>
          <p:nvPr/>
        </p:nvSpPr>
        <p:spPr>
          <a:xfrm>
            <a:off x="6858000" y="2887675"/>
            <a:ext cx="175565" cy="175565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3154680"/>
            <a:ext cx="54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900" dirty="0"/>
          </a:p>
        </p:txBody>
      </p:sp>
      <p:sp>
        <p:nvSpPr>
          <p:cNvPr id="22" name="Espacio 12"/>
          <p:cNvSpPr/>
          <p:nvPr/>
        </p:nvSpPr>
        <p:spPr>
          <a:xfrm>
            <a:off x="7307885" y="2799893"/>
            <a:ext cx="263347" cy="263347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25005" y="3154680"/>
            <a:ext cx="629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900" dirty="0"/>
          </a:p>
        </p:txBody>
      </p:sp>
      <p:sp>
        <p:nvSpPr>
          <p:cNvPr id="24" name="Espacio 16"/>
          <p:cNvSpPr/>
          <p:nvPr/>
        </p:nvSpPr>
        <p:spPr>
          <a:xfrm>
            <a:off x="7845552" y="2712110"/>
            <a:ext cx="351130" cy="35113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62672" y="3154680"/>
            <a:ext cx="716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900" dirty="0"/>
          </a:p>
        </p:txBody>
      </p:sp>
      <p:sp>
        <p:nvSpPr>
          <p:cNvPr id="26" name="Espacio 24"/>
          <p:cNvSpPr/>
          <p:nvPr/>
        </p:nvSpPr>
        <p:spPr>
          <a:xfrm>
            <a:off x="8471002" y="2536546"/>
            <a:ext cx="526694" cy="526694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88122" y="3154680"/>
            <a:ext cx="892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</a:t>
            </a:r>
            <a:endParaRPr lang="en-US" sz="900" dirty="0"/>
          </a:p>
        </p:txBody>
      </p:sp>
      <p:sp>
        <p:nvSpPr>
          <p:cNvPr id="28" name="Espacio 32"/>
          <p:cNvSpPr/>
          <p:nvPr/>
        </p:nvSpPr>
        <p:spPr>
          <a:xfrm>
            <a:off x="9272016" y="2360981"/>
            <a:ext cx="702259" cy="702259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89136" y="3154680"/>
            <a:ext cx="1068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</a:t>
            </a:r>
            <a:endParaRPr lang="en-US" sz="900" dirty="0"/>
          </a:p>
        </p:txBody>
      </p:sp>
      <p:sp>
        <p:nvSpPr>
          <p:cNvPr id="30" name="Espacio 48"/>
          <p:cNvSpPr/>
          <p:nvPr/>
        </p:nvSpPr>
        <p:spPr>
          <a:xfrm>
            <a:off x="10248595" y="2009851"/>
            <a:ext cx="1053389" cy="1053389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65715" y="3154680"/>
            <a:ext cx="1419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48</a:t>
            </a:r>
            <a:endParaRPr lang="en-US" sz="900" dirty="0"/>
          </a:p>
        </p:txBody>
      </p:sp>
      <p:sp>
        <p:nvSpPr>
          <p:cNvPr id="32" name="Filete"/>
          <p:cNvSpPr/>
          <p:nvPr/>
        </p:nvSpPr>
        <p:spPr>
          <a:xfrm>
            <a:off x="640080" y="429768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434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Sombra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1663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sola, solo en modal y listas flotantes. El resto se separa con bordes finos.</a:t>
            </a:r>
            <a:endParaRPr lang="en-US" sz="1400" dirty="0"/>
          </a:p>
        </p:txBody>
      </p:sp>
      <p:sp>
        <p:nvSpPr>
          <p:cNvPr id="36" name="Filete"/>
          <p:cNvSpPr/>
          <p:nvPr/>
        </p:nvSpPr>
        <p:spPr>
          <a:xfrm>
            <a:off x="4343400" y="429768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43400" y="4434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34340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Movimiento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4343400" y="51663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150 ms al pasar el mouse. Sin animaciones decorativas; se respeta “reducir movimiento”.</a:t>
            </a:r>
            <a:endParaRPr lang="en-US" sz="1400" dirty="0"/>
          </a:p>
        </p:txBody>
      </p:sp>
      <p:sp>
        <p:nvSpPr>
          <p:cNvPr id="40" name="Filete"/>
          <p:cNvSpPr/>
          <p:nvPr/>
        </p:nvSpPr>
        <p:spPr>
          <a:xfrm>
            <a:off x="8046720" y="429768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46720" y="4434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04672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Cambio de tema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8046720" y="51663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cambio claro/oscuro se revela como una onda circular desde el clic.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SISTEMA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Tono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voz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Directo y amigable, sin perder la cordialidad. Español de Argentina, con voseo, frases cortas y sin formalismos ni tecnicismos.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ASÍ SÍ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ASÍ NO</a:t>
            </a:r>
            <a:endParaRPr lang="en-US" sz="1000" dirty="0"/>
          </a:p>
        </p:txBody>
      </p:sp>
      <p:sp>
        <p:nvSpPr>
          <p:cNvPr id="7" name="Filete vertical"/>
          <p:cNvSpPr/>
          <p:nvPr/>
        </p:nvSpPr>
        <p:spPr>
          <a:xfrm>
            <a:off x="6080760" y="2240280"/>
            <a:ext cx="0" cy="4023360"/>
          </a:xfrm>
          <a:prstGeom prst="line">
            <a:avLst/>
          </a:prstGeom>
          <a:noFill/>
          <a:ln w="9525">
            <a:solidFill>
              <a:srgbClr val="CAD6CF"/>
            </a:solidFill>
            <a:prstDash val="solid"/>
          </a:ln>
        </p:spPr>
      </p:sp>
      <p:sp>
        <p:nvSpPr>
          <p:cNvPr id="8" name="Filete"/>
          <p:cNvSpPr/>
          <p:nvPr/>
        </p:nvSpPr>
        <p:spPr>
          <a:xfrm>
            <a:off x="640080" y="2606040"/>
            <a:ext cx="512064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9" name="Filete"/>
          <p:cNvSpPr/>
          <p:nvPr/>
        </p:nvSpPr>
        <p:spPr>
          <a:xfrm>
            <a:off x="6400800" y="2606040"/>
            <a:ext cx="5148072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7157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Tocá un turno libre para reservarlo.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7157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trike="sngStrike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Clickee sobre el slot disponible para efectuar la reserva.</a:t>
            </a:r>
            <a:endParaRPr lang="en-US" sz="2000" dirty="0"/>
          </a:p>
        </p:txBody>
      </p:sp>
      <p:sp>
        <p:nvSpPr>
          <p:cNvPr id="12" name="Filete"/>
          <p:cNvSpPr/>
          <p:nvPr/>
        </p:nvSpPr>
        <p:spPr>
          <a:xfrm>
            <a:off x="640080" y="3520440"/>
            <a:ext cx="512064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3" name="Filete"/>
          <p:cNvSpPr/>
          <p:nvPr/>
        </p:nvSpPr>
        <p:spPr>
          <a:xfrm>
            <a:off x="6400800" y="3520440"/>
            <a:ext cx="5148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6301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Falta completar el campo Teléfono: es obligatorio.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6301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trike="sngStrike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de validación: campo requerido (400).</a:t>
            </a:r>
            <a:endParaRPr lang="en-US" sz="2000" dirty="0"/>
          </a:p>
        </p:txBody>
      </p:sp>
      <p:sp>
        <p:nvSpPr>
          <p:cNvPr id="16" name="Filete"/>
          <p:cNvSpPr/>
          <p:nvPr/>
        </p:nvSpPr>
        <p:spPr>
          <a:xfrm>
            <a:off x="640080" y="4434840"/>
            <a:ext cx="512064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7" name="Filete"/>
          <p:cNvSpPr/>
          <p:nvPr/>
        </p:nvSpPr>
        <p:spPr>
          <a:xfrm>
            <a:off x="6400800" y="4434840"/>
            <a:ext cx="5148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5445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Elegí una categoría.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5445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trike="sngStrike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Seleccione una opción del dropdown.</a:t>
            </a:r>
            <a:endParaRPr lang="en-US" sz="2000" dirty="0"/>
          </a:p>
        </p:txBody>
      </p:sp>
      <p:sp>
        <p:nvSpPr>
          <p:cNvPr id="20" name="Filete"/>
          <p:cNvSpPr/>
          <p:nvPr/>
        </p:nvSpPr>
        <p:spPr>
          <a:xfrm>
            <a:off x="640080" y="5349240"/>
            <a:ext cx="512064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1" name="Filete"/>
          <p:cNvSpPr/>
          <p:nvPr/>
        </p:nvSpPr>
        <p:spPr>
          <a:xfrm>
            <a:off x="6400800" y="5349240"/>
            <a:ext cx="5148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4589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pudimos cargar los ingresos. Intentá de nuevo.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4589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trike="sngStrike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Ocurrió una excepción inesperada.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SISTEMA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Así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habla el chatbot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Directo, amigable y cordial. Primero lo que importa; el voseo y el saludo hacen el resto.</a:t>
            </a:r>
            <a:endParaRPr lang="en-US" sz="1600" dirty="0"/>
          </a:p>
        </p:txBody>
      </p:sp>
      <p:sp>
        <p:nvSpPr>
          <p:cNvPr id="5" name="Filete"/>
          <p:cNvSpPr/>
          <p:nvPr/>
        </p:nvSpPr>
        <p:spPr>
          <a:xfrm>
            <a:off x="640080" y="3063240"/>
            <a:ext cx="384048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182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56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 al dato: horarios, canchas y precio, sin vueltas.</a:t>
            </a:r>
            <a:endParaRPr lang="en-US" sz="1300" dirty="0"/>
          </a:p>
        </p:txBody>
      </p:sp>
      <p:sp>
        <p:nvSpPr>
          <p:cNvPr id="8" name="Filete"/>
          <p:cNvSpPr/>
          <p:nvPr/>
        </p:nvSpPr>
        <p:spPr>
          <a:xfrm>
            <a:off x="640080" y="3931920"/>
            <a:ext cx="384048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050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AMIGABLE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325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Saluda, tutea con voseo y no suena a formulario.</a:t>
            </a:r>
            <a:endParaRPr lang="en-US" sz="1300" dirty="0"/>
          </a:p>
        </p:txBody>
      </p:sp>
      <p:sp>
        <p:nvSpPr>
          <p:cNvPr id="11" name="Filete"/>
          <p:cNvSpPr/>
          <p:nvPr/>
        </p:nvSpPr>
        <p:spPr>
          <a:xfrm>
            <a:off x="640080" y="4800600"/>
            <a:ext cx="384048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919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CORDIAL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937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jerga ni exclamaciones de más. Nunca fría ni formal.</a:t>
            </a:r>
            <a:endParaRPr lang="en-US" sz="1300" dirty="0"/>
          </a:p>
        </p:txBody>
      </p:sp>
      <p:sp>
        <p:nvSpPr>
          <p:cNvPr id="14" name="Conversación"/>
          <p:cNvSpPr/>
          <p:nvPr/>
        </p:nvSpPr>
        <p:spPr>
          <a:xfrm>
            <a:off x="6035040" y="1645920"/>
            <a:ext cx="5513832" cy="4572000"/>
          </a:xfrm>
          <a:prstGeom prst="rect">
            <a:avLst/>
          </a:prstGeom>
          <a:solidFill>
            <a:srgbClr val="E8F2FC"/>
          </a:solidFill>
          <a:ln w="12700">
            <a:solidFill>
              <a:srgbClr val="E8F2FC"/>
            </a:solidFill>
            <a:prstDash val="solid"/>
          </a:ln>
        </p:spPr>
      </p:sp>
      <p:sp>
        <p:nvSpPr>
          <p:cNvPr id="15" name="Encabezado del chat"/>
          <p:cNvSpPr/>
          <p:nvPr/>
        </p:nvSpPr>
        <p:spPr>
          <a:xfrm>
            <a:off x="6035040" y="1645920"/>
            <a:ext cx="5513832" cy="566928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746504"/>
            <a:ext cx="365760" cy="365760"/>
          </a:xfrm>
          <a:prstGeom prst="ellipse">
            <a:avLst/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719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 club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19842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RESPONDE CON LA IDENTIDAD DEL CLUB</a:t>
            </a:r>
            <a:endParaRPr lang="en-US" sz="800" dirty="0"/>
          </a:p>
        </p:txBody>
      </p:sp>
      <p:sp>
        <p:nvSpPr>
          <p:cNvPr id="20" name="Mensaje"/>
          <p:cNvSpPr/>
          <p:nvPr/>
        </p:nvSpPr>
        <p:spPr>
          <a:xfrm>
            <a:off x="7479792" y="2423160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16952" y="24963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Hola, quiero una cancha para mañana a la noche</a:t>
            </a:r>
            <a:endParaRPr lang="en-US" sz="1200" dirty="0"/>
          </a:p>
        </p:txBody>
      </p:sp>
      <p:sp>
        <p:nvSpPr>
          <p:cNvPr id="22" name="Mensaje"/>
          <p:cNvSpPr/>
          <p:nvPr/>
        </p:nvSpPr>
        <p:spPr>
          <a:xfrm>
            <a:off x="6263640" y="324612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FDD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319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¡Hola! Para mañana a la noche tengo libre:</a:t>
            </a:r>
            <a:endParaRPr lang="en-US" sz="1200" dirty="0"/>
          </a:p>
        </p:txBody>
      </p:sp>
      <p:sp>
        <p:nvSpPr>
          <p:cNvPr id="24" name="Horario"/>
          <p:cNvSpPr/>
          <p:nvPr/>
        </p:nvSpPr>
        <p:spPr>
          <a:xfrm>
            <a:off x="6400800" y="3867912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38679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20:00 · Cancha 1</a:t>
            </a:r>
            <a:endParaRPr lang="en-US" sz="1100" dirty="0"/>
          </a:p>
        </p:txBody>
      </p:sp>
      <p:sp>
        <p:nvSpPr>
          <p:cNvPr id="26" name="Horario"/>
          <p:cNvSpPr/>
          <p:nvPr/>
        </p:nvSpPr>
        <p:spPr>
          <a:xfrm>
            <a:off x="8275320" y="3867912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75320" y="38679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21:30 · Cancha 2</a:t>
            </a:r>
            <a:endParaRPr lang="en-US" sz="1100" dirty="0"/>
          </a:p>
        </p:txBody>
      </p:sp>
      <p:sp>
        <p:nvSpPr>
          <p:cNvPr id="28" name="Mensaje"/>
          <p:cNvSpPr/>
          <p:nvPr/>
        </p:nvSpPr>
        <p:spPr>
          <a:xfrm>
            <a:off x="9217152" y="4599432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54312" y="46725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de las 21:30</a:t>
            </a:r>
            <a:endParaRPr lang="en-US" sz="1200" dirty="0"/>
          </a:p>
        </p:txBody>
      </p:sp>
      <p:sp>
        <p:nvSpPr>
          <p:cNvPr id="30" name="Mensaje"/>
          <p:cNvSpPr/>
          <p:nvPr/>
        </p:nvSpPr>
        <p:spPr>
          <a:xfrm>
            <a:off x="6263640" y="5422392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FDDF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54955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Listo, te anoté en Cancha 2 a las 21:30. ¿Cuántos van a jugar?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6291072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EJEMPLO DE TONO. EL FLUJO DEL CHATBOT TODAVÍA NO ESTÁ DEFINIDO.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SISTEMA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protagonista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 el club</a:t>
            </a:r>
            <a:endParaRPr lang="en-US" sz="3600" dirty="0"/>
          </a:p>
        </p:txBody>
      </p:sp>
      <p:sp>
        <p:nvSpPr>
          <p:cNvPr id="4" name="Capa 1"/>
          <p:cNvSpPr/>
          <p:nvPr/>
        </p:nvSpPr>
        <p:spPr>
          <a:xfrm>
            <a:off x="640080" y="1691640"/>
            <a:ext cx="10908792" cy="1463040"/>
          </a:xfrm>
          <a:prstGeom prst="rect">
            <a:avLst/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928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 QUE VE EL JUGADOR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48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Habla con la identidad del club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9202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chatbot responde como el club, sin marca ni publicidad de Pali. Parte de una base común que cada club puede personalizar.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620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DEFINIDO  ·  PERSONALIZACIÓN A CONFIRMAR</a:t>
            </a:r>
            <a:endParaRPr lang="en-US" sz="900" dirty="0"/>
          </a:p>
        </p:txBody>
      </p:sp>
      <p:sp>
        <p:nvSpPr>
          <p:cNvPr id="9" name="Capa 2"/>
          <p:cNvSpPr/>
          <p:nvPr/>
        </p:nvSpPr>
        <p:spPr>
          <a:xfrm>
            <a:off x="640080" y="3246120"/>
            <a:ext cx="10908792" cy="1463040"/>
          </a:xfrm>
          <a:prstGeom prst="rect">
            <a:avLst/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4472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3D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 QUE VE EL ADMINISTRADOR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7033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club gana presencia en el backoffice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4747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 nombre y su logo tendrían más lugar, con un diseño tipo marca blanca. Todavía no está resuelto cómo.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4165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F3D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DEFINIR</a:t>
            </a:r>
            <a:endParaRPr lang="en-US" sz="900" dirty="0"/>
          </a:p>
        </p:txBody>
      </p:sp>
      <p:sp>
        <p:nvSpPr>
          <p:cNvPr id="14" name="Capa 3"/>
          <p:cNvSpPr/>
          <p:nvPr/>
        </p:nvSpPr>
        <p:spPr>
          <a:xfrm>
            <a:off x="640080" y="4800600"/>
            <a:ext cx="10908792" cy="146304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5001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DETRÁS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52578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 trabaja en silencio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50292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 el producto para el administrador. Su misión: que el club compita bien con el resto. El jugador nunca lo ve.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97103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DEFINIDO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SISTEMA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marca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el producto</a:t>
            </a:r>
            <a:endParaRPr lang="en-US" sz="3600" dirty="0"/>
          </a:p>
        </p:txBody>
      </p:sp>
      <p:sp>
        <p:nvSpPr>
          <p:cNvPr id="4" name="Marco de pantalla"/>
          <p:cNvSpPr/>
          <p:nvPr/>
        </p:nvSpPr>
        <p:spPr>
          <a:xfrm>
            <a:off x="640080" y="1783080"/>
            <a:ext cx="768096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5" name="Barra lateral"/>
          <p:cNvSpPr/>
          <p:nvPr/>
        </p:nvSpPr>
        <p:spPr>
          <a:xfrm>
            <a:off x="640080" y="1783080"/>
            <a:ext cx="2011680" cy="4343400"/>
          </a:xfrm>
          <a:prstGeom prst="roundRect">
            <a:avLst>
              <a:gd name="adj" fmla="val 2727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6" name="Barra lateral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57400"/>
            <a:ext cx="310896" cy="310896"/>
          </a:xfrm>
          <a:prstGeom prst="rect">
            <a:avLst/>
          </a:prstGeom>
        </p:spPr>
      </p:pic>
      <p:sp>
        <p:nvSpPr>
          <p:cNvPr id="7" name="Barra lateral · nombre"/>
          <p:cNvSpPr txBox="1"/>
          <p:nvPr/>
        </p:nvSpPr>
        <p:spPr>
          <a:xfrm>
            <a:off x="1262969" y="2026310"/>
            <a:ext cx="93268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2491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298448" y="27249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Resumen</a:t>
            </a:r>
            <a:endParaRPr lang="en-US" sz="1100" dirty="0"/>
          </a:p>
        </p:txBody>
      </p:sp>
      <p:sp>
        <p:nvSpPr>
          <p:cNvPr id="10" name="Ítem activo"/>
          <p:cNvSpPr/>
          <p:nvPr/>
        </p:nvSpPr>
        <p:spPr>
          <a:xfrm>
            <a:off x="777240" y="3154680"/>
            <a:ext cx="1737360" cy="384048"/>
          </a:xfrm>
          <a:prstGeom prst="roundRect">
            <a:avLst>
              <a:gd name="adj" fmla="val 16667"/>
            </a:avLst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318211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298448" y="31821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Turnos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63931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36393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Jugadores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09651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298448" y="40965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Configuración</a:t>
            </a:r>
            <a:endParaRPr lang="en-US" sz="1100" dirty="0"/>
          </a:p>
        </p:txBody>
      </p:sp>
      <p:sp>
        <p:nvSpPr>
          <p:cNvPr id="17" name="Encabezado de página"/>
          <p:cNvSpPr/>
          <p:nvPr/>
        </p:nvSpPr>
        <p:spPr>
          <a:xfrm>
            <a:off x="2880360" y="2057400"/>
            <a:ext cx="5212080" cy="1051560"/>
          </a:xfrm>
          <a:prstGeom prst="roundRect">
            <a:avLst>
              <a:gd name="adj" fmla="val 12174"/>
            </a:avLst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5468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BACKOFFICE · TURNOS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2468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Reservá un turno en </a:t>
            </a:r>
            <a:pPr indent="0" marL="0">
              <a:buNone/>
            </a:pPr>
            <a:r>
              <a:rPr lang="en-US" sz="24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clics</a:t>
            </a:r>
            <a:endParaRPr lang="en-US" sz="2400" dirty="0"/>
          </a:p>
        </p:txBody>
      </p:sp>
      <p:sp>
        <p:nvSpPr>
          <p:cNvPr id="20" name="Turno Libre"/>
          <p:cNvSpPr/>
          <p:nvPr/>
        </p:nvSpPr>
        <p:spPr>
          <a:xfrm>
            <a:off x="2880360" y="338328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CAD6CF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301752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LIBRE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301752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Tocá para reservar</a:t>
            </a:r>
            <a:endParaRPr lang="en-US" sz="1200" dirty="0"/>
          </a:p>
        </p:txBody>
      </p:sp>
      <p:sp>
        <p:nvSpPr>
          <p:cNvPr id="23" name="Turno Reservado"/>
          <p:cNvSpPr/>
          <p:nvPr/>
        </p:nvSpPr>
        <p:spPr>
          <a:xfrm>
            <a:off x="4663440" y="338328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E8F4EE"/>
          </a:solidFill>
          <a:ln w="15875">
            <a:solidFill>
              <a:srgbClr val="BCDCCB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480060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RESERVADO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480060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personas</a:t>
            </a:r>
            <a:endParaRPr lang="en-US" sz="1200" dirty="0"/>
          </a:p>
        </p:txBody>
      </p:sp>
      <p:sp>
        <p:nvSpPr>
          <p:cNvPr id="26" name="Turno Completo"/>
          <p:cNvSpPr/>
          <p:nvPr/>
        </p:nvSpPr>
        <p:spPr>
          <a:xfrm>
            <a:off x="6446520" y="338328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COMPLETO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58368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personas</a:t>
            </a:r>
            <a:endParaRPr lang="en-US" sz="1200" dirty="0"/>
          </a:p>
        </p:txBody>
      </p:sp>
      <p:sp>
        <p:nvSpPr>
          <p:cNvPr id="29" name="Chip categoría"/>
          <p:cNvSpPr/>
          <p:nvPr/>
        </p:nvSpPr>
        <p:spPr>
          <a:xfrm>
            <a:off x="6583680" y="539496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F1EEFB"/>
          </a:solidFill>
          <a:ln w="9525">
            <a:solidFill>
              <a:srgbClr val="E4DF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83680" y="53949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8ª</a:t>
            </a:r>
            <a:endParaRPr lang="en-US" sz="1000" dirty="0"/>
          </a:p>
        </p:txBody>
      </p:sp>
      <p:sp>
        <p:nvSpPr>
          <p:cNvPr id="31" name="Chip cancha"/>
          <p:cNvSpPr/>
          <p:nvPr/>
        </p:nvSpPr>
        <p:spPr>
          <a:xfrm>
            <a:off x="2880360" y="53949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 w="9525">
            <a:solidFill>
              <a:srgbClr val="BFDD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880360" y="53949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Cancha 1 · 4 veces</a:t>
            </a:r>
            <a:endParaRPr lang="en-US" sz="1000" dirty="0"/>
          </a:p>
        </p:txBody>
      </p:sp>
      <p:sp>
        <p:nvSpPr>
          <p:cNvPr id="33" name="Botón Reservar"/>
          <p:cNvSpPr/>
          <p:nvPr/>
        </p:nvSpPr>
        <p:spPr>
          <a:xfrm>
            <a:off x="2880360" y="470916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880360" y="4709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Reservar</a:t>
            </a:r>
            <a:endParaRPr lang="en-US" sz="1100" dirty="0"/>
          </a:p>
        </p:txBody>
      </p:sp>
      <p:sp>
        <p:nvSpPr>
          <p:cNvPr id="35" name="Botón Aceptar"/>
          <p:cNvSpPr/>
          <p:nvPr/>
        </p:nvSpPr>
        <p:spPr>
          <a:xfrm>
            <a:off x="4206240" y="470916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206240" y="4709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Aceptar</a:t>
            </a:r>
            <a:endParaRPr lang="en-US" sz="1100" dirty="0"/>
          </a:p>
        </p:txBody>
      </p:sp>
      <p:sp>
        <p:nvSpPr>
          <p:cNvPr id="37" name="Botón Cancelar"/>
          <p:cNvSpPr/>
          <p:nvPr/>
        </p:nvSpPr>
        <p:spPr>
          <a:xfrm>
            <a:off x="5532120" y="470916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532120" y="4709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Cancelar</a:t>
            </a:r>
            <a:endParaRPr lang="en-US" sz="1100" dirty="0"/>
          </a:p>
        </p:txBody>
      </p:sp>
      <p:sp>
        <p:nvSpPr>
          <p:cNvPr id="39" name="Botón Cancelar turno"/>
          <p:cNvSpPr/>
          <p:nvPr/>
        </p:nvSpPr>
        <p:spPr>
          <a:xfrm>
            <a:off x="6858000" y="470916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DEEEA"/>
          </a:solidFill>
          <a:ln w="9525">
            <a:solidFill>
              <a:srgbClr val="F4B9A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858000" y="4709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Cancelar turno</a:t>
            </a:r>
            <a:endParaRPr lang="en-US" sz="1100" dirty="0"/>
          </a:p>
        </p:txBody>
      </p:sp>
      <p:sp>
        <p:nvSpPr>
          <p:cNvPr id="41" name="Filete"/>
          <p:cNvSpPr/>
          <p:nvPr/>
        </p:nvSpPr>
        <p:spPr>
          <a:xfrm>
            <a:off x="8778240" y="1783080"/>
            <a:ext cx="2770632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778240" y="18928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932688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oscuro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932688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la barra lateral verde bosque.</a:t>
            </a:r>
            <a:endParaRPr lang="en-US" sz="1200" dirty="0"/>
          </a:p>
        </p:txBody>
      </p:sp>
      <p:sp>
        <p:nvSpPr>
          <p:cNvPr id="45" name="Filete"/>
          <p:cNvSpPr/>
          <p:nvPr/>
        </p:nvSpPr>
        <p:spPr>
          <a:xfrm>
            <a:off x="8778240" y="2679192"/>
            <a:ext cx="277063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778240" y="2788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9326880" y="2770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de marca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9326880" y="30906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en la acción principal. Un botón primario por vista.</a:t>
            </a:r>
            <a:endParaRPr lang="en-US" sz="1200" dirty="0"/>
          </a:p>
        </p:txBody>
      </p:sp>
      <p:sp>
        <p:nvSpPr>
          <p:cNvPr id="49" name="Filete"/>
          <p:cNvSpPr/>
          <p:nvPr/>
        </p:nvSpPr>
        <p:spPr>
          <a:xfrm>
            <a:off x="8778240" y="3575304"/>
            <a:ext cx="277063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78240" y="3685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9326880" y="3666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Azul y lavanda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9326880" y="398678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en azul; categoría y promos en lavanda.</a:t>
            </a:r>
            <a:endParaRPr lang="en-US" sz="1200" dirty="0"/>
          </a:p>
        </p:txBody>
      </p:sp>
      <p:sp>
        <p:nvSpPr>
          <p:cNvPr id="53" name="Filete"/>
          <p:cNvSpPr/>
          <p:nvPr/>
        </p:nvSpPr>
        <p:spPr>
          <a:xfrm>
            <a:off x="8778240" y="4471416"/>
            <a:ext cx="277063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778240" y="45811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9326880" y="4562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Coral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9326880" y="488289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Aparece únicamente al cancelar.</a:t>
            </a:r>
            <a:endParaRPr lang="en-US" sz="1200" dirty="0"/>
          </a:p>
        </p:txBody>
      </p:sp>
      <p:sp>
        <p:nvSpPr>
          <p:cNvPr id="57" name="Filete"/>
          <p:cNvSpPr/>
          <p:nvPr/>
        </p:nvSpPr>
        <p:spPr>
          <a:xfrm>
            <a:off x="8778240" y="5367528"/>
            <a:ext cx="277063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778240" y="54772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9326880" y="5458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Estados</a:t>
            </a:r>
            <a:endParaRPr lang="en-US" sz="1400" dirty="0"/>
          </a:p>
        </p:txBody>
      </p:sp>
      <p:sp>
        <p:nvSpPr>
          <p:cNvPr id="60" name="Text 57"/>
          <p:cNvSpPr txBox="1"/>
          <p:nvPr/>
        </p:nvSpPr>
        <p:spPr>
          <a:xfrm>
            <a:off x="9326880" y="57790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Nombre escrito más relleno o borde distinto.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cha · borde"/>
          <p:cNvSpPr/>
          <p:nvPr/>
        </p:nvSpPr>
        <p:spPr>
          <a:xfrm>
            <a:off x="-2926080" y="-548640"/>
            <a:ext cx="17556480" cy="8778240"/>
          </a:xfrm>
          <a:prstGeom prst="rect">
            <a:avLst/>
          </a:prstGeom>
          <a:ln w="15875">
            <a:solidFill>
              <a:srgbClr val="1E4D3B"/>
            </a:solidFill>
            <a:prstDash val="solid"/>
          </a:ln>
        </p:spPr>
      </p:sp>
      <p:sp>
        <p:nvSpPr>
          <p:cNvPr id="3" name="Red"/>
          <p:cNvSpPr/>
          <p:nvPr/>
        </p:nvSpPr>
        <p:spPr>
          <a:xfrm>
            <a:off x="5852160" y="-548640"/>
            <a:ext cx="0" cy="8778240"/>
          </a:xfrm>
          <a:prstGeom prst="line">
            <a:avLst/>
          </a:prstGeom>
          <a:noFill/>
          <a:ln w="28575">
            <a:solidFill>
              <a:srgbClr val="1E4D3B"/>
            </a:solidFill>
            <a:prstDash val="solid"/>
          </a:ln>
        </p:spPr>
      </p:sp>
      <p:sp>
        <p:nvSpPr>
          <p:cNvPr id="4" name="Línea de cancha"/>
          <p:cNvSpPr/>
          <p:nvPr/>
        </p:nvSpPr>
        <p:spPr>
          <a:xfrm>
            <a:off x="-248717" y="-548640"/>
            <a:ext cx="0" cy="8778240"/>
          </a:xfrm>
          <a:prstGeom prst="line">
            <a:avLst/>
          </a:prstGeom>
          <a:noFill/>
          <a:ln w="15875">
            <a:solidFill>
              <a:srgbClr val="1E4D3B"/>
            </a:solidFill>
            <a:prstDash val="solid"/>
          </a:ln>
        </p:spPr>
      </p:sp>
      <p:sp>
        <p:nvSpPr>
          <p:cNvPr id="5" name="Línea de cancha"/>
          <p:cNvSpPr/>
          <p:nvPr/>
        </p:nvSpPr>
        <p:spPr>
          <a:xfrm>
            <a:off x="11953037" y="-548640"/>
            <a:ext cx="0" cy="8778240"/>
          </a:xfrm>
          <a:prstGeom prst="line">
            <a:avLst/>
          </a:prstGeom>
          <a:noFill/>
          <a:ln w="15875">
            <a:solidFill>
              <a:srgbClr val="1E4D3B"/>
            </a:solidFill>
            <a:prstDash val="solid"/>
          </a:ln>
        </p:spPr>
      </p:sp>
      <p:sp>
        <p:nvSpPr>
          <p:cNvPr id="6" name="Línea de cancha"/>
          <p:cNvSpPr/>
          <p:nvPr/>
        </p:nvSpPr>
        <p:spPr>
          <a:xfrm>
            <a:off x="-248717" y="3840480"/>
            <a:ext cx="12201754" cy="0"/>
          </a:xfrm>
          <a:prstGeom prst="line">
            <a:avLst/>
          </a:prstGeom>
          <a:noFill/>
          <a:ln w="15875">
            <a:solidFill>
              <a:srgbClr val="1E4D3B"/>
            </a:solidFill>
            <a:prstDash val="solid"/>
          </a:ln>
        </p:spPr>
      </p:sp>
      <p:pic>
        <p:nvPicPr>
          <p:cNvPr id="7" name="Pelota" descr="Pelota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1371600" cy="15773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6517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Recursos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próximos pasos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72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 — MANUAL DE MARCA · VERSIÓN 1.1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868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DÓNDE ESTÁ TODO</a:t>
            </a:r>
            <a:endParaRPr lang="en-US" sz="1000" dirty="0"/>
          </a:p>
        </p:txBody>
      </p:sp>
      <p:sp>
        <p:nvSpPr>
          <p:cNvPr id="11" name="Filete"/>
          <p:cNvSpPr/>
          <p:nvPr/>
        </p:nvSpPr>
        <p:spPr>
          <a:xfrm>
            <a:off x="6035040" y="1188720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0" y="12984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Diseño/logo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Ícono y logo completo en SVG: claro, oscuro, negro y blanco.</a:t>
            </a:r>
            <a:endParaRPr lang="en-US" sz="1300" dirty="0"/>
          </a:p>
        </p:txBody>
      </p:sp>
      <p:sp>
        <p:nvSpPr>
          <p:cNvPr id="14" name="Filete"/>
          <p:cNvSpPr/>
          <p:nvPr/>
        </p:nvSpPr>
        <p:spPr>
          <a:xfrm>
            <a:off x="6035040" y="1965960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20756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mockup/css/tokens.css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Colores, tipografía y espaciado como variables.</a:t>
            </a:r>
            <a:endParaRPr lang="en-US" sz="1300" dirty="0"/>
          </a:p>
        </p:txBody>
      </p:sp>
      <p:sp>
        <p:nvSpPr>
          <p:cNvPr id="17" name="Filete"/>
          <p:cNvSpPr/>
          <p:nvPr/>
        </p:nvSpPr>
        <p:spPr>
          <a:xfrm>
            <a:off x="6035040" y="2743200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35040" y="2852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Diseño/DESIGN-SYSTEM.md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03504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Componentes, patrones y reglas de pantalla.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DEFINIR</a:t>
            </a:r>
            <a:endParaRPr lang="en-US" sz="1000" dirty="0"/>
          </a:p>
        </p:txBody>
      </p:sp>
      <p:sp>
        <p:nvSpPr>
          <p:cNvPr id="21" name="Filete"/>
          <p:cNvSpPr/>
          <p:nvPr/>
        </p:nvSpPr>
        <p:spPr>
          <a:xfrm>
            <a:off x="6035040" y="4160520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35040" y="4315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42428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Probar el símbolo nuevo en 16 px, en impresos y validar el espacio de respeto.</a:t>
            </a:r>
            <a:endParaRPr lang="en-US" sz="1300" dirty="0"/>
          </a:p>
        </p:txBody>
      </p:sp>
      <p:sp>
        <p:nvSpPr>
          <p:cNvPr id="24" name="Filete"/>
          <p:cNvSpPr/>
          <p:nvPr/>
        </p:nvSpPr>
        <p:spPr>
          <a:xfrm>
            <a:off x="6035040" y="4690872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35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47731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Corregir el contraste del gris y del coral; confirmar la dosis de azul y lavanda.</a:t>
            </a:r>
            <a:endParaRPr lang="en-US" sz="1300" dirty="0"/>
          </a:p>
        </p:txBody>
      </p:sp>
      <p:sp>
        <p:nvSpPr>
          <p:cNvPr id="27" name="Filete"/>
          <p:cNvSpPr/>
          <p:nvPr/>
        </p:nvSpPr>
        <p:spPr>
          <a:xfrm>
            <a:off x="6035040" y="5221224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035040" y="5376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5303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Versión impresa (CMYK) y uso en redes.</a:t>
            </a:r>
            <a:endParaRPr lang="en-US" sz="1300" dirty="0"/>
          </a:p>
        </p:txBody>
      </p:sp>
      <p:sp>
        <p:nvSpPr>
          <p:cNvPr id="30" name="Filete"/>
          <p:cNvSpPr/>
          <p:nvPr/>
        </p:nvSpPr>
        <p:spPr>
          <a:xfrm>
            <a:off x="6035040" y="5751576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035040" y="590702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83680" y="58338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Identidad del club en el backoffice y logo para otros deportes.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li">
  <a:themeElements>
    <a:clrScheme name="Pali">
      <a:dk1>
        <a:srgbClr val="0D1F18"/>
      </a:dk1>
      <a:lt1>
        <a:srgbClr val="FFFFFF"/>
      </a:lt1>
      <a:dk2>
        <a:srgbClr val="0F3D2E"/>
      </a:dk2>
      <a:lt2>
        <a:srgbClr val="F5F8F6"/>
      </a:lt2>
      <a:accent1>
        <a:srgbClr val="1F6F57"/>
      </a:accent1>
      <a:accent2>
        <a:srgbClr val="A9D6C4"/>
      </a:accent2>
      <a:accent3>
        <a:srgbClr val="DFEEE6"/>
      </a:accent3>
      <a:accent4>
        <a:srgbClr val="E5533D"/>
      </a:accent4>
      <a:accent5>
        <a:srgbClr val="43544D"/>
      </a:accent5>
      <a:accent6>
        <a:srgbClr val="6A7B74"/>
      </a:accent6>
      <a:hlink>
        <a:srgbClr val="1F6F57"/>
      </a:hlink>
      <a:folHlink>
        <a:srgbClr val="43544D"/>
      </a:folHlink>
    </a:clrScheme>
    <a:fontScheme name="Pali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Pali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marca · Pali</dc:title>
  <dc:subject>PptxGenJS Presentation</dc:subject>
  <dc:creator>Pali</dc:creator>
  <cp:lastModifiedBy>Pali</cp:lastModifiedBy>
  <cp:revision>1</cp:revision>
  <dcterms:created xsi:type="dcterms:W3CDTF">2026-10-13T03:46:40Z</dcterms:created>
  <dcterms:modified xsi:type="dcterms:W3CDTF">2026-10-13T03:46:40Z</dcterms:modified>
</cp:coreProperties>
</file>