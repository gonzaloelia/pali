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rtada" id="{0ed4f8b3-905a-2339-44ca-aadd642b674a}">
          <p14:sldIdLst>
            <p14:sldId id="256"/>
          </p14:sldIdLst>
        </p14:section>
        <p14:section name="Marca" id="{06fb2bfc-6579-88ad-29d2-6bbae1561c98}">
          <p14:sldIdLst>
            <p14:sldId id="257"/>
            <p14:sldId id="258"/>
            <p14:sldId id="259"/>
            <p14:sldId id="260"/>
            <p14:sldId id="261"/>
          </p14:sldIdLst>
        </p14:section>
        <p14:section name="Logo" id="{fcd528a5-b122-b5b9-b4b5-3329f5705747}">
          <p14:sldIdLst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Color" id="{07e59080-f5c3-1aa8-05d8-5f49cfea1110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</p14:sldIdLst>
        </p14:section>
        <p14:section name="Tipografía" id="{f7ee7df8-d2b8-287d-d60c-de306be311e6}">
          <p14:sldIdLst>
            <p14:sldId id="279"/>
            <p14:sldId id="280"/>
            <p14:sldId id="281"/>
            <p14:sldId id="282"/>
          </p14:sldIdLst>
        </p14:section>
        <p14:section name="Sistema" id="{86100a09-8a58-1c51-c2dd-aa0e12d4a310}">
          <p14:sldIdLst>
            <p14:sldId id="283"/>
            <p14:sldId id="284"/>
            <p14:sldId id="285"/>
            <p14:sldId id="286"/>
            <p14:sldId id="287"/>
            <p14:sldId id="288"/>
          </p14:sldIdLst>
        </p14:section>
        <p14:section name="Cierre" id="{15c255ee-85e7-a2cd-51c1-0a3345827500}">
          <p14:sldIdLst>
            <p14:sldId id="28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LAI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94360" y="3429000"/>
            <a:ext cx="1097280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0" b="1" spc="-500" kern="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defRPr>
            </a:lvl1pPr>
          </a:lstStyle>
          <a:p>
            <a:pPr algn="l" indent="0" marL="0">
              <a:buNone/>
            </a:pPr>
            <a:endParaRPr lang="en-US" sz="130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AI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37376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Pali — Manual de marca</a:t>
            </a:r>
            <a:endParaRPr lang="en-US" sz="9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640080" y="868680"/>
            <a:ext cx="3017520" cy="2103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437376"/>
            <a:ext cx="85039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A7B74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L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37376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Pali — Manual de marca</a:t>
            </a:r>
            <a:endParaRPr lang="en-US" sz="9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640080" y="868680"/>
            <a:ext cx="10515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437376"/>
            <a:ext cx="85039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A7B74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37376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Pali — Manual de marca</a:t>
            </a:r>
            <a:endParaRPr lang="en-US" sz="9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640080" y="868680"/>
            <a:ext cx="10515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437376"/>
            <a:ext cx="85039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9D6C4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IGHT">
    <p:bg>
      <p:bgPr>
        <a:solidFill>
          <a:srgbClr val="0B15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37376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6A09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Pali — Manual de marca</a:t>
            </a:r>
            <a:endParaRPr lang="en-US" sz="9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640080" y="868680"/>
            <a:ext cx="10515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E9F2E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437376"/>
            <a:ext cx="85039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6A093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437376"/>
            <a:ext cx="85039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A7B74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1.png"/><Relationship Id="rId3" Type="http://schemas.openxmlformats.org/officeDocument/2006/relationships/image" Target="../media/image-12-1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1.png"/><Relationship Id="rId4" Type="http://schemas.openxmlformats.org/officeDocument/2006/relationships/image" Target="../media/image-13-2.png"/><Relationship Id="rId5" Type="http://schemas.openxmlformats.org/officeDocument/2006/relationships/image" Target="../media/image-13-1.png"/><Relationship Id="rId6" Type="http://schemas.openxmlformats.org/officeDocument/2006/relationships/image" Target="../media/image-13-1.png"/><Relationship Id="rId7" Type="http://schemas.openxmlformats.org/officeDocument/2006/relationships/slideLayout" Target="../slideLayouts/slideLayout6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4.png"/><Relationship Id="rId7" Type="http://schemas.openxmlformats.org/officeDocument/2006/relationships/slideLayout" Target="../slideLayouts/slideLayout6.xml"/><Relationship Id="rId8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8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ncha · borde"/>
          <p:cNvSpPr/>
          <p:nvPr/>
        </p:nvSpPr>
        <p:spPr>
          <a:xfrm>
            <a:off x="-1280160" y="182880"/>
            <a:ext cx="15727680" cy="7863840"/>
          </a:xfrm>
          <a:prstGeom prst="rect">
            <a:avLst/>
          </a:prstGeom>
          <a:ln w="19050">
            <a:solidFill>
              <a:srgbClr val="3A6A58"/>
            </a:solidFill>
            <a:prstDash val="solid"/>
          </a:ln>
        </p:spPr>
      </p:sp>
      <p:sp>
        <p:nvSpPr>
          <p:cNvPr id="3" name="Red"/>
          <p:cNvSpPr/>
          <p:nvPr/>
        </p:nvSpPr>
        <p:spPr>
          <a:xfrm>
            <a:off x="6583680" y="182880"/>
            <a:ext cx="0" cy="7863840"/>
          </a:xfrm>
          <a:prstGeom prst="line">
            <a:avLst/>
          </a:prstGeom>
          <a:noFill/>
          <a:ln w="34290">
            <a:solidFill>
              <a:srgbClr val="3A6A58"/>
            </a:solidFill>
            <a:prstDash val="solid"/>
          </a:ln>
        </p:spPr>
      </p:sp>
      <p:sp>
        <p:nvSpPr>
          <p:cNvPr id="4" name="Línea de cancha"/>
          <p:cNvSpPr/>
          <p:nvPr/>
        </p:nvSpPr>
        <p:spPr>
          <a:xfrm>
            <a:off x="1118311" y="182880"/>
            <a:ext cx="0" cy="7863840"/>
          </a:xfrm>
          <a:prstGeom prst="line">
            <a:avLst/>
          </a:prstGeom>
          <a:noFill/>
          <a:ln w="19050">
            <a:solidFill>
              <a:srgbClr val="3A6A58"/>
            </a:solidFill>
            <a:prstDash val="solid"/>
          </a:ln>
        </p:spPr>
      </p:sp>
      <p:sp>
        <p:nvSpPr>
          <p:cNvPr id="5" name="Línea de cancha"/>
          <p:cNvSpPr/>
          <p:nvPr/>
        </p:nvSpPr>
        <p:spPr>
          <a:xfrm>
            <a:off x="12049049" y="182880"/>
            <a:ext cx="0" cy="7863840"/>
          </a:xfrm>
          <a:prstGeom prst="line">
            <a:avLst/>
          </a:prstGeom>
          <a:noFill/>
          <a:ln w="19050">
            <a:solidFill>
              <a:srgbClr val="3A6A58"/>
            </a:solidFill>
            <a:prstDash val="solid"/>
          </a:ln>
        </p:spPr>
      </p:sp>
      <p:sp>
        <p:nvSpPr>
          <p:cNvPr id="6" name="Línea de cancha"/>
          <p:cNvSpPr/>
          <p:nvPr/>
        </p:nvSpPr>
        <p:spPr>
          <a:xfrm>
            <a:off x="1118311" y="4114800"/>
            <a:ext cx="10930738" cy="0"/>
          </a:xfrm>
          <a:prstGeom prst="line">
            <a:avLst/>
          </a:prstGeom>
          <a:noFill/>
          <a:ln w="19050">
            <a:solidFill>
              <a:srgbClr val="3A6A58"/>
            </a:solidFill>
            <a:prstDash val="solid"/>
          </a:ln>
        </p:spPr>
      </p:sp>
      <p:pic>
        <p:nvPicPr>
          <p:cNvPr id="7" name="Pelota" descr="Pelota de Pali sobre un dibujo de canch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960120"/>
            <a:ext cx="2651760" cy="2651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MANUAL DE MARCA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8686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86A09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VERSIÓN 1.0  ·  OCTUBRE 2026  ·  BORRADOR PARA VALIDAR</a:t>
            </a:r>
            <a:endParaRPr lang="en-US" sz="1000" dirty="0"/>
          </a:p>
        </p:txBody>
      </p:sp>
      <p:sp>
        <p:nvSpPr>
          <p:cNvPr id="10" name="Nombre"/>
          <p:cNvSpPr txBox="1"/>
          <p:nvPr/>
        </p:nvSpPr>
        <p:spPr>
          <a:xfrm>
            <a:off x="548640" y="2606040"/>
            <a:ext cx="86868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0" b="1" spc="-1400" kern="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Pali</a:t>
            </a:r>
            <a:endParaRPr lang="en-US" sz="3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AGENDA DEL MANUAL  ·  CADA TURNO ES UN CAPÍTULO, Y SU ANCHO ES SU LARGO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spc="-200" kern="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Contenido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1945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11:00</a:t>
            </a:r>
            <a:endParaRPr lang="en-US" sz="1200" dirty="0"/>
          </a:p>
        </p:txBody>
      </p:sp>
      <p:sp>
        <p:nvSpPr>
          <p:cNvPr id="5" name="Turno Marca"/>
          <p:cNvSpPr/>
          <p:nvPr/>
        </p:nvSpPr>
        <p:spPr>
          <a:xfrm>
            <a:off x="1828800" y="1920240"/>
            <a:ext cx="4937760" cy="804672"/>
          </a:xfrm>
          <a:prstGeom prst="rect">
            <a:avLst/>
          </a:prstGeom>
          <a:solidFill>
            <a:srgbClr val="0F3D2E"/>
          </a:solidFill>
          <a:ln w="12700">
            <a:solidFill>
              <a:srgbClr val="0F3D2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57400" y="202996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697480" y="19659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Marca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2697480" y="239572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9D6C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Qué es Pali y qué principios guían el diseño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669280" y="202996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spc="1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P. 03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1089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12:30</a:t>
            </a:r>
            <a:endParaRPr lang="en-US" sz="1200" dirty="0"/>
          </a:p>
        </p:txBody>
      </p:sp>
      <p:sp>
        <p:nvSpPr>
          <p:cNvPr id="11" name="Turno Logo"/>
          <p:cNvSpPr/>
          <p:nvPr/>
        </p:nvSpPr>
        <p:spPr>
          <a:xfrm>
            <a:off x="1828800" y="2834640"/>
            <a:ext cx="8640064" cy="804672"/>
          </a:xfrm>
          <a:prstGeom prst="rect">
            <a:avLst/>
          </a:prstGeom>
          <a:solidFill>
            <a:srgbClr val="1F6F57"/>
          </a:solidFill>
          <a:ln w="12700">
            <a:solidFill>
              <a:srgbClr val="1F6F5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057400" y="294436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DFEE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2697480" y="28803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Logo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2697480" y="3310128"/>
            <a:ext cx="7085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FEEE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Versiones, construcción, espacio y usos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371584" y="294436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spc="100" kern="0" dirty="0">
                <a:solidFill>
                  <a:srgbClr val="DFEE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P. 07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40233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14:00</a:t>
            </a:r>
            <a:endParaRPr lang="en-US" sz="1200" dirty="0"/>
          </a:p>
        </p:txBody>
      </p:sp>
      <p:sp>
        <p:nvSpPr>
          <p:cNvPr id="17" name="Turno Color"/>
          <p:cNvSpPr/>
          <p:nvPr/>
        </p:nvSpPr>
        <p:spPr>
          <a:xfrm>
            <a:off x="1828800" y="3749040"/>
            <a:ext cx="9720072" cy="804672"/>
          </a:xfrm>
          <a:prstGeom prst="rect">
            <a:avLst/>
          </a:prstGeom>
          <a:solidFill>
            <a:srgbClr val="A9D6C4"/>
          </a:solidFill>
          <a:ln w="12700">
            <a:solidFill>
              <a:srgbClr val="A9D6C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057400" y="385876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4354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2697480" y="37947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Color</a:t>
            </a:r>
            <a:endParaRPr lang="en-US" sz="2800" dirty="0"/>
          </a:p>
        </p:txBody>
      </p:sp>
      <p:sp>
        <p:nvSpPr>
          <p:cNvPr id="20" name="Text 18"/>
          <p:cNvSpPr txBox="1"/>
          <p:nvPr/>
        </p:nvSpPr>
        <p:spPr>
          <a:xfrm>
            <a:off x="2697480" y="4224528"/>
            <a:ext cx="8165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Primarios, secundarios, estados y contraste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451592" y="385876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spc="100" kern="0" dirty="0">
                <a:solidFill>
                  <a:srgbClr val="4354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P. 15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49377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15:30</a:t>
            </a:r>
            <a:endParaRPr lang="en-US" sz="1200" dirty="0"/>
          </a:p>
        </p:txBody>
      </p:sp>
      <p:sp>
        <p:nvSpPr>
          <p:cNvPr id="23" name="Turno Tipografía"/>
          <p:cNvSpPr/>
          <p:nvPr/>
        </p:nvSpPr>
        <p:spPr>
          <a:xfrm>
            <a:off x="1828800" y="4663440"/>
            <a:ext cx="4937760" cy="804672"/>
          </a:xfrm>
          <a:prstGeom prst="rect">
            <a:avLst/>
          </a:prstGeom>
          <a:solidFill>
            <a:srgbClr val="6BAEE8"/>
          </a:solidFill>
          <a:ln w="12700">
            <a:solidFill>
              <a:srgbClr val="6BAEE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057400" y="477316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2697480" y="47091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Tipografía</a:t>
            </a:r>
            <a:endParaRPr lang="en-US" sz="2800" dirty="0"/>
          </a:p>
        </p:txBody>
      </p:sp>
      <p:sp>
        <p:nvSpPr>
          <p:cNvPr id="26" name="Text 24"/>
          <p:cNvSpPr txBox="1"/>
          <p:nvPr/>
        </p:nvSpPr>
        <p:spPr>
          <a:xfrm>
            <a:off x="2697480" y="513892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IBM Plex Sans, IBM Plex Mono y su jerarquía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5669280" y="477316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P. 24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58521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17:00</a:t>
            </a:r>
            <a:endParaRPr lang="en-US" sz="1200" dirty="0"/>
          </a:p>
        </p:txBody>
      </p:sp>
      <p:sp>
        <p:nvSpPr>
          <p:cNvPr id="29" name="Turno Sistema"/>
          <p:cNvSpPr/>
          <p:nvPr/>
        </p:nvSpPr>
        <p:spPr>
          <a:xfrm>
            <a:off x="1828800" y="5577840"/>
            <a:ext cx="6480048" cy="804672"/>
          </a:xfrm>
          <a:prstGeom prst="rect">
            <a:avLst/>
          </a:prstGeom>
          <a:solidFill>
            <a:srgbClr val="9C8DDD"/>
          </a:solidFill>
          <a:ln w="12700">
            <a:solidFill>
              <a:srgbClr val="9C8DDD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2057400" y="568756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2697480" y="56235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Sistema</a:t>
            </a:r>
            <a:endParaRPr lang="en-US" sz="2800" dirty="0"/>
          </a:p>
        </p:txBody>
      </p:sp>
      <p:sp>
        <p:nvSpPr>
          <p:cNvPr id="32" name="Text 30"/>
          <p:cNvSpPr txBox="1"/>
          <p:nvPr/>
        </p:nvSpPr>
        <p:spPr>
          <a:xfrm>
            <a:off x="2697480" y="6053328"/>
            <a:ext cx="492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Forma, voz, el club y la marca en el producto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7211568" y="568756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P. 28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ncha · borde"/>
          <p:cNvSpPr/>
          <p:nvPr/>
        </p:nvSpPr>
        <p:spPr>
          <a:xfrm>
            <a:off x="4480560" y="502920"/>
            <a:ext cx="11338560" cy="5669280"/>
          </a:xfrm>
          <a:prstGeom prst="rect">
            <a:avLst/>
          </a:prstGeom>
          <a:ln w="19050">
            <a:solidFill>
              <a:srgbClr val="3A6A58"/>
            </a:solidFill>
            <a:prstDash val="solid"/>
          </a:ln>
        </p:spPr>
      </p:sp>
      <p:sp>
        <p:nvSpPr>
          <p:cNvPr id="3" name="Red"/>
          <p:cNvSpPr/>
          <p:nvPr/>
        </p:nvSpPr>
        <p:spPr>
          <a:xfrm>
            <a:off x="10149840" y="502920"/>
            <a:ext cx="0" cy="5669280"/>
          </a:xfrm>
          <a:prstGeom prst="line">
            <a:avLst/>
          </a:prstGeom>
          <a:noFill/>
          <a:ln w="34290">
            <a:solidFill>
              <a:srgbClr val="3A6A58"/>
            </a:solidFill>
            <a:prstDash val="solid"/>
          </a:ln>
        </p:spPr>
      </p:sp>
      <p:sp>
        <p:nvSpPr>
          <p:cNvPr id="4" name="Línea de cancha"/>
          <p:cNvSpPr/>
          <p:nvPr/>
        </p:nvSpPr>
        <p:spPr>
          <a:xfrm>
            <a:off x="6209690" y="502920"/>
            <a:ext cx="0" cy="5669280"/>
          </a:xfrm>
          <a:prstGeom prst="line">
            <a:avLst/>
          </a:prstGeom>
          <a:noFill/>
          <a:ln w="19050">
            <a:solidFill>
              <a:srgbClr val="3A6A58"/>
            </a:solidFill>
            <a:prstDash val="solid"/>
          </a:ln>
        </p:spPr>
      </p:sp>
      <p:sp>
        <p:nvSpPr>
          <p:cNvPr id="5" name="Línea de cancha"/>
          <p:cNvSpPr/>
          <p:nvPr/>
        </p:nvSpPr>
        <p:spPr>
          <a:xfrm>
            <a:off x="14089990" y="502920"/>
            <a:ext cx="0" cy="5669280"/>
          </a:xfrm>
          <a:prstGeom prst="line">
            <a:avLst/>
          </a:prstGeom>
          <a:noFill/>
          <a:ln w="19050">
            <a:solidFill>
              <a:srgbClr val="3A6A58"/>
            </a:solidFill>
            <a:prstDash val="solid"/>
          </a:ln>
        </p:spPr>
      </p:sp>
      <p:sp>
        <p:nvSpPr>
          <p:cNvPr id="6" name="Línea de cancha"/>
          <p:cNvSpPr/>
          <p:nvPr/>
        </p:nvSpPr>
        <p:spPr>
          <a:xfrm>
            <a:off x="6209690" y="3337560"/>
            <a:ext cx="7880299" cy="0"/>
          </a:xfrm>
          <a:prstGeom prst="line">
            <a:avLst/>
          </a:prstGeom>
          <a:noFill/>
          <a:ln w="19050">
            <a:solidFill>
              <a:srgbClr val="3A6A58"/>
            </a:solidFill>
            <a:prstDash val="solid"/>
          </a:ln>
        </p:spPr>
      </p:sp>
      <p:pic>
        <p:nvPicPr>
          <p:cNvPr id="7" name="Pelota" descr="Pelota sobre la canch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0" y="1828800"/>
            <a:ext cx="1051560" cy="10515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5486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  /  05</a:t>
            </a:r>
            <a:endParaRPr lang="en-US" sz="1200" dirty="0"/>
          </a:p>
        </p:txBody>
      </p:sp>
      <p:sp>
        <p:nvSpPr>
          <p:cNvPr id="9" name="Text 0"/>
          <p:cNvSpPr/>
          <p:nvPr>
            <p:ph idx="100" type="title" hasCustomPrompt="1"/>
          </p:nvPr>
        </p:nvSpPr>
        <p:spPr>
          <a:xfrm>
            <a:off x="594360" y="3429000"/>
            <a:ext cx="10972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spc="-500" kern="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Marca</a:t>
            </a:r>
            <a:endParaRPr lang="en-US" sz="130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566928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9D6C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Qué es Pali y los principios que guían cada decisión de diseño.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nd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FEEE6"/>
          </a:solidFill>
          <a:ln w="12700">
            <a:solidFill>
              <a:srgbClr val="DFEEE6"/>
            </a:solidFill>
            <a:prstDash val="solid"/>
          </a:ln>
        </p:spPr>
      </p:sp>
      <p:sp>
        <p:nvSpPr>
          <p:cNvPr id="3" name="Panel verde"/>
          <p:cNvSpPr/>
          <p:nvPr/>
        </p:nvSpPr>
        <p:spPr>
          <a:xfrm>
            <a:off x="8229600" y="0"/>
            <a:ext cx="3962095" cy="6858000"/>
          </a:xfrm>
          <a:prstGeom prst="rect">
            <a:avLst/>
          </a:prstGeom>
          <a:solidFill>
            <a:srgbClr val="0F3D2E"/>
          </a:solidFill>
          <a:ln w="12700">
            <a:solidFill>
              <a:srgbClr val="0F3D2E"/>
            </a:solidFill>
            <a:prstDash val="solid"/>
          </a:ln>
        </p:spPr>
      </p:sp>
      <p:pic>
        <p:nvPicPr>
          <p:cNvPr id="4" name="Pelota" descr="Pelota recortad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1737360"/>
            <a:ext cx="5669280" cy="56692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4572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 — MARCA  ·  ESENCIA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1097280"/>
            <a:ext cx="73152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5600" b="1" spc="-200" kern="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Reservar una cancha tiene que costar </a:t>
            </a:r>
            <a:pPr indent="0" marL="0">
              <a:lnSpc>
                <a:spcPct val="95000"/>
              </a:lnSpc>
              <a:buNone/>
            </a:pPr>
            <a:r>
              <a:rPr lang="en-US" sz="5600" b="1" spc="-200" kern="0" dirty="0">
                <a:solidFill>
                  <a:srgbClr val="1F6F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menos</a:t>
            </a:r>
            <a:pPr indent="0" marL="0">
              <a:lnSpc>
                <a:spcPct val="95000"/>
              </a:lnSpc>
              <a:buNone/>
            </a:pPr>
            <a:r>
              <a:rPr lang="en-US" sz="5600" b="1" spc="-200" kern="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que anotarla a mano.</a:t>
            </a:r>
            <a:endParaRPr lang="en-US" sz="56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443484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4354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PRINCIPIO 01 — POCOS CLICS</a:t>
            </a:r>
            <a:endParaRPr lang="en-US" sz="1000" dirty="0"/>
          </a:p>
        </p:txBody>
      </p:sp>
      <p:sp>
        <p:nvSpPr>
          <p:cNvPr id="8" name="Filete"/>
          <p:cNvSpPr/>
          <p:nvPr/>
        </p:nvSpPr>
        <p:spPr>
          <a:xfrm>
            <a:off x="640080" y="4937760"/>
            <a:ext cx="2286000" cy="0"/>
          </a:xfrm>
          <a:prstGeom prst="line">
            <a:avLst/>
          </a:prstGeom>
          <a:noFill/>
          <a:ln w="15875">
            <a:solidFill>
              <a:srgbClr val="0D1F1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0080" y="504748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QUÉ ES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534924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 backoffice para que los clubes administren sus canchas y un chatbot para que los jugadores las alquilen.</a:t>
            </a:r>
            <a:endParaRPr lang="en-US" sz="1200" dirty="0"/>
          </a:p>
        </p:txBody>
      </p:sp>
      <p:sp>
        <p:nvSpPr>
          <p:cNvPr id="11" name="Filete"/>
          <p:cNvSpPr/>
          <p:nvPr/>
        </p:nvSpPr>
        <p:spPr>
          <a:xfrm>
            <a:off x="3154680" y="4937760"/>
            <a:ext cx="2286000" cy="0"/>
          </a:xfrm>
          <a:prstGeom prst="line">
            <a:avLst/>
          </a:prstGeom>
          <a:noFill/>
          <a:ln w="15875">
            <a:solidFill>
              <a:srgbClr val="0D1F1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154680" y="504748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PARA QUIÉN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3154680" y="534924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Administradores de clubes que hoy anotan todo a mano. Arranca con paddle.</a:t>
            </a:r>
            <a:endParaRPr lang="en-US" sz="1200" dirty="0"/>
          </a:p>
        </p:txBody>
      </p:sp>
      <p:sp>
        <p:nvSpPr>
          <p:cNvPr id="14" name="Filete"/>
          <p:cNvSpPr/>
          <p:nvPr/>
        </p:nvSpPr>
        <p:spPr>
          <a:xfrm>
            <a:off x="5669280" y="4937760"/>
            <a:ext cx="2286000" cy="0"/>
          </a:xfrm>
          <a:prstGeom prst="line">
            <a:avLst/>
          </a:prstGeom>
          <a:noFill/>
          <a:ln w="15875">
            <a:solidFill>
              <a:srgbClr val="0D1F1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669280" y="504748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CÓMO SE SIENTE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5669280" y="534924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Rápida y clara, con superficies blancas y un verde con carácter.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Moderna"/>
          <p:cNvSpPr/>
          <p:nvPr/>
        </p:nvSpPr>
        <p:spPr>
          <a:xfrm>
            <a:off x="0" y="0"/>
            <a:ext cx="4063868" cy="6858000"/>
          </a:xfrm>
          <a:prstGeom prst="rect">
            <a:avLst/>
          </a:prstGeom>
          <a:solidFill>
            <a:srgbClr val="0F3D2E"/>
          </a:solidFill>
          <a:ln w="12700">
            <a:solidFill>
              <a:srgbClr val="0F3D2E"/>
            </a:solidFill>
            <a:prstDash val="solid"/>
          </a:ln>
        </p:spPr>
      </p:sp>
      <p:sp>
        <p:nvSpPr>
          <p:cNvPr id="3" name="Palabra Moderna"/>
          <p:cNvSpPr txBox="1"/>
          <p:nvPr/>
        </p:nvSpPr>
        <p:spPr>
          <a:xfrm rot="16200000">
            <a:off x="-2377440" y="2514600"/>
            <a:ext cx="6583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0" b="1" spc="-500" kern="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Moderna</a:t>
            </a:r>
            <a:endParaRPr lang="en-US" sz="9200" dirty="0"/>
          </a:p>
        </p:txBody>
      </p:sp>
      <p:sp>
        <p:nvSpPr>
          <p:cNvPr id="4" name="Text 2"/>
          <p:cNvSpPr txBox="1"/>
          <p:nvPr/>
        </p:nvSpPr>
        <p:spPr>
          <a:xfrm>
            <a:off x="1828800" y="3840480"/>
            <a:ext cx="2011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genérica. Un diseño con criterio propio, sin plantillas ni efectos de moda.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828800" y="34290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000" dirty="0"/>
          </a:p>
        </p:txBody>
      </p:sp>
      <p:sp>
        <p:nvSpPr>
          <p:cNvPr id="6" name="Panel Mínima"/>
          <p:cNvSpPr/>
          <p:nvPr/>
        </p:nvSpPr>
        <p:spPr>
          <a:xfrm>
            <a:off x="4063868" y="0"/>
            <a:ext cx="4063868" cy="6858000"/>
          </a:xfrm>
          <a:prstGeom prst="rect">
            <a:avLst/>
          </a:prstGeom>
          <a:solidFill>
            <a:srgbClr val="A9D6C4"/>
          </a:solidFill>
          <a:ln w="12700">
            <a:solidFill>
              <a:srgbClr val="A9D6C4"/>
            </a:solidFill>
            <a:prstDash val="solid"/>
          </a:ln>
        </p:spPr>
      </p:sp>
      <p:sp>
        <p:nvSpPr>
          <p:cNvPr id="7" name="Palabra Mínima"/>
          <p:cNvSpPr txBox="1"/>
          <p:nvPr/>
        </p:nvSpPr>
        <p:spPr>
          <a:xfrm rot="16200000">
            <a:off x="1686428" y="2514600"/>
            <a:ext cx="6583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0" b="1" spc="-500" kern="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Mínima</a:t>
            </a:r>
            <a:endParaRPr lang="en-US" sz="9200" dirty="0"/>
          </a:p>
        </p:txBody>
      </p:sp>
      <p:sp>
        <p:nvSpPr>
          <p:cNvPr id="8" name="Text 6"/>
          <p:cNvSpPr txBox="1"/>
          <p:nvPr/>
        </p:nvSpPr>
        <p:spPr>
          <a:xfrm>
            <a:off x="5892668" y="3840480"/>
            <a:ext cx="2011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Nada está porque sí: cada elemento resuelve una necesidad del cliente.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92668" y="34290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F3D2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000" dirty="0"/>
          </a:p>
        </p:txBody>
      </p:sp>
      <p:sp>
        <p:nvSpPr>
          <p:cNvPr id="10" name="Panel Crece"/>
          <p:cNvSpPr/>
          <p:nvPr/>
        </p:nvSpPr>
        <p:spPr>
          <a:xfrm>
            <a:off x="8127736" y="0"/>
            <a:ext cx="4063868" cy="6858000"/>
          </a:xfrm>
          <a:prstGeom prst="rect">
            <a:avLst/>
          </a:prstGeom>
          <a:solidFill>
            <a:srgbClr val="6BAEE8"/>
          </a:solidFill>
          <a:ln w="12700">
            <a:solidFill>
              <a:srgbClr val="6BAEE8"/>
            </a:solidFill>
            <a:prstDash val="solid"/>
          </a:ln>
        </p:spPr>
      </p:sp>
      <p:sp>
        <p:nvSpPr>
          <p:cNvPr id="11" name="Palabra Crece"/>
          <p:cNvSpPr txBox="1"/>
          <p:nvPr/>
        </p:nvSpPr>
        <p:spPr>
          <a:xfrm rot="16200000">
            <a:off x="5750296" y="2514600"/>
            <a:ext cx="6583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0" b="1" spc="-500" kern="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Crece</a:t>
            </a:r>
            <a:endParaRPr lang="en-US" sz="9200" dirty="0"/>
          </a:p>
        </p:txBody>
      </p:sp>
      <p:sp>
        <p:nvSpPr>
          <p:cNvPr id="12" name="Text 10"/>
          <p:cNvSpPr txBox="1"/>
          <p:nvPr/>
        </p:nvSpPr>
        <p:spPr>
          <a:xfrm>
            <a:off x="9956536" y="3840480"/>
            <a:ext cx="2011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Hoy paddle. Mañana otros deportes y clubes: la marca no depende de uno solo.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956536" y="34290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4354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4572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 — MARCA  ·  DIRECCIÓN VISUAL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63550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EL MISMO LENGUAJE VALE PARA LA MARCA Y PARA EL BACKOFFICE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 — MARCA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640080" y="868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Ocho principios </a:t>
            </a:r>
            <a:pPr algn="l" indent="0" marL="0">
              <a:buNone/>
            </a:pPr>
            <a:r>
              <a:rPr lang="en-US" sz="3600" b="1" dirty="0">
                <a:solidFill>
                  <a:srgbClr val="1F6F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 diseño</a:t>
            </a:r>
            <a:endParaRPr lang="en-US" sz="3600" dirty="0"/>
          </a:p>
        </p:txBody>
      </p:sp>
      <p:sp>
        <p:nvSpPr>
          <p:cNvPr id="4" name="Principio 1"/>
          <p:cNvSpPr/>
          <p:nvPr/>
        </p:nvSpPr>
        <p:spPr>
          <a:xfrm>
            <a:off x="640080" y="1691640"/>
            <a:ext cx="2727198" cy="2286000"/>
          </a:xfrm>
          <a:prstGeom prst="rect">
            <a:avLst/>
          </a:prstGeom>
          <a:solidFill>
            <a:srgbClr val="0F3D2E"/>
          </a:solidFill>
          <a:ln w="12700">
            <a:solidFill>
              <a:srgbClr val="0F3D2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41248" y="1764792"/>
            <a:ext cx="1097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spc="-300" kern="0" dirty="0">
                <a:solidFill>
                  <a:srgbClr val="A9D6C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</a:t>
            </a:r>
            <a:endParaRPr lang="en-US" sz="6600" dirty="0"/>
          </a:p>
        </p:txBody>
      </p:sp>
      <p:sp>
        <p:nvSpPr>
          <p:cNvPr id="6" name="Text 4"/>
          <p:cNvSpPr txBox="1"/>
          <p:nvPr/>
        </p:nvSpPr>
        <p:spPr>
          <a:xfrm>
            <a:off x="841248" y="2788920"/>
            <a:ext cx="23614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Pocos clics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3136392"/>
            <a:ext cx="23614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Reservar un turno debe costar menos que anotarlo a mano.</a:t>
            </a:r>
            <a:endParaRPr lang="en-US" sz="1200" dirty="0"/>
          </a:p>
        </p:txBody>
      </p:sp>
      <p:sp>
        <p:nvSpPr>
          <p:cNvPr id="8" name="Principio 2"/>
          <p:cNvSpPr/>
          <p:nvPr/>
        </p:nvSpPr>
        <p:spPr>
          <a:xfrm>
            <a:off x="3367278" y="1691640"/>
            <a:ext cx="2727198" cy="2286000"/>
          </a:xfrm>
          <a:prstGeom prst="rect">
            <a:avLst/>
          </a:prstGeom>
          <a:solidFill>
            <a:srgbClr val="1F6F57"/>
          </a:solidFill>
          <a:ln w="12700">
            <a:solidFill>
              <a:srgbClr val="1F6F5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68446" y="1764792"/>
            <a:ext cx="1097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spc="-300" kern="0" dirty="0">
                <a:solidFill>
                  <a:srgbClr val="DFEEE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</a:t>
            </a:r>
            <a:endParaRPr lang="en-US" sz="6600" dirty="0"/>
          </a:p>
        </p:txBody>
      </p:sp>
      <p:sp>
        <p:nvSpPr>
          <p:cNvPr id="10" name="Text 8"/>
          <p:cNvSpPr txBox="1"/>
          <p:nvPr/>
        </p:nvSpPr>
        <p:spPr>
          <a:xfrm>
            <a:off x="3568446" y="2788920"/>
            <a:ext cx="23614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Verde con carácter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568446" y="3136392"/>
            <a:ext cx="23614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 verde ancla la interfaz y marca la acción.</a:t>
            </a:r>
            <a:endParaRPr lang="en-US" sz="1200" dirty="0"/>
          </a:p>
        </p:txBody>
      </p:sp>
      <p:sp>
        <p:nvSpPr>
          <p:cNvPr id="12" name="Principio 3"/>
          <p:cNvSpPr/>
          <p:nvPr/>
        </p:nvSpPr>
        <p:spPr>
          <a:xfrm>
            <a:off x="6094476" y="1691640"/>
            <a:ext cx="2727198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C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95644" y="1764792"/>
            <a:ext cx="1097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spc="-300" kern="0" dirty="0">
                <a:solidFill>
                  <a:srgbClr val="1F6F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</a:t>
            </a:r>
            <a:endParaRPr lang="en-US" sz="6600" dirty="0"/>
          </a:p>
        </p:txBody>
      </p:sp>
      <p:sp>
        <p:nvSpPr>
          <p:cNvPr id="14" name="Text 12"/>
          <p:cNvSpPr txBox="1"/>
          <p:nvPr/>
        </p:nvSpPr>
        <p:spPr>
          <a:xfrm>
            <a:off x="6295644" y="2788920"/>
            <a:ext cx="23614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Blanco para trabajar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295644" y="3136392"/>
            <a:ext cx="23614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Agenda, tablas y formularios van sobre blanco.</a:t>
            </a:r>
            <a:endParaRPr lang="en-US" sz="1200" dirty="0"/>
          </a:p>
        </p:txBody>
      </p:sp>
      <p:sp>
        <p:nvSpPr>
          <p:cNvPr id="16" name="Principio 4"/>
          <p:cNvSpPr/>
          <p:nvPr/>
        </p:nvSpPr>
        <p:spPr>
          <a:xfrm>
            <a:off x="8821674" y="1691640"/>
            <a:ext cx="2727198" cy="2286000"/>
          </a:xfrm>
          <a:prstGeom prst="rect">
            <a:avLst/>
          </a:prstGeom>
          <a:solidFill>
            <a:srgbClr val="0D1F18"/>
          </a:solidFill>
          <a:ln w="12700">
            <a:solidFill>
              <a:srgbClr val="0D1F1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022842" y="1764792"/>
            <a:ext cx="1097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spc="-300" kern="0" dirty="0">
                <a:solidFill>
                  <a:srgbClr val="A9D6C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</a:t>
            </a:r>
            <a:endParaRPr lang="en-US" sz="6600" dirty="0"/>
          </a:p>
        </p:txBody>
      </p:sp>
      <p:sp>
        <p:nvSpPr>
          <p:cNvPr id="18" name="Text 16"/>
          <p:cNvSpPr txBox="1"/>
          <p:nvPr/>
        </p:nvSpPr>
        <p:spPr>
          <a:xfrm>
            <a:off x="9022842" y="2788920"/>
            <a:ext cx="23614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 negro es el texto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9022842" y="3136392"/>
            <a:ext cx="23614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 negro verdoso para texto y énfasis.</a:t>
            </a:r>
            <a:endParaRPr lang="en-US" sz="1200" dirty="0"/>
          </a:p>
        </p:txBody>
      </p:sp>
      <p:sp>
        <p:nvSpPr>
          <p:cNvPr id="20" name="Principio 5"/>
          <p:cNvSpPr/>
          <p:nvPr/>
        </p:nvSpPr>
        <p:spPr>
          <a:xfrm>
            <a:off x="640080" y="3977640"/>
            <a:ext cx="2727198" cy="2286000"/>
          </a:xfrm>
          <a:prstGeom prst="rect">
            <a:avLst/>
          </a:prstGeom>
          <a:solidFill>
            <a:srgbClr val="FDEEEA"/>
          </a:solidFill>
          <a:ln w="12700">
            <a:solidFill>
              <a:srgbClr val="FDEEE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41248" y="4050792"/>
            <a:ext cx="1097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spc="-300" kern="0" dirty="0">
                <a:solidFill>
                  <a:srgbClr val="E553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</a:t>
            </a:r>
            <a:endParaRPr lang="en-US" sz="6600" dirty="0"/>
          </a:p>
        </p:txBody>
      </p:sp>
      <p:sp>
        <p:nvSpPr>
          <p:cNvPr id="22" name="Text 20"/>
          <p:cNvSpPr txBox="1"/>
          <p:nvPr/>
        </p:nvSpPr>
        <p:spPr>
          <a:xfrm>
            <a:off x="841248" y="5074920"/>
            <a:ext cx="23614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553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 coral solo cancela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841248" y="5422392"/>
            <a:ext cx="23614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553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 único color cálido, solo para acciones destructivas.</a:t>
            </a:r>
            <a:endParaRPr lang="en-US" sz="1200" dirty="0"/>
          </a:p>
        </p:txBody>
      </p:sp>
      <p:sp>
        <p:nvSpPr>
          <p:cNvPr id="24" name="Principio 6"/>
          <p:cNvSpPr/>
          <p:nvPr/>
        </p:nvSpPr>
        <p:spPr>
          <a:xfrm>
            <a:off x="3367278" y="3977640"/>
            <a:ext cx="2727198" cy="2286000"/>
          </a:xfrm>
          <a:prstGeom prst="rect">
            <a:avLst/>
          </a:prstGeom>
          <a:solidFill>
            <a:srgbClr val="A9D6C4"/>
          </a:solidFill>
          <a:ln w="12700">
            <a:solidFill>
              <a:srgbClr val="A9D6C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568446" y="4050792"/>
            <a:ext cx="1097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spc="-300" kern="0" dirty="0">
                <a:solidFill>
                  <a:srgbClr val="0F3D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6</a:t>
            </a:r>
            <a:endParaRPr lang="en-US" sz="6600" dirty="0"/>
          </a:p>
        </p:txBody>
      </p:sp>
      <p:sp>
        <p:nvSpPr>
          <p:cNvPr id="26" name="Text 24"/>
          <p:cNvSpPr txBox="1"/>
          <p:nvPr/>
        </p:nvSpPr>
        <p:spPr>
          <a:xfrm>
            <a:off x="3568446" y="5074920"/>
            <a:ext cx="23614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Datos en mono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3568446" y="5422392"/>
            <a:ext cx="23614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Horarios, importes y teléfonos se alinean y se leen rápido.</a:t>
            </a:r>
            <a:endParaRPr lang="en-US" sz="1200" dirty="0"/>
          </a:p>
        </p:txBody>
      </p:sp>
      <p:sp>
        <p:nvSpPr>
          <p:cNvPr id="28" name="Principio 7"/>
          <p:cNvSpPr/>
          <p:nvPr/>
        </p:nvSpPr>
        <p:spPr>
          <a:xfrm>
            <a:off x="6094476" y="3977640"/>
            <a:ext cx="2727198" cy="2286000"/>
          </a:xfrm>
          <a:prstGeom prst="rect">
            <a:avLst/>
          </a:prstGeom>
          <a:solidFill>
            <a:srgbClr val="9C8DDD"/>
          </a:solidFill>
          <a:ln w="12700">
            <a:solidFill>
              <a:srgbClr val="9C8DDD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295644" y="4050792"/>
            <a:ext cx="1097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spc="-300" kern="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7</a:t>
            </a:r>
            <a:endParaRPr lang="en-US" sz="6600" dirty="0"/>
          </a:p>
        </p:txBody>
      </p:sp>
      <p:sp>
        <p:nvSpPr>
          <p:cNvPr id="30" name="Text 28"/>
          <p:cNvSpPr txBox="1"/>
          <p:nvPr/>
        </p:nvSpPr>
        <p:spPr>
          <a:xfrm>
            <a:off x="6295644" y="5074920"/>
            <a:ext cx="23614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Obligatorio se marca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6295644" y="5422392"/>
            <a:ext cx="23614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Asterisco verde en lo obligatorio; lo opcional no lleva nada.</a:t>
            </a:r>
            <a:endParaRPr lang="en-US" sz="1200" dirty="0"/>
          </a:p>
        </p:txBody>
      </p:sp>
      <p:sp>
        <p:nvSpPr>
          <p:cNvPr id="32" name="Principio 8"/>
          <p:cNvSpPr/>
          <p:nvPr/>
        </p:nvSpPr>
        <p:spPr>
          <a:xfrm>
            <a:off x="8821674" y="3977640"/>
            <a:ext cx="2727198" cy="2286000"/>
          </a:xfrm>
          <a:prstGeom prst="rect">
            <a:avLst/>
          </a:prstGeom>
          <a:solidFill>
            <a:srgbClr val="6BAEE8"/>
          </a:solidFill>
          <a:ln w="12700">
            <a:solidFill>
              <a:srgbClr val="6BAEE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022842" y="4050792"/>
            <a:ext cx="1097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spc="-300" kern="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8</a:t>
            </a:r>
            <a:endParaRPr lang="en-US" sz="6600" dirty="0"/>
          </a:p>
        </p:txBody>
      </p:sp>
      <p:sp>
        <p:nvSpPr>
          <p:cNvPr id="34" name="Text 32"/>
          <p:cNvSpPr txBox="1"/>
          <p:nvPr/>
        </p:nvSpPr>
        <p:spPr>
          <a:xfrm>
            <a:off x="9022842" y="5074920"/>
            <a:ext cx="23614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Números claros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9022842" y="5422392"/>
            <a:ext cx="23614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Cifras alineadas y siempre con su variación.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437376"/>
            <a:ext cx="85039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A7B74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elota gigante" descr="Pelota gigante recortada por el bord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-1188720"/>
            <a:ext cx="8595360" cy="85953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5486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 /  05</a:t>
            </a:r>
            <a:endParaRPr lang="en-US" sz="1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94360" y="3429000"/>
            <a:ext cx="10972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spc="-500" kern="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Logo</a:t>
            </a:r>
            <a:endParaRPr lang="en-US" sz="130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566928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9D6C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Una pelota y un nombre. Cómo se construye, cuándo se usa cada versión y qué no hacer.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— LOGO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640080" y="868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 logo</a:t>
            </a:r>
            <a:endParaRPr lang="en-US" sz="3600" dirty="0"/>
          </a:p>
        </p:txBody>
      </p:sp>
      <p:pic>
        <p:nvPicPr>
          <p:cNvPr id="4" name="Logo claro · pelota" descr="Pelota del logo de Pal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3040" y="2331720"/>
            <a:ext cx="2194560" cy="2194560"/>
          </a:xfrm>
          <a:prstGeom prst="rect">
            <a:avLst/>
          </a:prstGeom>
        </p:spPr>
      </p:pic>
      <p:sp>
        <p:nvSpPr>
          <p:cNvPr id="5" name="Logo claro · nombre"/>
          <p:cNvSpPr txBox="1"/>
          <p:nvPr/>
        </p:nvSpPr>
        <p:spPr>
          <a:xfrm>
            <a:off x="4052621" y="2112264"/>
            <a:ext cx="6583680" cy="2633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900" b="1" spc="-100" kern="0" dirty="0">
                <a:solidFill>
                  <a:srgbClr val="0F3D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Pali</a:t>
            </a:r>
            <a:endParaRPr lang="en-US" sz="14900" dirty="0"/>
          </a:p>
        </p:txBody>
      </p:sp>
      <p:sp>
        <p:nvSpPr>
          <p:cNvPr id="6" name="Filete vertical"/>
          <p:cNvSpPr/>
          <p:nvPr/>
        </p:nvSpPr>
        <p:spPr>
          <a:xfrm>
            <a:off x="2560320" y="4663440"/>
            <a:ext cx="0" cy="502920"/>
          </a:xfrm>
          <a:prstGeom prst="line">
            <a:avLst/>
          </a:prstGeom>
          <a:noFill/>
          <a:ln w="9525">
            <a:solidFill>
              <a:srgbClr val="0D1F1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2468880" y="523036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  PELOTA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2468880" y="54864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 círculo con la costura de una pelota de tenis y de paddle. Identifica a Pali, sobre todo en tamaños chicos.</a:t>
            </a:r>
            <a:endParaRPr lang="en-US" sz="1300" dirty="0"/>
          </a:p>
        </p:txBody>
      </p:sp>
      <p:sp>
        <p:nvSpPr>
          <p:cNvPr id="9" name="Filete vertical"/>
          <p:cNvSpPr/>
          <p:nvPr/>
        </p:nvSpPr>
        <p:spPr>
          <a:xfrm>
            <a:off x="5515661" y="4663440"/>
            <a:ext cx="0" cy="502920"/>
          </a:xfrm>
          <a:prstGeom prst="line">
            <a:avLst/>
          </a:prstGeom>
          <a:noFill/>
          <a:ln w="9525">
            <a:solidFill>
              <a:srgbClr val="0D1F1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24221" y="523036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 NOMBRE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424221" y="548640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“Pali” en IBM Plex Sans SemiBold, con el interletrado en −2 %. La P va en mayúscula y el resto en minúscula.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8412480" y="205740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 nombre no se usa sin la pelota. La pelota sí puede usarse sola.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437376"/>
            <a:ext cx="85039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A7B74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— LOGO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640080" y="868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Construcción de la pelota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01168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FEEE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Dos arcos del mismo radio cortan el círculo. Cada uno está centrado en el punto medio de un borde.</a:t>
            </a:r>
            <a:endParaRPr lang="en-US" sz="1500" dirty="0"/>
          </a:p>
        </p:txBody>
      </p:sp>
      <p:pic>
        <p:nvPicPr>
          <p:cNvPr id="5" name="Pelota" descr="Pelota del logo con guías de construcció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1874520"/>
            <a:ext cx="2926080" cy="2926080"/>
          </a:xfrm>
          <a:prstGeom prst="rect">
            <a:avLst/>
          </a:prstGeom>
        </p:spPr>
      </p:pic>
      <p:sp>
        <p:nvSpPr>
          <p:cNvPr id="6" name="Guía arco izquierdo"/>
          <p:cNvSpPr/>
          <p:nvPr/>
        </p:nvSpPr>
        <p:spPr>
          <a:xfrm>
            <a:off x="4383634" y="1274674"/>
            <a:ext cx="4125773" cy="4125773"/>
          </a:xfrm>
          <a:prstGeom prst="ellipse">
            <a:avLst/>
          </a:prstGeom>
          <a:ln w="9525">
            <a:solidFill>
              <a:srgbClr val="A9D6C4"/>
            </a:solidFill>
            <a:prstDash val="dash"/>
          </a:ln>
        </p:spPr>
      </p:sp>
      <p:sp>
        <p:nvSpPr>
          <p:cNvPr id="7" name="Guía arco derecho"/>
          <p:cNvSpPr/>
          <p:nvPr/>
        </p:nvSpPr>
        <p:spPr>
          <a:xfrm>
            <a:off x="7309714" y="1274674"/>
            <a:ext cx="4125773" cy="4125773"/>
          </a:xfrm>
          <a:prstGeom prst="ellipse">
            <a:avLst/>
          </a:prstGeom>
          <a:ln w="9525">
            <a:solidFill>
              <a:srgbClr val="A9D6C4"/>
            </a:solidFill>
            <a:prstDash val="dash"/>
          </a:ln>
        </p:spPr>
      </p:sp>
      <p:sp>
        <p:nvSpPr>
          <p:cNvPr id="8" name="Eje horizontal"/>
          <p:cNvSpPr/>
          <p:nvPr/>
        </p:nvSpPr>
        <p:spPr>
          <a:xfrm>
            <a:off x="6126480" y="3337560"/>
            <a:ext cx="3566160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9" name="Eje vertical"/>
          <p:cNvSpPr/>
          <p:nvPr/>
        </p:nvSpPr>
        <p:spPr>
          <a:xfrm>
            <a:off x="7909560" y="1554480"/>
            <a:ext cx="0" cy="356616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10" name="Centro 1"/>
          <p:cNvSpPr/>
          <p:nvPr/>
        </p:nvSpPr>
        <p:spPr>
          <a:xfrm>
            <a:off x="6382512" y="3273552"/>
            <a:ext cx="128016" cy="128016"/>
          </a:xfrm>
          <a:prstGeom prst="ellipse">
            <a:avLst/>
          </a:prstGeom>
          <a:solidFill>
            <a:srgbClr val="F2C94C"/>
          </a:solidFill>
          <a:ln w="12700">
            <a:solidFill>
              <a:srgbClr val="F2C94C"/>
            </a:solidFill>
            <a:prstDash val="solid"/>
          </a:ln>
        </p:spPr>
      </p:sp>
      <p:sp>
        <p:nvSpPr>
          <p:cNvPr id="11" name="Centro 2"/>
          <p:cNvSpPr/>
          <p:nvPr/>
        </p:nvSpPr>
        <p:spPr>
          <a:xfrm>
            <a:off x="9308592" y="3273552"/>
            <a:ext cx="128016" cy="128016"/>
          </a:xfrm>
          <a:prstGeom prst="ellipse">
            <a:avLst/>
          </a:prstGeom>
          <a:solidFill>
            <a:srgbClr val="F2C94C"/>
          </a:solidFill>
          <a:ln w="12700">
            <a:solidFill>
              <a:srgbClr val="F2C94C"/>
            </a:solidFill>
            <a:prstDash val="solid"/>
          </a:ln>
        </p:spPr>
      </p:sp>
      <p:sp>
        <p:nvSpPr>
          <p:cNvPr id="12" name="Filete"/>
          <p:cNvSpPr/>
          <p:nvPr/>
        </p:nvSpPr>
        <p:spPr>
          <a:xfrm>
            <a:off x="6446520" y="5303520"/>
            <a:ext cx="2926080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13" name="Filete vertical"/>
          <p:cNvSpPr/>
          <p:nvPr/>
        </p:nvSpPr>
        <p:spPr>
          <a:xfrm>
            <a:off x="6446520" y="5239512"/>
            <a:ext cx="0" cy="128016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14" name="Filete vertical"/>
          <p:cNvSpPr/>
          <p:nvPr/>
        </p:nvSpPr>
        <p:spPr>
          <a:xfrm>
            <a:off x="9372600" y="5239512"/>
            <a:ext cx="0" cy="128016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46520" y="5010912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4526280" y="3447288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F2C94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CENTRO DEL ARCO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9418320" y="2990088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 = 0,70 D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9418320" y="3447288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TRAZO = 6 % DE D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4114800" y="585216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FEEE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Radio y trazo se miden sobre el diámetro (D) y valen en cualquier tamaño.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437376"/>
            <a:ext cx="85039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9D6C4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ndo oscuro"/>
          <p:cNvSpPr/>
          <p:nvPr/>
        </p:nvSpPr>
        <p:spPr>
          <a:xfrm>
            <a:off x="6094476" y="0"/>
            <a:ext cx="6094476" cy="6858000"/>
          </a:xfrm>
          <a:prstGeom prst="rect">
            <a:avLst/>
          </a:prstGeom>
          <a:solidFill>
            <a:srgbClr val="0F3D2E"/>
          </a:solidFill>
          <a:ln w="12700">
            <a:solidFill>
              <a:srgbClr val="0F3D2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572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— LOGO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86868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Claro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766560" y="86868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Oscuro</a:t>
            </a:r>
            <a:endParaRPr lang="en-US" sz="3600" dirty="0"/>
          </a:p>
        </p:txBody>
      </p:sp>
      <p:pic>
        <p:nvPicPr>
          <p:cNvPr id="6" name="Logo claro · pelota" descr="Pelota del logo de Pal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697480"/>
            <a:ext cx="1280160" cy="1280160"/>
          </a:xfrm>
          <a:prstGeom prst="rect">
            <a:avLst/>
          </a:prstGeom>
        </p:spPr>
      </p:pic>
      <p:sp>
        <p:nvSpPr>
          <p:cNvPr id="7" name="Logo claro · nombre"/>
          <p:cNvSpPr txBox="1"/>
          <p:nvPr/>
        </p:nvSpPr>
        <p:spPr>
          <a:xfrm>
            <a:off x="2470709" y="2569464"/>
            <a:ext cx="384048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700" b="1" spc="-100" kern="0" dirty="0">
                <a:solidFill>
                  <a:srgbClr val="0F3D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Pali</a:t>
            </a:r>
            <a:endParaRPr lang="en-US" sz="8700" dirty="0"/>
          </a:p>
        </p:txBody>
      </p:sp>
      <p:pic>
        <p:nvPicPr>
          <p:cNvPr id="8" name="Logo oscuro · pelota" descr="Pelota del logo de Pali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2697480"/>
            <a:ext cx="1280160" cy="1280160"/>
          </a:xfrm>
          <a:prstGeom prst="rect">
            <a:avLst/>
          </a:prstGeom>
        </p:spPr>
      </p:pic>
      <p:sp>
        <p:nvSpPr>
          <p:cNvPr id="9" name="Logo oscuro · nombre"/>
          <p:cNvSpPr txBox="1"/>
          <p:nvPr/>
        </p:nvSpPr>
        <p:spPr>
          <a:xfrm>
            <a:off x="8597189" y="2569464"/>
            <a:ext cx="384048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700" b="1" spc="-100" kern="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Pali</a:t>
            </a:r>
            <a:endParaRPr lang="en-US" sz="8700" dirty="0"/>
          </a:p>
        </p:txBody>
      </p:sp>
      <p:sp>
        <p:nvSpPr>
          <p:cNvPr id="10" name="Text 6"/>
          <p:cNvSpPr txBox="1"/>
          <p:nvPr/>
        </p:nvSpPr>
        <p:spPr>
          <a:xfrm>
            <a:off x="640080" y="502920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Para fondos blancos o claros. Pelota verde de marca con costura blanca y nombre en verde bosque.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6766560" y="502920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FEEE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Para verde bosque y tema oscuro. Pelota menta con costura verde bosque y nombre en blanco.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640080" y="61722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pali-logo-claro.svg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6766560" y="61722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pali-logo-oscuro.svg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— LOGO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Otras versiones</a:t>
            </a:r>
            <a:endParaRPr lang="en-US" sz="3600" dirty="0"/>
          </a:p>
        </p:txBody>
      </p:sp>
      <p:sp>
        <p:nvSpPr>
          <p:cNvPr id="4" name="Campo Ícono · fondo claro"/>
          <p:cNvSpPr/>
          <p:nvPr/>
        </p:nvSpPr>
        <p:spPr>
          <a:xfrm>
            <a:off x="0" y="1828800"/>
            <a:ext cx="3047238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Ícono · fondo claro" descr="Ícono · fondo clar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834640"/>
            <a:ext cx="1216152" cy="121615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74320" y="20574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274320" y="53492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Ícono · fondo claro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274320" y="5742432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Favicon, avatar y app.</a:t>
            </a:r>
            <a:endParaRPr lang="en-US" sz="1300" dirty="0"/>
          </a:p>
        </p:txBody>
      </p:sp>
      <p:sp>
        <p:nvSpPr>
          <p:cNvPr id="9" name="Campo Ícono · fondo oscuro"/>
          <p:cNvSpPr/>
          <p:nvPr/>
        </p:nvSpPr>
        <p:spPr>
          <a:xfrm>
            <a:off x="3047238" y="1828800"/>
            <a:ext cx="3047238" cy="3291840"/>
          </a:xfrm>
          <a:prstGeom prst="rect">
            <a:avLst/>
          </a:prstGeom>
          <a:solidFill>
            <a:srgbClr val="0F3D2E"/>
          </a:solidFill>
          <a:ln w="12700">
            <a:solidFill>
              <a:srgbClr val="0F3D2E"/>
            </a:solidFill>
            <a:prstDash val="solid"/>
          </a:ln>
        </p:spPr>
      </p:sp>
      <p:pic>
        <p:nvPicPr>
          <p:cNvPr id="10" name="Ícono · fondo oscuro" descr="Ícono · fondo oscur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1638" y="2834640"/>
            <a:ext cx="1216152" cy="121615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321558" y="20574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3321558" y="53492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Ícono · fondo oscuro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3321558" y="5742432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Favicon, avatar y app.</a:t>
            </a:r>
            <a:endParaRPr lang="en-US" sz="1300" dirty="0"/>
          </a:p>
        </p:txBody>
      </p:sp>
      <p:sp>
        <p:nvSpPr>
          <p:cNvPr id="14" name="Campo Monocromo negro"/>
          <p:cNvSpPr/>
          <p:nvPr/>
        </p:nvSpPr>
        <p:spPr>
          <a:xfrm>
            <a:off x="6094476" y="1828800"/>
            <a:ext cx="3047238" cy="3291840"/>
          </a:xfrm>
          <a:prstGeom prst="rect">
            <a:avLst/>
          </a:prstGeom>
          <a:solidFill>
            <a:srgbClr val="DFEEE6"/>
          </a:solidFill>
          <a:ln w="12700">
            <a:solidFill>
              <a:srgbClr val="DFEEE6"/>
            </a:solidFill>
            <a:prstDash val="solid"/>
          </a:ln>
        </p:spPr>
      </p:sp>
      <p:pic>
        <p:nvPicPr>
          <p:cNvPr id="15" name="Mono negro · pelota" descr="Pelota del logo de Pali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7396" y="3063240"/>
            <a:ext cx="685800" cy="685800"/>
          </a:xfrm>
          <a:prstGeom prst="rect">
            <a:avLst/>
          </a:prstGeom>
        </p:spPr>
      </p:pic>
      <p:sp>
        <p:nvSpPr>
          <p:cNvPr id="16" name="Mono negro · nombre"/>
          <p:cNvSpPr txBox="1"/>
          <p:nvPr/>
        </p:nvSpPr>
        <p:spPr>
          <a:xfrm>
            <a:off x="7406640" y="299466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700" b="1" spc="-100" kern="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Pali</a:t>
            </a:r>
            <a:endParaRPr lang="en-US" sz="4700" dirty="0"/>
          </a:p>
        </p:txBody>
      </p:sp>
      <p:sp>
        <p:nvSpPr>
          <p:cNvPr id="17" name="Text 12"/>
          <p:cNvSpPr txBox="1"/>
          <p:nvPr/>
        </p:nvSpPr>
        <p:spPr>
          <a:xfrm>
            <a:off x="6368796" y="20574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000" dirty="0"/>
          </a:p>
        </p:txBody>
      </p:sp>
      <p:sp>
        <p:nvSpPr>
          <p:cNvPr id="18" name="Text 13"/>
          <p:cNvSpPr txBox="1"/>
          <p:nvPr/>
        </p:nvSpPr>
        <p:spPr>
          <a:xfrm>
            <a:off x="6368796" y="53492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Monocromo negro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6368796" y="5742432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Impresos de un solo color, sobre fondo claro.</a:t>
            </a:r>
            <a:endParaRPr lang="en-US" sz="1300" dirty="0"/>
          </a:p>
        </p:txBody>
      </p:sp>
      <p:sp>
        <p:nvSpPr>
          <p:cNvPr id="20" name="Campo Monocromo blanco"/>
          <p:cNvSpPr/>
          <p:nvPr/>
        </p:nvSpPr>
        <p:spPr>
          <a:xfrm>
            <a:off x="9141714" y="1828800"/>
            <a:ext cx="3047238" cy="3291840"/>
          </a:xfrm>
          <a:prstGeom prst="rect">
            <a:avLst/>
          </a:prstGeom>
          <a:solidFill>
            <a:srgbClr val="1F6F57"/>
          </a:solidFill>
          <a:ln w="12700">
            <a:solidFill>
              <a:srgbClr val="1F6F57"/>
            </a:solidFill>
            <a:prstDash val="solid"/>
          </a:ln>
        </p:spPr>
      </p:sp>
      <p:pic>
        <p:nvPicPr>
          <p:cNvPr id="21" name="Mono blanco · pelota" descr="Pelota del logo de Pali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4634" y="3063240"/>
            <a:ext cx="685800" cy="685800"/>
          </a:xfrm>
          <a:prstGeom prst="rect">
            <a:avLst/>
          </a:prstGeom>
        </p:spPr>
      </p:pic>
      <p:sp>
        <p:nvSpPr>
          <p:cNvPr id="22" name="Mono blanco · nombre"/>
          <p:cNvSpPr txBox="1"/>
          <p:nvPr/>
        </p:nvSpPr>
        <p:spPr>
          <a:xfrm>
            <a:off x="10453878" y="299466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700" b="1" spc="-100" kern="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Pali</a:t>
            </a:r>
            <a:endParaRPr lang="en-US" sz="4700" dirty="0"/>
          </a:p>
        </p:txBody>
      </p:sp>
      <p:sp>
        <p:nvSpPr>
          <p:cNvPr id="23" name="Text 17"/>
          <p:cNvSpPr txBox="1"/>
          <p:nvPr/>
        </p:nvSpPr>
        <p:spPr>
          <a:xfrm>
            <a:off x="9416034" y="20574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000" dirty="0"/>
          </a:p>
        </p:txBody>
      </p:sp>
      <p:sp>
        <p:nvSpPr>
          <p:cNvPr id="24" name="Text 18"/>
          <p:cNvSpPr txBox="1"/>
          <p:nvPr/>
        </p:nvSpPr>
        <p:spPr>
          <a:xfrm>
            <a:off x="9416034" y="53492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Monocromo blanco</a:t>
            </a:r>
            <a:endParaRPr lang="en-US" sz="1600" dirty="0"/>
          </a:p>
        </p:txBody>
      </p:sp>
      <p:sp>
        <p:nvSpPr>
          <p:cNvPr id="25" name="Text 19"/>
          <p:cNvSpPr txBox="1"/>
          <p:nvPr/>
        </p:nvSpPr>
        <p:spPr>
          <a:xfrm>
            <a:off x="9416034" y="5742432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 solo color sobre fondos de color.</a:t>
            </a:r>
            <a:endParaRPr lang="en-US" sz="1300" dirty="0"/>
          </a:p>
        </p:txBody>
      </p:sp>
      <p:sp>
        <p:nvSpPr>
          <p:cNvPr id="26" name="Filete vertical"/>
          <p:cNvSpPr/>
          <p:nvPr/>
        </p:nvSpPr>
        <p:spPr>
          <a:xfrm>
            <a:off x="3047238" y="1828800"/>
            <a:ext cx="0" cy="3291840"/>
          </a:xfrm>
          <a:prstGeom prst="line">
            <a:avLst/>
          </a:prstGeom>
          <a:noFill/>
          <a:ln w="9525">
            <a:solidFill>
              <a:srgbClr val="CAD6CF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n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F2FC"/>
          </a:solidFill>
          <a:ln w="12700">
            <a:solidFill>
              <a:srgbClr val="E8F2F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572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2F6FC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— LOGO  ·  PLANO TÉCNICO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772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spc="-100" kern="0" dirty="0">
                <a:solidFill>
                  <a:srgbClr val="1B4F8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Espacio de respeto y tamaño mínimo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011680"/>
            <a:ext cx="3291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4F8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Alrededor del logo queda libre, como mínimo, el diámetro de la pelota (x).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47472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553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PROPUESTA — A CONFIRMAR</a:t>
            </a:r>
            <a:endParaRPr lang="en-US" sz="1000" dirty="0"/>
          </a:p>
        </p:txBody>
      </p:sp>
      <p:sp>
        <p:nvSpPr>
          <p:cNvPr id="7" name="Zona de respeto"/>
          <p:cNvSpPr/>
          <p:nvPr/>
        </p:nvSpPr>
        <p:spPr>
          <a:xfrm>
            <a:off x="5120640" y="2103120"/>
            <a:ext cx="434340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2F6FC0"/>
            </a:solidFill>
            <a:prstDash val="dash"/>
          </a:ln>
        </p:spPr>
      </p:sp>
      <p:sp>
        <p:nvSpPr>
          <p:cNvPr id="8" name="Caja del logo"/>
          <p:cNvSpPr/>
          <p:nvPr/>
        </p:nvSpPr>
        <p:spPr>
          <a:xfrm>
            <a:off x="5989320" y="2971800"/>
            <a:ext cx="2606040" cy="868680"/>
          </a:xfrm>
          <a:prstGeom prst="rect">
            <a:avLst/>
          </a:prstGeom>
          <a:ln w="9525">
            <a:solidFill>
              <a:srgbClr val="6BAEE8"/>
            </a:solidFill>
            <a:prstDash val="solid"/>
          </a:ln>
        </p:spPr>
      </p:sp>
      <p:pic>
        <p:nvPicPr>
          <p:cNvPr id="9" name="Logo respeto · pelota" descr="Pelota del logo de Pal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971800"/>
            <a:ext cx="868680" cy="868680"/>
          </a:xfrm>
          <a:prstGeom prst="rect">
            <a:avLst/>
          </a:prstGeom>
        </p:spPr>
      </p:pic>
      <p:sp>
        <p:nvSpPr>
          <p:cNvPr id="10" name="Logo respeto · nombre"/>
          <p:cNvSpPr txBox="1"/>
          <p:nvPr/>
        </p:nvSpPr>
        <p:spPr>
          <a:xfrm>
            <a:off x="7014362" y="2884932"/>
            <a:ext cx="26060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900" b="1" spc="-100" kern="0" dirty="0">
                <a:solidFill>
                  <a:srgbClr val="0F3D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Pali</a:t>
            </a:r>
            <a:endParaRPr lang="en-US" sz="5900" dirty="0"/>
          </a:p>
        </p:txBody>
      </p:sp>
      <p:sp>
        <p:nvSpPr>
          <p:cNvPr id="11" name="Filete"/>
          <p:cNvSpPr/>
          <p:nvPr/>
        </p:nvSpPr>
        <p:spPr>
          <a:xfrm>
            <a:off x="5120640" y="1920240"/>
            <a:ext cx="868680" cy="0"/>
          </a:xfrm>
          <a:prstGeom prst="line">
            <a:avLst/>
          </a:prstGeom>
          <a:noFill/>
          <a:ln w="12700">
            <a:solidFill>
              <a:srgbClr val="2F6FC0"/>
            </a:solidFill>
            <a:prstDash val="solid"/>
          </a:ln>
        </p:spPr>
      </p:sp>
      <p:sp>
        <p:nvSpPr>
          <p:cNvPr id="12" name="Filete vertical"/>
          <p:cNvSpPr/>
          <p:nvPr/>
        </p:nvSpPr>
        <p:spPr>
          <a:xfrm>
            <a:off x="5120640" y="1856232"/>
            <a:ext cx="0" cy="128016"/>
          </a:xfrm>
          <a:prstGeom prst="line">
            <a:avLst/>
          </a:prstGeom>
          <a:noFill/>
          <a:ln w="12700">
            <a:solidFill>
              <a:srgbClr val="2F6FC0"/>
            </a:solidFill>
            <a:prstDash val="solid"/>
          </a:ln>
        </p:spPr>
      </p:sp>
      <p:sp>
        <p:nvSpPr>
          <p:cNvPr id="13" name="Filete vertical"/>
          <p:cNvSpPr/>
          <p:nvPr/>
        </p:nvSpPr>
        <p:spPr>
          <a:xfrm>
            <a:off x="5989320" y="1856232"/>
            <a:ext cx="0" cy="128016"/>
          </a:xfrm>
          <a:prstGeom prst="line">
            <a:avLst/>
          </a:prstGeom>
          <a:noFill/>
          <a:ln w="12700">
            <a:solidFill>
              <a:srgbClr val="2F6FC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120640" y="1627632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2F6FC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x</a:t>
            </a:r>
            <a:endParaRPr lang="en-US" sz="1100" dirty="0"/>
          </a:p>
        </p:txBody>
      </p:sp>
      <p:sp>
        <p:nvSpPr>
          <p:cNvPr id="15" name="Filete"/>
          <p:cNvSpPr/>
          <p:nvPr/>
        </p:nvSpPr>
        <p:spPr>
          <a:xfrm>
            <a:off x="8595360" y="1920240"/>
            <a:ext cx="868680" cy="0"/>
          </a:xfrm>
          <a:prstGeom prst="line">
            <a:avLst/>
          </a:prstGeom>
          <a:noFill/>
          <a:ln w="12700">
            <a:solidFill>
              <a:srgbClr val="2F6FC0"/>
            </a:solidFill>
            <a:prstDash val="solid"/>
          </a:ln>
        </p:spPr>
      </p:sp>
      <p:sp>
        <p:nvSpPr>
          <p:cNvPr id="16" name="Filete vertical"/>
          <p:cNvSpPr/>
          <p:nvPr/>
        </p:nvSpPr>
        <p:spPr>
          <a:xfrm>
            <a:off x="8595360" y="1856232"/>
            <a:ext cx="0" cy="128016"/>
          </a:xfrm>
          <a:prstGeom prst="line">
            <a:avLst/>
          </a:prstGeom>
          <a:noFill/>
          <a:ln w="12700">
            <a:solidFill>
              <a:srgbClr val="2F6FC0"/>
            </a:solidFill>
            <a:prstDash val="solid"/>
          </a:ln>
        </p:spPr>
      </p:sp>
      <p:sp>
        <p:nvSpPr>
          <p:cNvPr id="17" name="Filete vertical"/>
          <p:cNvSpPr/>
          <p:nvPr/>
        </p:nvSpPr>
        <p:spPr>
          <a:xfrm>
            <a:off x="9464040" y="1856232"/>
            <a:ext cx="0" cy="128016"/>
          </a:xfrm>
          <a:prstGeom prst="line">
            <a:avLst/>
          </a:prstGeom>
          <a:noFill/>
          <a:ln w="12700">
            <a:solidFill>
              <a:srgbClr val="2F6FC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595360" y="1627632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2F6FC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x</a:t>
            </a:r>
            <a:endParaRPr lang="en-US" sz="1100" dirty="0"/>
          </a:p>
        </p:txBody>
      </p:sp>
      <p:sp>
        <p:nvSpPr>
          <p:cNvPr id="19" name="Filete vertical"/>
          <p:cNvSpPr/>
          <p:nvPr/>
        </p:nvSpPr>
        <p:spPr>
          <a:xfrm>
            <a:off x="4937760" y="2103120"/>
            <a:ext cx="0" cy="868680"/>
          </a:xfrm>
          <a:prstGeom prst="line">
            <a:avLst/>
          </a:prstGeom>
          <a:noFill/>
          <a:ln w="12700">
            <a:solidFill>
              <a:srgbClr val="2F6FC0"/>
            </a:solidFill>
            <a:prstDash val="solid"/>
          </a:ln>
        </p:spPr>
      </p:sp>
      <p:sp>
        <p:nvSpPr>
          <p:cNvPr id="20" name="Filete"/>
          <p:cNvSpPr/>
          <p:nvPr/>
        </p:nvSpPr>
        <p:spPr>
          <a:xfrm>
            <a:off x="4873752" y="2103120"/>
            <a:ext cx="128016" cy="0"/>
          </a:xfrm>
          <a:prstGeom prst="line">
            <a:avLst/>
          </a:prstGeom>
          <a:noFill/>
          <a:ln w="12700">
            <a:solidFill>
              <a:srgbClr val="2F6FC0"/>
            </a:solidFill>
            <a:prstDash val="solid"/>
          </a:ln>
        </p:spPr>
      </p:sp>
      <p:sp>
        <p:nvSpPr>
          <p:cNvPr id="21" name="Filete"/>
          <p:cNvSpPr/>
          <p:nvPr/>
        </p:nvSpPr>
        <p:spPr>
          <a:xfrm>
            <a:off x="4873752" y="2971800"/>
            <a:ext cx="128016" cy="0"/>
          </a:xfrm>
          <a:prstGeom prst="line">
            <a:avLst/>
          </a:prstGeom>
          <a:noFill/>
          <a:ln w="12700">
            <a:solidFill>
              <a:srgbClr val="2F6FC0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480560" y="242773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spc="100" kern="0" dirty="0">
                <a:solidFill>
                  <a:srgbClr val="2F6FC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x</a:t>
            </a:r>
            <a:endParaRPr lang="en-US" sz="1100" dirty="0"/>
          </a:p>
        </p:txBody>
      </p:sp>
      <p:sp>
        <p:nvSpPr>
          <p:cNvPr id="23" name="Filete vertical"/>
          <p:cNvSpPr/>
          <p:nvPr/>
        </p:nvSpPr>
        <p:spPr>
          <a:xfrm>
            <a:off x="4937760" y="3840480"/>
            <a:ext cx="0" cy="868680"/>
          </a:xfrm>
          <a:prstGeom prst="line">
            <a:avLst/>
          </a:prstGeom>
          <a:noFill/>
          <a:ln w="12700">
            <a:solidFill>
              <a:srgbClr val="2F6FC0"/>
            </a:solidFill>
            <a:prstDash val="solid"/>
          </a:ln>
        </p:spPr>
      </p:sp>
      <p:sp>
        <p:nvSpPr>
          <p:cNvPr id="24" name="Filete"/>
          <p:cNvSpPr/>
          <p:nvPr/>
        </p:nvSpPr>
        <p:spPr>
          <a:xfrm>
            <a:off x="4873752" y="3840480"/>
            <a:ext cx="128016" cy="0"/>
          </a:xfrm>
          <a:prstGeom prst="line">
            <a:avLst/>
          </a:prstGeom>
          <a:noFill/>
          <a:ln w="12700">
            <a:solidFill>
              <a:srgbClr val="2F6FC0"/>
            </a:solidFill>
            <a:prstDash val="solid"/>
          </a:ln>
        </p:spPr>
      </p:sp>
      <p:sp>
        <p:nvSpPr>
          <p:cNvPr id="25" name="Filete"/>
          <p:cNvSpPr/>
          <p:nvPr/>
        </p:nvSpPr>
        <p:spPr>
          <a:xfrm>
            <a:off x="4873752" y="4709160"/>
            <a:ext cx="128016" cy="0"/>
          </a:xfrm>
          <a:prstGeom prst="line">
            <a:avLst/>
          </a:prstGeom>
          <a:noFill/>
          <a:ln w="12700">
            <a:solidFill>
              <a:srgbClr val="2F6FC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480560" y="416509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spc="100" kern="0" dirty="0">
                <a:solidFill>
                  <a:srgbClr val="2F6FC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x</a:t>
            </a:r>
            <a:endParaRPr lang="en-US" sz="1100" dirty="0"/>
          </a:p>
        </p:txBody>
      </p:sp>
      <p:sp>
        <p:nvSpPr>
          <p:cNvPr id="27" name="Filete"/>
          <p:cNvSpPr/>
          <p:nvPr/>
        </p:nvSpPr>
        <p:spPr>
          <a:xfrm>
            <a:off x="4114800" y="5120640"/>
            <a:ext cx="7434072" cy="0"/>
          </a:xfrm>
          <a:prstGeom prst="line">
            <a:avLst/>
          </a:prstGeom>
          <a:noFill/>
          <a:ln w="15875">
            <a:solidFill>
              <a:srgbClr val="2F6FC0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114800" y="523036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2F6FC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TAMAÑO MÍNIMO</a:t>
            </a:r>
            <a:endParaRPr lang="en-US" sz="1000" dirty="0"/>
          </a:p>
        </p:txBody>
      </p:sp>
      <p:pic>
        <p:nvPicPr>
          <p:cNvPr id="29" name="Mínimo logo · pelota" descr="Pelota del logo de Pali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5669280"/>
            <a:ext cx="301752" cy="301752"/>
          </a:xfrm>
          <a:prstGeom prst="rect">
            <a:avLst/>
          </a:prstGeom>
        </p:spPr>
      </p:pic>
      <p:sp>
        <p:nvSpPr>
          <p:cNvPr id="30" name="Mínimo logo · nombre"/>
          <p:cNvSpPr txBox="1"/>
          <p:nvPr/>
        </p:nvSpPr>
        <p:spPr>
          <a:xfrm>
            <a:off x="4470867" y="5639105"/>
            <a:ext cx="905256" cy="362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-100" kern="0" dirty="0">
                <a:solidFill>
                  <a:srgbClr val="0F3D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Pali</a:t>
            </a:r>
            <a:endParaRPr lang="en-US" sz="2000" dirty="0"/>
          </a:p>
        </p:txBody>
      </p:sp>
      <p:sp>
        <p:nvSpPr>
          <p:cNvPr id="31" name="Text 27"/>
          <p:cNvSpPr txBox="1"/>
          <p:nvPr/>
        </p:nvSpPr>
        <p:spPr>
          <a:xfrm>
            <a:off x="5303520" y="5779008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1B4F8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LOGO · 24 PX DE PELOTA</a:t>
            </a:r>
            <a:endParaRPr lang="en-US" sz="1000" dirty="0"/>
          </a:p>
        </p:txBody>
      </p:sp>
      <p:pic>
        <p:nvPicPr>
          <p:cNvPr id="32" name="Mínimo ícono" descr="Ícono al tamaño mínim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0" y="5742432"/>
            <a:ext cx="201168" cy="201168"/>
          </a:xfrm>
          <a:prstGeom prst="rect">
            <a:avLst/>
          </a:prstGeom>
        </p:spPr>
      </p:pic>
      <p:sp>
        <p:nvSpPr>
          <p:cNvPr id="33" name="Text 28"/>
          <p:cNvSpPr txBox="1"/>
          <p:nvPr/>
        </p:nvSpPr>
        <p:spPr>
          <a:xfrm>
            <a:off x="9006840" y="576072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1B4F8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ÍCONO · 16 PX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— LOGO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640080" y="868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Usos </a:t>
            </a:r>
            <a:pPr algn="l" indent="0" marL="0">
              <a:buNone/>
            </a:pPr>
            <a:r>
              <a:rPr lang="en-US" sz="3600" b="1" dirty="0">
                <a:solidFill>
                  <a:srgbClr val="1F6F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correctos</a:t>
            </a:r>
            <a:endParaRPr lang="en-US" sz="3600" dirty="0"/>
          </a:p>
        </p:txBody>
      </p:sp>
      <p:sp>
        <p:nvSpPr>
          <p:cNvPr id="4" name="Muestra Sobre blanco"/>
          <p:cNvSpPr/>
          <p:nvPr/>
        </p:nvSpPr>
        <p:spPr>
          <a:xfrm>
            <a:off x="640080" y="1691640"/>
            <a:ext cx="3636264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CF"/>
            </a:solidFill>
            <a:prstDash val="solid"/>
          </a:ln>
        </p:spPr>
      </p:sp>
      <p:pic>
        <p:nvPicPr>
          <p:cNvPr id="5" name="Muestra · pelota" descr="Pelota del logo de Pal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6672" y="2208276"/>
            <a:ext cx="566928" cy="566928"/>
          </a:xfrm>
          <a:prstGeom prst="rect">
            <a:avLst/>
          </a:prstGeom>
        </p:spPr>
      </p:pic>
      <p:sp>
        <p:nvSpPr>
          <p:cNvPr id="6" name="Muestra · nombre"/>
          <p:cNvSpPr txBox="1"/>
          <p:nvPr/>
        </p:nvSpPr>
        <p:spPr>
          <a:xfrm>
            <a:off x="2235647" y="2151583"/>
            <a:ext cx="1700784" cy="680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-100" kern="0" dirty="0">
                <a:solidFill>
                  <a:srgbClr val="0F3D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Pali</a:t>
            </a:r>
            <a:endParaRPr lang="en-US" sz="38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340156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SÍ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3355848"/>
            <a:ext cx="3087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Sobre blanco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097280" y="3657600"/>
            <a:ext cx="3087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Logo en claro.</a:t>
            </a:r>
            <a:endParaRPr lang="en-US" sz="1200" dirty="0"/>
          </a:p>
        </p:txBody>
      </p:sp>
      <p:sp>
        <p:nvSpPr>
          <p:cNvPr id="10" name="Muestra Sobre verde bosque"/>
          <p:cNvSpPr/>
          <p:nvPr/>
        </p:nvSpPr>
        <p:spPr>
          <a:xfrm>
            <a:off x="4276344" y="1691640"/>
            <a:ext cx="3636264" cy="1600200"/>
          </a:xfrm>
          <a:prstGeom prst="rect">
            <a:avLst/>
          </a:prstGeom>
          <a:solidFill>
            <a:srgbClr val="0F3D2E"/>
          </a:solidFill>
          <a:ln w="12700">
            <a:solidFill>
              <a:srgbClr val="0F3D2E"/>
            </a:solidFill>
            <a:prstDash val="solid"/>
          </a:ln>
        </p:spPr>
      </p:sp>
      <p:pic>
        <p:nvPicPr>
          <p:cNvPr id="11" name="Muestra · pelota" descr="Pelota del logo de Pali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2936" y="2208276"/>
            <a:ext cx="566928" cy="566928"/>
          </a:xfrm>
          <a:prstGeom prst="rect">
            <a:avLst/>
          </a:prstGeom>
        </p:spPr>
      </p:pic>
      <p:sp>
        <p:nvSpPr>
          <p:cNvPr id="12" name="Muestra · nombre"/>
          <p:cNvSpPr txBox="1"/>
          <p:nvPr/>
        </p:nvSpPr>
        <p:spPr>
          <a:xfrm>
            <a:off x="5871911" y="2151583"/>
            <a:ext cx="1700784" cy="680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-100" kern="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Pali</a:t>
            </a:r>
            <a:endParaRPr lang="en-US" sz="3800" dirty="0"/>
          </a:p>
        </p:txBody>
      </p:sp>
      <p:sp>
        <p:nvSpPr>
          <p:cNvPr id="13" name="Text 9"/>
          <p:cNvSpPr txBox="1"/>
          <p:nvPr/>
        </p:nvSpPr>
        <p:spPr>
          <a:xfrm>
            <a:off x="4276344" y="340156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SÍ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4733544" y="3355848"/>
            <a:ext cx="3087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Sobre verde bosque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4733544" y="3657600"/>
            <a:ext cx="3087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Logo en oscuro.</a:t>
            </a:r>
            <a:endParaRPr lang="en-US" sz="1200" dirty="0"/>
          </a:p>
        </p:txBody>
      </p:sp>
      <p:sp>
        <p:nvSpPr>
          <p:cNvPr id="16" name="Muestra Sobre menta suave"/>
          <p:cNvSpPr/>
          <p:nvPr/>
        </p:nvSpPr>
        <p:spPr>
          <a:xfrm>
            <a:off x="7912608" y="1691640"/>
            <a:ext cx="3636264" cy="1600200"/>
          </a:xfrm>
          <a:prstGeom prst="rect">
            <a:avLst/>
          </a:prstGeom>
          <a:solidFill>
            <a:srgbClr val="DFEEE6"/>
          </a:solidFill>
          <a:ln w="12700">
            <a:solidFill>
              <a:srgbClr val="DFEEE6"/>
            </a:solidFill>
            <a:prstDash val="solid"/>
          </a:ln>
        </p:spPr>
      </p:sp>
      <p:pic>
        <p:nvPicPr>
          <p:cNvPr id="17" name="Muestra · pelota" descr="Pelota del logo de Pali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9200" y="2208276"/>
            <a:ext cx="566928" cy="566928"/>
          </a:xfrm>
          <a:prstGeom prst="rect">
            <a:avLst/>
          </a:prstGeom>
        </p:spPr>
      </p:pic>
      <p:sp>
        <p:nvSpPr>
          <p:cNvPr id="18" name="Muestra · nombre"/>
          <p:cNvSpPr txBox="1"/>
          <p:nvPr/>
        </p:nvSpPr>
        <p:spPr>
          <a:xfrm>
            <a:off x="9508175" y="2151583"/>
            <a:ext cx="1700784" cy="680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-100" kern="0" dirty="0">
                <a:solidFill>
                  <a:srgbClr val="0F3D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Pali</a:t>
            </a:r>
            <a:endParaRPr lang="en-US" sz="3800" dirty="0"/>
          </a:p>
        </p:txBody>
      </p:sp>
      <p:sp>
        <p:nvSpPr>
          <p:cNvPr id="19" name="Text 14"/>
          <p:cNvSpPr txBox="1"/>
          <p:nvPr/>
        </p:nvSpPr>
        <p:spPr>
          <a:xfrm>
            <a:off x="7912608" y="340156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SÍ</a:t>
            </a:r>
            <a:endParaRPr lang="en-US" sz="1000" dirty="0"/>
          </a:p>
        </p:txBody>
      </p:sp>
      <p:sp>
        <p:nvSpPr>
          <p:cNvPr id="20" name="Text 15"/>
          <p:cNvSpPr txBox="1"/>
          <p:nvPr/>
        </p:nvSpPr>
        <p:spPr>
          <a:xfrm>
            <a:off x="8369808" y="3355848"/>
            <a:ext cx="3087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Sobre menta suave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8369808" y="3657600"/>
            <a:ext cx="3087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Logo en claro; el contraste se mantiene.</a:t>
            </a:r>
            <a:endParaRPr lang="en-US" sz="1200" dirty="0"/>
          </a:p>
        </p:txBody>
      </p:sp>
      <p:sp>
        <p:nvSpPr>
          <p:cNvPr id="22" name="Muestra En el tema oscuro"/>
          <p:cNvSpPr/>
          <p:nvPr/>
        </p:nvSpPr>
        <p:spPr>
          <a:xfrm>
            <a:off x="640080" y="4069080"/>
            <a:ext cx="3636264" cy="1600200"/>
          </a:xfrm>
          <a:prstGeom prst="rect">
            <a:avLst/>
          </a:prstGeom>
          <a:solidFill>
            <a:srgbClr val="0B1511"/>
          </a:solidFill>
          <a:ln w="12700">
            <a:solidFill>
              <a:srgbClr val="0B1511"/>
            </a:solidFill>
            <a:prstDash val="solid"/>
          </a:ln>
        </p:spPr>
      </p:sp>
      <p:pic>
        <p:nvPicPr>
          <p:cNvPr id="23" name="Muestra · pelota" descr="Pelota del logo de Pali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66672" y="4585716"/>
            <a:ext cx="566928" cy="566928"/>
          </a:xfrm>
          <a:prstGeom prst="rect">
            <a:avLst/>
          </a:prstGeom>
        </p:spPr>
      </p:pic>
      <p:sp>
        <p:nvSpPr>
          <p:cNvPr id="24" name="Muestra · nombre"/>
          <p:cNvSpPr txBox="1"/>
          <p:nvPr/>
        </p:nvSpPr>
        <p:spPr>
          <a:xfrm>
            <a:off x="2235647" y="4529023"/>
            <a:ext cx="1700784" cy="680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-100" kern="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Pali</a:t>
            </a:r>
            <a:endParaRPr lang="en-US" sz="38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77900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SÍ</a:t>
            </a:r>
            <a:endParaRPr lang="en-US" sz="1000" dirty="0"/>
          </a:p>
        </p:txBody>
      </p:sp>
      <p:sp>
        <p:nvSpPr>
          <p:cNvPr id="26" name="Text 20"/>
          <p:cNvSpPr txBox="1"/>
          <p:nvPr/>
        </p:nvSpPr>
        <p:spPr>
          <a:xfrm>
            <a:off x="1097280" y="5733288"/>
            <a:ext cx="3087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En el tema oscuro</a:t>
            </a:r>
            <a:endParaRPr lang="en-US" sz="1400" dirty="0"/>
          </a:p>
        </p:txBody>
      </p:sp>
      <p:sp>
        <p:nvSpPr>
          <p:cNvPr id="27" name="Text 21"/>
          <p:cNvSpPr txBox="1"/>
          <p:nvPr/>
        </p:nvSpPr>
        <p:spPr>
          <a:xfrm>
            <a:off x="1097280" y="6035040"/>
            <a:ext cx="3087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Logo en oscuro sobre el fondo casi negro.</a:t>
            </a:r>
            <a:endParaRPr lang="en-US" sz="1200" dirty="0"/>
          </a:p>
        </p:txBody>
      </p:sp>
      <p:sp>
        <p:nvSpPr>
          <p:cNvPr id="28" name="Muestra Con su espacio de respeto"/>
          <p:cNvSpPr/>
          <p:nvPr/>
        </p:nvSpPr>
        <p:spPr>
          <a:xfrm>
            <a:off x="4276344" y="4069080"/>
            <a:ext cx="3636264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CF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4608576" y="4297680"/>
            <a:ext cx="2971800" cy="1143000"/>
          </a:xfrm>
          <a:prstGeom prst="rect">
            <a:avLst/>
          </a:prstGeom>
          <a:ln w="9525">
            <a:solidFill>
              <a:srgbClr val="1F6F57"/>
            </a:solidFill>
            <a:prstDash val="dash"/>
          </a:ln>
        </p:spPr>
      </p:sp>
      <p:pic>
        <p:nvPicPr>
          <p:cNvPr id="30" name="Muestra · pelota" descr="Pelota del logo de Pali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02936" y="4581144"/>
            <a:ext cx="566928" cy="566928"/>
          </a:xfrm>
          <a:prstGeom prst="rect">
            <a:avLst/>
          </a:prstGeom>
        </p:spPr>
      </p:pic>
      <p:sp>
        <p:nvSpPr>
          <p:cNvPr id="31" name="Muestra · nombre"/>
          <p:cNvSpPr txBox="1"/>
          <p:nvPr/>
        </p:nvSpPr>
        <p:spPr>
          <a:xfrm>
            <a:off x="5871911" y="4524451"/>
            <a:ext cx="1700784" cy="680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-100" kern="0" dirty="0">
                <a:solidFill>
                  <a:srgbClr val="0F3D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Pali</a:t>
            </a:r>
            <a:endParaRPr lang="en-US" sz="3800" dirty="0"/>
          </a:p>
        </p:txBody>
      </p:sp>
      <p:sp>
        <p:nvSpPr>
          <p:cNvPr id="32" name="Text 25"/>
          <p:cNvSpPr txBox="1"/>
          <p:nvPr/>
        </p:nvSpPr>
        <p:spPr>
          <a:xfrm>
            <a:off x="4276344" y="577900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SÍ</a:t>
            </a:r>
            <a:endParaRPr lang="en-US" sz="1000" dirty="0"/>
          </a:p>
        </p:txBody>
      </p:sp>
      <p:sp>
        <p:nvSpPr>
          <p:cNvPr id="33" name="Text 26"/>
          <p:cNvSpPr txBox="1"/>
          <p:nvPr/>
        </p:nvSpPr>
        <p:spPr>
          <a:xfrm>
            <a:off x="4733544" y="5733288"/>
            <a:ext cx="3087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 su espacio de respeto</a:t>
            </a:r>
            <a:endParaRPr lang="en-US" sz="1400" dirty="0"/>
          </a:p>
        </p:txBody>
      </p:sp>
      <p:sp>
        <p:nvSpPr>
          <p:cNvPr id="34" name="Text 27"/>
          <p:cNvSpPr txBox="1"/>
          <p:nvPr/>
        </p:nvSpPr>
        <p:spPr>
          <a:xfrm>
            <a:off x="4733544" y="6035040"/>
            <a:ext cx="3087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Sin textos ni bordes pegados.</a:t>
            </a:r>
            <a:endParaRPr lang="en-US" sz="1200" dirty="0"/>
          </a:p>
        </p:txBody>
      </p:sp>
      <p:sp>
        <p:nvSpPr>
          <p:cNvPr id="35" name="Muestra En proporción"/>
          <p:cNvSpPr/>
          <p:nvPr/>
        </p:nvSpPr>
        <p:spPr>
          <a:xfrm>
            <a:off x="7912608" y="4069080"/>
            <a:ext cx="3636264" cy="1600200"/>
          </a:xfrm>
          <a:prstGeom prst="rect">
            <a:avLst/>
          </a:prstGeom>
          <a:solidFill>
            <a:srgbClr val="F5F8F6"/>
          </a:solidFill>
          <a:ln w="9525">
            <a:solidFill>
              <a:srgbClr val="E2EAE5"/>
            </a:solidFill>
            <a:prstDash val="solid"/>
          </a:ln>
        </p:spPr>
      </p:sp>
      <p:pic>
        <p:nvPicPr>
          <p:cNvPr id="36" name="Muestra · pelota" descr="Pelota del logo de Pali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39200" y="4686300"/>
            <a:ext cx="365760" cy="365760"/>
          </a:xfrm>
          <a:prstGeom prst="rect">
            <a:avLst/>
          </a:prstGeom>
        </p:spPr>
      </p:pic>
      <p:sp>
        <p:nvSpPr>
          <p:cNvPr id="37" name="Muestra · nombre"/>
          <p:cNvSpPr txBox="1"/>
          <p:nvPr/>
        </p:nvSpPr>
        <p:spPr>
          <a:xfrm>
            <a:off x="9270797" y="4649724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spc="-100" kern="0" dirty="0">
                <a:solidFill>
                  <a:srgbClr val="0F3D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Pali</a:t>
            </a:r>
            <a:endParaRPr lang="en-US" sz="2500" dirty="0"/>
          </a:p>
        </p:txBody>
      </p:sp>
      <p:sp>
        <p:nvSpPr>
          <p:cNvPr id="38" name="Text 30"/>
          <p:cNvSpPr txBox="1"/>
          <p:nvPr/>
        </p:nvSpPr>
        <p:spPr>
          <a:xfrm>
            <a:off x="7912608" y="577900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SÍ</a:t>
            </a:r>
            <a:endParaRPr lang="en-US" sz="1000" dirty="0"/>
          </a:p>
        </p:txBody>
      </p:sp>
      <p:sp>
        <p:nvSpPr>
          <p:cNvPr id="39" name="Text 31"/>
          <p:cNvSpPr txBox="1"/>
          <p:nvPr/>
        </p:nvSpPr>
        <p:spPr>
          <a:xfrm>
            <a:off x="8369808" y="5733288"/>
            <a:ext cx="3087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En proporción</a:t>
            </a:r>
            <a:endParaRPr lang="en-US" sz="1400" dirty="0"/>
          </a:p>
        </p:txBody>
      </p:sp>
      <p:sp>
        <p:nvSpPr>
          <p:cNvPr id="40" name="Text 32"/>
          <p:cNvSpPr txBox="1"/>
          <p:nvPr/>
        </p:nvSpPr>
        <p:spPr>
          <a:xfrm>
            <a:off x="8369808" y="6035040"/>
            <a:ext cx="3087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 agranda o achica siempre en bloque.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437376"/>
            <a:ext cx="85039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A7B74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— LOGO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640080" y="868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Usos </a:t>
            </a:r>
            <a:pPr algn="l" indent="0" marL="0">
              <a:buNone/>
            </a:pPr>
            <a:r>
              <a:rPr lang="en-US" sz="3600" b="1" dirty="0">
                <a:solidFill>
                  <a:srgbClr val="E553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incorrectos</a:t>
            </a:r>
            <a:endParaRPr lang="en-US" sz="3600" dirty="0"/>
          </a:p>
        </p:txBody>
      </p:sp>
      <p:sp>
        <p:nvSpPr>
          <p:cNvPr id="4" name="Muestra No deformar"/>
          <p:cNvSpPr/>
          <p:nvPr/>
        </p:nvSpPr>
        <p:spPr>
          <a:xfrm>
            <a:off x="640080" y="1691640"/>
            <a:ext cx="3636264" cy="1600200"/>
          </a:xfrm>
          <a:prstGeom prst="rect">
            <a:avLst/>
          </a:prstGeom>
          <a:solidFill>
            <a:srgbClr val="0F3D2E"/>
          </a:solidFill>
          <a:ln w="12700">
            <a:solidFill>
              <a:srgbClr val="0F3D2E"/>
            </a:solidFill>
            <a:prstDash val="solid"/>
          </a:ln>
        </p:spPr>
      </p:sp>
      <p:pic>
        <p:nvPicPr>
          <p:cNvPr id="5" name="Image 0" descr="Pelota deformad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83792" y="2286000"/>
            <a:ext cx="1097280" cy="411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618232" y="214884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spc="600" kern="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Pali</a:t>
            </a:r>
            <a:endParaRPr lang="en-US" sz="3400" dirty="0"/>
          </a:p>
        </p:txBody>
      </p:sp>
      <p:sp>
        <p:nvSpPr>
          <p:cNvPr id="7" name="Tachado"/>
          <p:cNvSpPr/>
          <p:nvPr/>
        </p:nvSpPr>
        <p:spPr>
          <a:xfrm>
            <a:off x="640080" y="1691640"/>
            <a:ext cx="3636264" cy="1600200"/>
          </a:xfrm>
          <a:prstGeom prst="line">
            <a:avLst/>
          </a:prstGeom>
          <a:noFill/>
          <a:ln w="19050">
            <a:solidFill>
              <a:srgbClr val="E5533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340156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553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NO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1097280" y="3355848"/>
            <a:ext cx="3087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deformar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1097280" y="3657600"/>
            <a:ext cx="3087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estirar ni aplastar la pelota ni el nombre.</a:t>
            </a:r>
            <a:endParaRPr lang="en-US" sz="1200" dirty="0"/>
          </a:p>
        </p:txBody>
      </p:sp>
      <p:sp>
        <p:nvSpPr>
          <p:cNvPr id="11" name="Muestra No cambiar los colores"/>
          <p:cNvSpPr/>
          <p:nvPr/>
        </p:nvSpPr>
        <p:spPr>
          <a:xfrm>
            <a:off x="4276344" y="1691640"/>
            <a:ext cx="3636264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CF"/>
            </a:solidFill>
            <a:prstDash val="solid"/>
          </a:ln>
        </p:spPr>
      </p:sp>
      <p:pic>
        <p:nvPicPr>
          <p:cNvPr id="12" name="Image 1" descr="Pelota azu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2936" y="2203704"/>
            <a:ext cx="566928" cy="56692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888736" y="214884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28C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Pali</a:t>
            </a:r>
            <a:endParaRPr lang="en-US" sz="3800" dirty="0"/>
          </a:p>
        </p:txBody>
      </p:sp>
      <p:sp>
        <p:nvSpPr>
          <p:cNvPr id="14" name="Tachado"/>
          <p:cNvSpPr/>
          <p:nvPr/>
        </p:nvSpPr>
        <p:spPr>
          <a:xfrm>
            <a:off x="4276344" y="1691640"/>
            <a:ext cx="3636264" cy="1600200"/>
          </a:xfrm>
          <a:prstGeom prst="line">
            <a:avLst/>
          </a:prstGeom>
          <a:noFill/>
          <a:ln w="19050">
            <a:solidFill>
              <a:srgbClr val="E5533D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276344" y="340156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553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NO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4733544" y="3355848"/>
            <a:ext cx="3087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cambiar los colores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4733544" y="3657600"/>
            <a:ext cx="3087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Solo las versiones definidas.</a:t>
            </a:r>
            <a:endParaRPr lang="en-US" sz="1200" dirty="0"/>
          </a:p>
        </p:txBody>
      </p:sp>
      <p:sp>
        <p:nvSpPr>
          <p:cNvPr id="18" name="Muestra No usar con poco contraste"/>
          <p:cNvSpPr/>
          <p:nvPr/>
        </p:nvSpPr>
        <p:spPr>
          <a:xfrm>
            <a:off x="7912608" y="1691640"/>
            <a:ext cx="3636264" cy="1600200"/>
          </a:xfrm>
          <a:prstGeom prst="rect">
            <a:avLst/>
          </a:prstGeom>
          <a:solidFill>
            <a:srgbClr val="DFEEE6"/>
          </a:solidFill>
          <a:ln w="12700">
            <a:solidFill>
              <a:srgbClr val="DFEEE6"/>
            </a:solidFill>
            <a:prstDash val="solid"/>
          </a:ln>
        </p:spPr>
      </p:sp>
      <p:pic>
        <p:nvPicPr>
          <p:cNvPr id="19" name="Image 2" descr="Pelota con poco contras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9200" y="2203704"/>
            <a:ext cx="566928" cy="566928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9525000" y="214884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A9D6C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Pali</a:t>
            </a:r>
            <a:endParaRPr lang="en-US" sz="3800" dirty="0"/>
          </a:p>
        </p:txBody>
      </p:sp>
      <p:sp>
        <p:nvSpPr>
          <p:cNvPr id="21" name="Tachado"/>
          <p:cNvSpPr/>
          <p:nvPr/>
        </p:nvSpPr>
        <p:spPr>
          <a:xfrm>
            <a:off x="7912608" y="1691640"/>
            <a:ext cx="3636264" cy="1600200"/>
          </a:xfrm>
          <a:prstGeom prst="line">
            <a:avLst/>
          </a:prstGeom>
          <a:noFill/>
          <a:ln w="19050">
            <a:solidFill>
              <a:srgbClr val="E5533D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7912608" y="340156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553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NO</a:t>
            </a:r>
            <a:endParaRPr lang="en-US" sz="1000" dirty="0"/>
          </a:p>
        </p:txBody>
      </p:sp>
      <p:sp>
        <p:nvSpPr>
          <p:cNvPr id="23" name="Text 18"/>
          <p:cNvSpPr txBox="1"/>
          <p:nvPr/>
        </p:nvSpPr>
        <p:spPr>
          <a:xfrm>
            <a:off x="8369808" y="3355848"/>
            <a:ext cx="3087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usar con poco contraste</a:t>
            </a:r>
            <a:endParaRPr lang="en-US" sz="1400" dirty="0"/>
          </a:p>
        </p:txBody>
      </p:sp>
      <p:sp>
        <p:nvSpPr>
          <p:cNvPr id="24" name="Text 19"/>
          <p:cNvSpPr txBox="1"/>
          <p:nvPr/>
        </p:nvSpPr>
        <p:spPr>
          <a:xfrm>
            <a:off x="8369808" y="3657600"/>
            <a:ext cx="3087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Menta sobre menta suave casi no se lee.</a:t>
            </a:r>
            <a:endParaRPr lang="en-US" sz="1200" dirty="0"/>
          </a:p>
        </p:txBody>
      </p:sp>
      <p:sp>
        <p:nvSpPr>
          <p:cNvPr id="25" name="Muestra No rotar ni inclinar"/>
          <p:cNvSpPr/>
          <p:nvPr/>
        </p:nvSpPr>
        <p:spPr>
          <a:xfrm>
            <a:off x="640080" y="4069080"/>
            <a:ext cx="3636264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CF"/>
            </a:solidFill>
            <a:prstDash val="solid"/>
          </a:ln>
        </p:spPr>
      </p:sp>
      <p:pic>
        <p:nvPicPr>
          <p:cNvPr id="26" name="Image 3" descr="Pelota rotad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080000">
            <a:off x="1475232" y="4617720"/>
            <a:ext cx="566928" cy="566928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 rot="1080000">
            <a:off x="2252472" y="452628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3D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Pali</a:t>
            </a:r>
            <a:endParaRPr lang="en-US" sz="3800" dirty="0"/>
          </a:p>
        </p:txBody>
      </p:sp>
      <p:sp>
        <p:nvSpPr>
          <p:cNvPr id="28" name="Tachado"/>
          <p:cNvSpPr/>
          <p:nvPr/>
        </p:nvSpPr>
        <p:spPr>
          <a:xfrm>
            <a:off x="640080" y="4069080"/>
            <a:ext cx="3636264" cy="1600200"/>
          </a:xfrm>
          <a:prstGeom prst="line">
            <a:avLst/>
          </a:prstGeom>
          <a:noFill/>
          <a:ln w="19050">
            <a:solidFill>
              <a:srgbClr val="E5533D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640080" y="577900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553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NO</a:t>
            </a:r>
            <a:endParaRPr lang="en-US" sz="1000" dirty="0"/>
          </a:p>
        </p:txBody>
      </p:sp>
      <p:sp>
        <p:nvSpPr>
          <p:cNvPr id="30" name="Text 24"/>
          <p:cNvSpPr txBox="1"/>
          <p:nvPr/>
        </p:nvSpPr>
        <p:spPr>
          <a:xfrm>
            <a:off x="1097280" y="5733288"/>
            <a:ext cx="3087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rotar ni inclinar</a:t>
            </a:r>
            <a:endParaRPr lang="en-US" sz="1400" dirty="0"/>
          </a:p>
        </p:txBody>
      </p:sp>
      <p:sp>
        <p:nvSpPr>
          <p:cNvPr id="31" name="Text 25"/>
          <p:cNvSpPr txBox="1"/>
          <p:nvPr/>
        </p:nvSpPr>
        <p:spPr>
          <a:xfrm>
            <a:off x="1097280" y="6035040"/>
            <a:ext cx="3087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 logo siempre va horizontal.</a:t>
            </a:r>
            <a:endParaRPr lang="en-US" sz="1200" dirty="0"/>
          </a:p>
        </p:txBody>
      </p:sp>
      <p:sp>
        <p:nvSpPr>
          <p:cNvPr id="32" name="Muestra No sumar sombras ni efectos"/>
          <p:cNvSpPr/>
          <p:nvPr/>
        </p:nvSpPr>
        <p:spPr>
          <a:xfrm>
            <a:off x="4276344" y="4069080"/>
            <a:ext cx="3636264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CF"/>
            </a:solidFill>
            <a:prstDash val="solid"/>
          </a:ln>
        </p:spPr>
      </p:sp>
      <p:pic>
        <p:nvPicPr>
          <p:cNvPr id="33" name="Image 4" descr="Pelota con sombra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57216" y="4480560"/>
            <a:ext cx="777240" cy="777240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6117336" y="4526280"/>
            <a:ext cx="1463040" cy="685800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38100" dir="27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3D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Pali</a:t>
            </a:r>
            <a:endParaRPr lang="en-US" sz="3800" dirty="0"/>
          </a:p>
        </p:txBody>
      </p:sp>
      <p:sp>
        <p:nvSpPr>
          <p:cNvPr id="35" name="Tachado"/>
          <p:cNvSpPr/>
          <p:nvPr/>
        </p:nvSpPr>
        <p:spPr>
          <a:xfrm>
            <a:off x="4276344" y="4069080"/>
            <a:ext cx="3636264" cy="1600200"/>
          </a:xfrm>
          <a:prstGeom prst="line">
            <a:avLst/>
          </a:prstGeom>
          <a:noFill/>
          <a:ln w="19050">
            <a:solidFill>
              <a:srgbClr val="E5533D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4276344" y="577900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553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NO</a:t>
            </a:r>
            <a:endParaRPr lang="en-US" sz="1000" dirty="0"/>
          </a:p>
        </p:txBody>
      </p:sp>
      <p:sp>
        <p:nvSpPr>
          <p:cNvPr id="37" name="Text 30"/>
          <p:cNvSpPr txBox="1"/>
          <p:nvPr/>
        </p:nvSpPr>
        <p:spPr>
          <a:xfrm>
            <a:off x="4733544" y="5733288"/>
            <a:ext cx="3087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sumar sombras ni efectos</a:t>
            </a:r>
            <a:endParaRPr lang="en-US" sz="1400" dirty="0"/>
          </a:p>
        </p:txBody>
      </p:sp>
      <p:sp>
        <p:nvSpPr>
          <p:cNvPr id="38" name="Text 31"/>
          <p:cNvSpPr txBox="1"/>
          <p:nvPr/>
        </p:nvSpPr>
        <p:spPr>
          <a:xfrm>
            <a:off x="4733544" y="6035040"/>
            <a:ext cx="3087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Sin brillos, degradés, contornos ni relieves.</a:t>
            </a:r>
            <a:endParaRPr lang="en-US" sz="1200" dirty="0"/>
          </a:p>
        </p:txBody>
      </p:sp>
      <p:sp>
        <p:nvSpPr>
          <p:cNvPr id="39" name="Muestra No cambiar la tipografía"/>
          <p:cNvSpPr/>
          <p:nvPr/>
        </p:nvSpPr>
        <p:spPr>
          <a:xfrm>
            <a:off x="7912608" y="4069080"/>
            <a:ext cx="3636264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CF"/>
            </a:solidFill>
            <a:prstDash val="solid"/>
          </a:ln>
        </p:spPr>
      </p:sp>
      <p:pic>
        <p:nvPicPr>
          <p:cNvPr id="40" name="Image 5" descr="Pelota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39200" y="4581144"/>
            <a:ext cx="566928" cy="566928"/>
          </a:xfrm>
          <a:prstGeom prst="rect">
            <a:avLst/>
          </a:prstGeom>
        </p:spPr>
      </p:pic>
      <p:sp>
        <p:nvSpPr>
          <p:cNvPr id="41" name="Text 33"/>
          <p:cNvSpPr txBox="1"/>
          <p:nvPr/>
        </p:nvSpPr>
        <p:spPr>
          <a:xfrm>
            <a:off x="9525000" y="452628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i="1" dirty="0">
                <a:solidFill>
                  <a:srgbClr val="0F3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Pali</a:t>
            </a:r>
            <a:endParaRPr lang="en-US" sz="3800" dirty="0"/>
          </a:p>
        </p:txBody>
      </p:sp>
      <p:sp>
        <p:nvSpPr>
          <p:cNvPr id="42" name="Tachado"/>
          <p:cNvSpPr/>
          <p:nvPr/>
        </p:nvSpPr>
        <p:spPr>
          <a:xfrm>
            <a:off x="7912608" y="4069080"/>
            <a:ext cx="3636264" cy="1600200"/>
          </a:xfrm>
          <a:prstGeom prst="line">
            <a:avLst/>
          </a:prstGeom>
          <a:noFill/>
          <a:ln w="19050">
            <a:solidFill>
              <a:srgbClr val="E5533D"/>
            </a:solidFill>
            <a:prstDash val="solid"/>
          </a:ln>
        </p:spPr>
      </p:sp>
      <p:sp>
        <p:nvSpPr>
          <p:cNvPr id="43" name="Text 35"/>
          <p:cNvSpPr txBox="1"/>
          <p:nvPr/>
        </p:nvSpPr>
        <p:spPr>
          <a:xfrm>
            <a:off x="7912608" y="577900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553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NO</a:t>
            </a:r>
            <a:endParaRPr lang="en-US" sz="1000" dirty="0"/>
          </a:p>
        </p:txBody>
      </p:sp>
      <p:sp>
        <p:nvSpPr>
          <p:cNvPr id="44" name="Text 36"/>
          <p:cNvSpPr txBox="1"/>
          <p:nvPr/>
        </p:nvSpPr>
        <p:spPr>
          <a:xfrm>
            <a:off x="8369808" y="5733288"/>
            <a:ext cx="3087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cambiar la tipografía</a:t>
            </a:r>
            <a:endParaRPr lang="en-US" sz="1400" dirty="0"/>
          </a:p>
        </p:txBody>
      </p:sp>
      <p:sp>
        <p:nvSpPr>
          <p:cNvPr id="45" name="Text 37"/>
          <p:cNvSpPr txBox="1"/>
          <p:nvPr/>
        </p:nvSpPr>
        <p:spPr>
          <a:xfrm>
            <a:off x="8369808" y="6035040"/>
            <a:ext cx="3087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 nombre va siempre en IBM Plex Sans.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437376"/>
            <a:ext cx="85039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A7B74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a 0F3D2E"/>
          <p:cNvSpPr/>
          <p:nvPr/>
        </p:nvSpPr>
        <p:spPr>
          <a:xfrm>
            <a:off x="0" y="0"/>
            <a:ext cx="6583680" cy="6858000"/>
          </a:xfrm>
          <a:prstGeom prst="rect">
            <a:avLst/>
          </a:prstGeom>
          <a:solidFill>
            <a:srgbClr val="0F3D2E"/>
          </a:solidFill>
          <a:ln w="12700">
            <a:solidFill>
              <a:srgbClr val="0F3D2E"/>
            </a:solidFill>
            <a:prstDash val="solid"/>
          </a:ln>
        </p:spPr>
      </p:sp>
      <p:sp>
        <p:nvSpPr>
          <p:cNvPr id="3" name="Banda 1F6F57"/>
          <p:cNvSpPr/>
          <p:nvPr/>
        </p:nvSpPr>
        <p:spPr>
          <a:xfrm>
            <a:off x="6583680" y="0"/>
            <a:ext cx="1554480" cy="6858000"/>
          </a:xfrm>
          <a:prstGeom prst="rect">
            <a:avLst/>
          </a:prstGeom>
          <a:solidFill>
            <a:srgbClr val="1F6F57"/>
          </a:solidFill>
          <a:ln w="12700">
            <a:solidFill>
              <a:srgbClr val="1F6F57"/>
            </a:solidFill>
            <a:prstDash val="solid"/>
          </a:ln>
        </p:spPr>
      </p:sp>
      <p:sp>
        <p:nvSpPr>
          <p:cNvPr id="4" name="Banda A9D6C4"/>
          <p:cNvSpPr/>
          <p:nvPr/>
        </p:nvSpPr>
        <p:spPr>
          <a:xfrm>
            <a:off x="8138160" y="0"/>
            <a:ext cx="1005840" cy="6858000"/>
          </a:xfrm>
          <a:prstGeom prst="rect">
            <a:avLst/>
          </a:prstGeom>
          <a:solidFill>
            <a:srgbClr val="A9D6C4"/>
          </a:solidFill>
          <a:ln w="12700">
            <a:solidFill>
              <a:srgbClr val="A9D6C4"/>
            </a:solidFill>
            <a:prstDash val="solid"/>
          </a:ln>
        </p:spPr>
      </p:sp>
      <p:sp>
        <p:nvSpPr>
          <p:cNvPr id="5" name="Banda 6BAEE8"/>
          <p:cNvSpPr/>
          <p:nvPr/>
        </p:nvSpPr>
        <p:spPr>
          <a:xfrm>
            <a:off x="9144000" y="0"/>
            <a:ext cx="1005840" cy="6858000"/>
          </a:xfrm>
          <a:prstGeom prst="rect">
            <a:avLst/>
          </a:prstGeom>
          <a:solidFill>
            <a:srgbClr val="6BAEE8"/>
          </a:solidFill>
          <a:ln w="12700">
            <a:solidFill>
              <a:srgbClr val="6BAEE8"/>
            </a:solidFill>
            <a:prstDash val="solid"/>
          </a:ln>
        </p:spPr>
      </p:sp>
      <p:sp>
        <p:nvSpPr>
          <p:cNvPr id="6" name="Banda 9C8DDD"/>
          <p:cNvSpPr/>
          <p:nvPr/>
        </p:nvSpPr>
        <p:spPr>
          <a:xfrm>
            <a:off x="10149840" y="0"/>
            <a:ext cx="1005840" cy="6858000"/>
          </a:xfrm>
          <a:prstGeom prst="rect">
            <a:avLst/>
          </a:prstGeom>
          <a:solidFill>
            <a:srgbClr val="9C8DDD"/>
          </a:solidFill>
          <a:ln w="12700">
            <a:solidFill>
              <a:srgbClr val="9C8DDD"/>
            </a:solidFill>
            <a:prstDash val="solid"/>
          </a:ln>
        </p:spPr>
      </p:sp>
      <p:sp>
        <p:nvSpPr>
          <p:cNvPr id="7" name="Banda FFFFFF"/>
          <p:cNvSpPr/>
          <p:nvPr/>
        </p:nvSpPr>
        <p:spPr>
          <a:xfrm>
            <a:off x="11155680" y="0"/>
            <a:ext cx="103601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5486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 /  05</a:t>
            </a:r>
            <a:endParaRPr lang="en-US" sz="1200" dirty="0"/>
          </a:p>
        </p:txBody>
      </p:sp>
      <p:sp>
        <p:nvSpPr>
          <p:cNvPr id="9" name="Text 0"/>
          <p:cNvSpPr/>
          <p:nvPr>
            <p:ph idx="100" type="title" hasCustomPrompt="1"/>
          </p:nvPr>
        </p:nvSpPr>
        <p:spPr>
          <a:xfrm>
            <a:off x="594360" y="3429000"/>
            <a:ext cx="10972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spc="-500" kern="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Color</a:t>
            </a:r>
            <a:endParaRPr lang="en-US" sz="130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5669280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9D6C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Una paleta corta y reconocible: verde, blanco y negro verdoso, con azul cielo y lavanda de apoyo y un solo coral.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— COLOR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Colores </a:t>
            </a:r>
            <a:pPr indent="0" marL="0">
              <a:buNone/>
            </a:pPr>
            <a:r>
              <a:rPr lang="en-US" sz="3600" b="1" dirty="0">
                <a:solidFill>
                  <a:srgbClr val="1F6F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primarios</a:t>
            </a:r>
            <a:endParaRPr lang="en-US" sz="3600" dirty="0"/>
          </a:p>
        </p:txBody>
      </p:sp>
      <p:sp>
        <p:nvSpPr>
          <p:cNvPr id="4" name="Primario Verde bosque"/>
          <p:cNvSpPr/>
          <p:nvPr/>
        </p:nvSpPr>
        <p:spPr>
          <a:xfrm>
            <a:off x="0" y="1828800"/>
            <a:ext cx="4846320" cy="5029200"/>
          </a:xfrm>
          <a:prstGeom prst="rect">
            <a:avLst/>
          </a:prstGeom>
          <a:solidFill>
            <a:srgbClr val="0F3D2E"/>
          </a:solidFill>
          <a:ln w="12700">
            <a:solidFill>
              <a:srgbClr val="0F3D2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74320" y="21031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" y="384048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Verde bosque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274320" y="475488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#0F3D2E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74320" y="5029200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RGB 15 · 61 · 46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274320" y="5285232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--forest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274320" y="5669280"/>
            <a:ext cx="4343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Barra lateral, botón oscuro y turno completo.</a:t>
            </a:r>
            <a:endParaRPr lang="en-US" sz="1300" dirty="0"/>
          </a:p>
        </p:txBody>
      </p:sp>
      <p:sp>
        <p:nvSpPr>
          <p:cNvPr id="11" name="Primario Verde de marca"/>
          <p:cNvSpPr/>
          <p:nvPr/>
        </p:nvSpPr>
        <p:spPr>
          <a:xfrm>
            <a:off x="4846320" y="1828800"/>
            <a:ext cx="3108960" cy="5029200"/>
          </a:xfrm>
          <a:prstGeom prst="rect">
            <a:avLst/>
          </a:prstGeom>
          <a:solidFill>
            <a:srgbClr val="1F6F57"/>
          </a:solidFill>
          <a:ln w="12700">
            <a:solidFill>
              <a:srgbClr val="1F6F5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120640" y="21031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DFEE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120640" y="38404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Verde de marca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5120640" y="47548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#1F6F57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120640" y="50292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DFEE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RGB 31 · 111 · 87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5120640" y="528523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DFEE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--brand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5120640" y="566928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Acción principal, enlaces y foco.</a:t>
            </a:r>
            <a:endParaRPr lang="en-US" sz="1300" dirty="0"/>
          </a:p>
        </p:txBody>
      </p:sp>
      <p:sp>
        <p:nvSpPr>
          <p:cNvPr id="18" name="Primario Blanco"/>
          <p:cNvSpPr/>
          <p:nvPr/>
        </p:nvSpPr>
        <p:spPr>
          <a:xfrm>
            <a:off x="7955280" y="1828800"/>
            <a:ext cx="2377440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Filete vertical"/>
          <p:cNvSpPr/>
          <p:nvPr/>
        </p:nvSpPr>
        <p:spPr>
          <a:xfrm>
            <a:off x="7955280" y="1828800"/>
            <a:ext cx="0" cy="5029200"/>
          </a:xfrm>
          <a:prstGeom prst="line">
            <a:avLst/>
          </a:prstGeom>
          <a:noFill/>
          <a:ln w="9525">
            <a:solidFill>
              <a:srgbClr val="CAD6C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29600" y="21031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0" y="384048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Blanco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0" y="4754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#FFFFFF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0" y="502920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RGB 255 · 255 · 255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229600" y="5285232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--white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8229600" y="5669280"/>
            <a:ext cx="1874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Fondo y superficies de trabajo.</a:t>
            </a:r>
            <a:endParaRPr lang="en-US" sz="1300" dirty="0"/>
          </a:p>
        </p:txBody>
      </p:sp>
      <p:sp>
        <p:nvSpPr>
          <p:cNvPr id="26" name="Primario Negro verdoso"/>
          <p:cNvSpPr/>
          <p:nvPr/>
        </p:nvSpPr>
        <p:spPr>
          <a:xfrm>
            <a:off x="10332720" y="1828800"/>
            <a:ext cx="1856232" cy="5029200"/>
          </a:xfrm>
          <a:prstGeom prst="rect">
            <a:avLst/>
          </a:prstGeom>
          <a:solidFill>
            <a:srgbClr val="0D1F18"/>
          </a:solidFill>
          <a:ln w="12700">
            <a:solidFill>
              <a:srgbClr val="0D1F1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607040" y="21031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10607040" y="3840480"/>
            <a:ext cx="1399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Negro verdoso</a:t>
            </a:r>
            <a:endParaRPr lang="en-US" sz="2000" dirty="0"/>
          </a:p>
        </p:txBody>
      </p:sp>
      <p:sp>
        <p:nvSpPr>
          <p:cNvPr id="29" name="Text 27"/>
          <p:cNvSpPr txBox="1"/>
          <p:nvPr/>
        </p:nvSpPr>
        <p:spPr>
          <a:xfrm>
            <a:off x="10607040" y="4754880"/>
            <a:ext cx="1399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#0D1F18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607040" y="5029200"/>
            <a:ext cx="1490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RGB 13 · 31 · 24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10607040" y="5285232"/>
            <a:ext cx="13990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--ink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10607040" y="5669280"/>
            <a:ext cx="13533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Texto principal.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— COLOR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Colores secundarios </a:t>
            </a:r>
            <a:pPr indent="0" marL="0">
              <a:buNone/>
            </a:pPr>
            <a:r>
              <a:rPr lang="en-US" sz="3600" b="1" dirty="0">
                <a:solidFill>
                  <a:srgbClr val="1F6F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y de apoyo</a:t>
            </a:r>
            <a:endParaRPr lang="en-US" sz="3600" dirty="0"/>
          </a:p>
        </p:txBody>
      </p:sp>
      <p:sp>
        <p:nvSpPr>
          <p:cNvPr id="4" name="Franja Menta"/>
          <p:cNvSpPr/>
          <p:nvPr/>
        </p:nvSpPr>
        <p:spPr>
          <a:xfrm>
            <a:off x="0" y="1828800"/>
            <a:ext cx="12191695" cy="868680"/>
          </a:xfrm>
          <a:prstGeom prst="rect">
            <a:avLst/>
          </a:prstGeom>
          <a:solidFill>
            <a:srgbClr val="A9D6C4"/>
          </a:solidFill>
          <a:ln w="12700">
            <a:solidFill>
              <a:srgbClr val="A9D6C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20802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Menta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3566160" y="203454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#A9D6C4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228142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4354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RGB 169 · 214 · 196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7498080" y="215341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4354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--mint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9052560" y="20802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Ítem activo y acentos sobre verde bosque.</a:t>
            </a:r>
            <a:endParaRPr lang="en-US" sz="1200" dirty="0"/>
          </a:p>
        </p:txBody>
      </p:sp>
      <p:sp>
        <p:nvSpPr>
          <p:cNvPr id="10" name="Franja Menta suave"/>
          <p:cNvSpPr/>
          <p:nvPr/>
        </p:nvSpPr>
        <p:spPr>
          <a:xfrm>
            <a:off x="0" y="2697480"/>
            <a:ext cx="12191695" cy="868680"/>
          </a:xfrm>
          <a:prstGeom prst="rect">
            <a:avLst/>
          </a:prstGeom>
          <a:solidFill>
            <a:srgbClr val="DFEEE6"/>
          </a:solidFill>
          <a:ln w="12700">
            <a:solidFill>
              <a:srgbClr val="DFEEE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29489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Menta suave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566160" y="290322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#DFEEE6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3566160" y="315010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4354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RGB 223 · 238 · 230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7498080" y="302209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4354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--mint-soft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9052560" y="29489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Panel de encabezado de página.</a:t>
            </a:r>
            <a:endParaRPr lang="en-US" sz="1200" dirty="0"/>
          </a:p>
        </p:txBody>
      </p:sp>
      <p:sp>
        <p:nvSpPr>
          <p:cNvPr id="16" name="Franja Verde suave"/>
          <p:cNvSpPr/>
          <p:nvPr/>
        </p:nvSpPr>
        <p:spPr>
          <a:xfrm>
            <a:off x="0" y="3566160"/>
            <a:ext cx="12191695" cy="777240"/>
          </a:xfrm>
          <a:prstGeom prst="rect">
            <a:avLst/>
          </a:prstGeom>
          <a:solidFill>
            <a:srgbClr val="E8F4EE"/>
          </a:solidFill>
          <a:ln w="12700">
            <a:solidFill>
              <a:srgbClr val="E8F4E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37719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Verde suave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3566160" y="372618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#E8F4EE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3566160" y="397306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4354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RGB 232 · 244 · 238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7498080" y="384505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4354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--brand-soft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9052560" y="37719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Fondo de “reservado” y chips suaves.</a:t>
            </a:r>
            <a:endParaRPr lang="en-US" sz="1200" dirty="0"/>
          </a:p>
        </p:txBody>
      </p:sp>
      <p:sp>
        <p:nvSpPr>
          <p:cNvPr id="22" name="Franja Crema"/>
          <p:cNvSpPr/>
          <p:nvPr/>
        </p:nvSpPr>
        <p:spPr>
          <a:xfrm>
            <a:off x="0" y="4343400"/>
            <a:ext cx="12191695" cy="685800"/>
          </a:xfrm>
          <a:prstGeom prst="rect">
            <a:avLst/>
          </a:prstGeom>
          <a:solidFill>
            <a:srgbClr val="F6EFE6"/>
          </a:solidFill>
          <a:ln w="12700">
            <a:solidFill>
              <a:srgbClr val="F6EF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0080" y="45034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Crema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3566160" y="445770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#F6EFE6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3566160" y="470458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4354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RGB 246 · 239 · 230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7498080" y="457657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4354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--cream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9052560" y="45034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Superficie cálida reservada, sin uso hoy.</a:t>
            </a:r>
            <a:endParaRPr lang="en-US" sz="1200" dirty="0"/>
          </a:p>
        </p:txBody>
      </p:sp>
      <p:sp>
        <p:nvSpPr>
          <p:cNvPr id="28" name="Franja Coral"/>
          <p:cNvSpPr/>
          <p:nvPr/>
        </p:nvSpPr>
        <p:spPr>
          <a:xfrm>
            <a:off x="0" y="5029200"/>
            <a:ext cx="12191695" cy="777240"/>
          </a:xfrm>
          <a:prstGeom prst="rect">
            <a:avLst/>
          </a:prstGeom>
          <a:solidFill>
            <a:srgbClr val="E5533D"/>
          </a:solidFill>
          <a:ln w="12700">
            <a:solidFill>
              <a:srgbClr val="E5533D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0080" y="52349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Coral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3566160" y="518922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#E5533D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3566160" y="543610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DFEE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RGB 229 · 83 · 61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7498080" y="530809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DFEE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--coral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9052560" y="52349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Solo cancelar y estados negativos.</a:t>
            </a:r>
            <a:endParaRPr lang="en-US" sz="1200" dirty="0"/>
          </a:p>
        </p:txBody>
      </p:sp>
      <p:sp>
        <p:nvSpPr>
          <p:cNvPr id="34" name="Franja Grises de texto"/>
          <p:cNvSpPr/>
          <p:nvPr/>
        </p:nvSpPr>
        <p:spPr>
          <a:xfrm>
            <a:off x="0" y="5806440"/>
            <a:ext cx="12191695" cy="685800"/>
          </a:xfrm>
          <a:prstGeom prst="rect">
            <a:avLst/>
          </a:prstGeom>
          <a:solidFill>
            <a:srgbClr val="43544D"/>
          </a:solidFill>
          <a:ln w="12700">
            <a:solidFill>
              <a:srgbClr val="43544D"/>
            </a:solidFill>
            <a:prstDash val="solid"/>
          </a:ln>
        </p:spPr>
      </p:sp>
      <p:sp>
        <p:nvSpPr>
          <p:cNvPr id="35" name="Franja mute"/>
          <p:cNvSpPr/>
          <p:nvPr/>
        </p:nvSpPr>
        <p:spPr>
          <a:xfrm>
            <a:off x="7315200" y="5806440"/>
            <a:ext cx="4876495" cy="685800"/>
          </a:xfrm>
          <a:prstGeom prst="rect">
            <a:avLst/>
          </a:prstGeom>
          <a:solidFill>
            <a:srgbClr val="6A7B74"/>
          </a:solidFill>
          <a:ln w="12700">
            <a:solidFill>
              <a:srgbClr val="6A7B74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40080" y="59664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Grises de texto</a:t>
            </a:r>
            <a:endParaRPr lang="en-US" sz="1800" dirty="0"/>
          </a:p>
        </p:txBody>
      </p:sp>
      <p:sp>
        <p:nvSpPr>
          <p:cNvPr id="37" name="Text 35"/>
          <p:cNvSpPr txBox="1"/>
          <p:nvPr/>
        </p:nvSpPr>
        <p:spPr>
          <a:xfrm>
            <a:off x="3566160" y="592074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#43544D  /  #6A7B74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3566160" y="616762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DFEE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RGB 67 · 84 · 77  /  106 · 123 · 116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7498080" y="603961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DFEE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--ink-2  /  --mute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9052560" y="59664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Texto secundario y de apoyo.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— COLOR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Azul cielo </a:t>
            </a:r>
            <a:pPr indent="0" marL="0">
              <a:buNone/>
            </a:pPr>
            <a:r>
              <a:rPr lang="en-US" sz="3600" b="1" dirty="0">
                <a:solidFill>
                  <a:srgbClr val="1F6F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y lavanda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492240" y="868680"/>
            <a:ext cx="5056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Dos colores fríos para lo que el verde no cubre: datos, comparaciones, promos y novedades. Ninguno sirve para cancelar ni reemplaza al verde en la acción.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2024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INTERMEDIO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21284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Azul cielo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7889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Datos, comparaciones e información.</a:t>
            </a:r>
            <a:endParaRPr lang="en-US" sz="1300" dirty="0"/>
          </a:p>
        </p:txBody>
      </p:sp>
      <p:sp>
        <p:nvSpPr>
          <p:cNvPr id="8" name="Azul cielo 700"/>
          <p:cNvSpPr/>
          <p:nvPr/>
        </p:nvSpPr>
        <p:spPr>
          <a:xfrm>
            <a:off x="3291840" y="1920240"/>
            <a:ext cx="1779971" cy="1920240"/>
          </a:xfrm>
          <a:prstGeom prst="rect">
            <a:avLst/>
          </a:prstGeom>
          <a:solidFill>
            <a:srgbClr val="1B4F8E"/>
          </a:solidFill>
          <a:ln w="12700">
            <a:solidFill>
              <a:srgbClr val="1B4F8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74720" y="21031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700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2971800"/>
            <a:ext cx="150565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#1B4F8E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474720" y="3291840"/>
            <a:ext cx="145993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Texto sobre celeste</a:t>
            </a:r>
            <a:endParaRPr lang="en-US" sz="1100" dirty="0"/>
          </a:p>
        </p:txBody>
      </p:sp>
      <p:sp>
        <p:nvSpPr>
          <p:cNvPr id="12" name="Azul cielo 600"/>
          <p:cNvSpPr/>
          <p:nvPr/>
        </p:nvSpPr>
        <p:spPr>
          <a:xfrm>
            <a:off x="5071811" y="1920240"/>
            <a:ext cx="1779971" cy="1920240"/>
          </a:xfrm>
          <a:prstGeom prst="rect">
            <a:avLst/>
          </a:prstGeom>
          <a:solidFill>
            <a:srgbClr val="2F6FC0"/>
          </a:solidFill>
          <a:ln w="12700">
            <a:solidFill>
              <a:srgbClr val="2F6FC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254691" y="21031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600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254691" y="2971800"/>
            <a:ext cx="150565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#2F6FC0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254691" y="3291840"/>
            <a:ext cx="145993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Texto y líneas · 5,1 : 1</a:t>
            </a:r>
            <a:endParaRPr lang="en-US" sz="1100" dirty="0"/>
          </a:p>
        </p:txBody>
      </p:sp>
      <p:sp>
        <p:nvSpPr>
          <p:cNvPr id="16" name="Azul cielo 400 · PRINCIPAL"/>
          <p:cNvSpPr/>
          <p:nvPr/>
        </p:nvSpPr>
        <p:spPr>
          <a:xfrm>
            <a:off x="6851782" y="1920240"/>
            <a:ext cx="1779971" cy="1920240"/>
          </a:xfrm>
          <a:prstGeom prst="rect">
            <a:avLst/>
          </a:prstGeom>
          <a:solidFill>
            <a:srgbClr val="6BAEE8"/>
          </a:solidFill>
          <a:ln w="12700">
            <a:solidFill>
              <a:srgbClr val="6BAEE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034662" y="21031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400 · PRINCIPAL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7034662" y="2971800"/>
            <a:ext cx="150565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#6BAEE8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034662" y="3291840"/>
            <a:ext cx="145993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Series y relleno</a:t>
            </a:r>
            <a:endParaRPr lang="en-US" sz="1100" dirty="0"/>
          </a:p>
        </p:txBody>
      </p:sp>
      <p:sp>
        <p:nvSpPr>
          <p:cNvPr id="20" name="Azul cielo 100"/>
          <p:cNvSpPr/>
          <p:nvPr/>
        </p:nvSpPr>
        <p:spPr>
          <a:xfrm>
            <a:off x="8631753" y="1920240"/>
            <a:ext cx="1779971" cy="1920240"/>
          </a:xfrm>
          <a:prstGeom prst="rect">
            <a:avLst/>
          </a:prstGeom>
          <a:solidFill>
            <a:srgbClr val="BFDDF7"/>
          </a:solidFill>
          <a:ln w="12700">
            <a:solidFill>
              <a:srgbClr val="BFDDF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814633" y="21031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100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8814633" y="2971800"/>
            <a:ext cx="150565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#BFDDF7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814633" y="3291840"/>
            <a:ext cx="145993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Fondos</a:t>
            </a:r>
            <a:endParaRPr lang="en-US" sz="1100" dirty="0"/>
          </a:p>
        </p:txBody>
      </p:sp>
      <p:sp>
        <p:nvSpPr>
          <p:cNvPr id="24" name="Azul cielo 50"/>
          <p:cNvSpPr/>
          <p:nvPr/>
        </p:nvSpPr>
        <p:spPr>
          <a:xfrm>
            <a:off x="10411724" y="1920240"/>
            <a:ext cx="1779971" cy="1920240"/>
          </a:xfrm>
          <a:prstGeom prst="rect">
            <a:avLst/>
          </a:prstGeom>
          <a:solidFill>
            <a:srgbClr val="E8F2FC"/>
          </a:solidFill>
          <a:ln w="9525">
            <a:solidFill>
              <a:srgbClr val="E2EAE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0594604" y="21031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50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10594604" y="2971800"/>
            <a:ext cx="150565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#E8F2FC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594604" y="3291840"/>
            <a:ext cx="145993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Fondos suaves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416052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 DETALLE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640080" y="445312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Lavanda</a:t>
            </a:r>
            <a:endParaRPr lang="en-US" sz="2400" dirty="0"/>
          </a:p>
        </p:txBody>
      </p:sp>
      <p:sp>
        <p:nvSpPr>
          <p:cNvPr id="30" name="Text 28"/>
          <p:cNvSpPr txBox="1"/>
          <p:nvPr/>
        </p:nvSpPr>
        <p:spPr>
          <a:xfrm>
            <a:off x="640080" y="50292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Promos, novedades y acentos puntuales.</a:t>
            </a:r>
            <a:endParaRPr lang="en-US" sz="1300" dirty="0"/>
          </a:p>
        </p:txBody>
      </p:sp>
      <p:sp>
        <p:nvSpPr>
          <p:cNvPr id="31" name="Lavanda 700"/>
          <p:cNvSpPr/>
          <p:nvPr/>
        </p:nvSpPr>
        <p:spPr>
          <a:xfrm>
            <a:off x="3291840" y="4160520"/>
            <a:ext cx="2224964" cy="1920240"/>
          </a:xfrm>
          <a:prstGeom prst="rect">
            <a:avLst/>
          </a:prstGeom>
          <a:solidFill>
            <a:srgbClr val="4A3C8C"/>
          </a:solidFill>
          <a:ln w="12700">
            <a:solidFill>
              <a:srgbClr val="4A3C8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474720" y="43434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700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3474720" y="5212080"/>
            <a:ext cx="19506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#4A3C8C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3474720" y="5532120"/>
            <a:ext cx="19049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Texto · 9,1 : 1</a:t>
            </a:r>
            <a:endParaRPr lang="en-US" sz="1100" dirty="0"/>
          </a:p>
        </p:txBody>
      </p:sp>
      <p:sp>
        <p:nvSpPr>
          <p:cNvPr id="35" name="Lavanda 500 · PRINCIPAL"/>
          <p:cNvSpPr/>
          <p:nvPr/>
        </p:nvSpPr>
        <p:spPr>
          <a:xfrm>
            <a:off x="5516804" y="4160520"/>
            <a:ext cx="2224964" cy="1920240"/>
          </a:xfrm>
          <a:prstGeom prst="rect">
            <a:avLst/>
          </a:prstGeom>
          <a:solidFill>
            <a:srgbClr val="9C8DDD"/>
          </a:solidFill>
          <a:ln w="12700">
            <a:solidFill>
              <a:srgbClr val="9C8DDD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699684" y="43434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500 · PRINCIPAL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5699684" y="5212080"/>
            <a:ext cx="19506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#9C8DDD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5699684" y="5532120"/>
            <a:ext cx="19049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Relleno con texto oscuro · 5,9 : 1</a:t>
            </a:r>
            <a:endParaRPr lang="en-US" sz="1100" dirty="0"/>
          </a:p>
        </p:txBody>
      </p:sp>
      <p:sp>
        <p:nvSpPr>
          <p:cNvPr id="39" name="Lavanda 100"/>
          <p:cNvSpPr/>
          <p:nvPr/>
        </p:nvSpPr>
        <p:spPr>
          <a:xfrm>
            <a:off x="7741768" y="4160520"/>
            <a:ext cx="2224964" cy="1920240"/>
          </a:xfrm>
          <a:prstGeom prst="rect">
            <a:avLst/>
          </a:prstGeom>
          <a:solidFill>
            <a:srgbClr val="E4DFF7"/>
          </a:solidFill>
          <a:ln w="12700">
            <a:solidFill>
              <a:srgbClr val="E4DFF7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924648" y="43434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4A3C8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100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7924648" y="5212080"/>
            <a:ext cx="19506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3C8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#E4DFF7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7924648" y="5532120"/>
            <a:ext cx="19049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3C8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Fondos</a:t>
            </a:r>
            <a:endParaRPr lang="en-US" sz="1100" dirty="0"/>
          </a:p>
        </p:txBody>
      </p:sp>
      <p:sp>
        <p:nvSpPr>
          <p:cNvPr id="43" name="Lavanda 50"/>
          <p:cNvSpPr/>
          <p:nvPr/>
        </p:nvSpPr>
        <p:spPr>
          <a:xfrm>
            <a:off x="9966731" y="4160520"/>
            <a:ext cx="2224964" cy="1920240"/>
          </a:xfrm>
          <a:prstGeom prst="rect">
            <a:avLst/>
          </a:prstGeom>
          <a:solidFill>
            <a:srgbClr val="F1EEFB"/>
          </a:solidFill>
          <a:ln w="9525">
            <a:solidFill>
              <a:srgbClr val="E2EAE5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10149611" y="43434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4A3C8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50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10149611" y="5212080"/>
            <a:ext cx="19506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3C8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#F1EEFB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10149611" y="5532120"/>
            <a:ext cx="19049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3C8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Fondos suaves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— COLOR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640080" y="868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Dónde viven </a:t>
            </a:r>
            <a:pPr algn="l" indent="0" marL="0">
              <a:buNone/>
            </a:pPr>
            <a:r>
              <a:rPr lang="en-US" sz="3600" b="1" dirty="0">
                <a:solidFill>
                  <a:srgbClr val="1F6F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 azul y la lavanda</a:t>
            </a:r>
            <a:endParaRPr lang="en-US" sz="3600" dirty="0"/>
          </a:p>
        </p:txBody>
      </p:sp>
      <p:sp>
        <p:nvSpPr>
          <p:cNvPr id="4" name="Panel AZUL CIELO · DATOS E INFORMACIÓN"/>
          <p:cNvSpPr/>
          <p:nvPr/>
        </p:nvSpPr>
        <p:spPr>
          <a:xfrm>
            <a:off x="640080" y="1691640"/>
            <a:ext cx="5271516" cy="3383280"/>
          </a:xfrm>
          <a:prstGeom prst="rect">
            <a:avLst/>
          </a:prstGeom>
          <a:solidFill>
            <a:srgbClr val="E8F2FC"/>
          </a:solidFill>
          <a:ln w="12700">
            <a:solidFill>
              <a:srgbClr val="E8F2F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874520"/>
            <a:ext cx="47228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B4F8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AZUL CIELO · DATOS E INFORMACIÓN</a:t>
            </a:r>
            <a:endParaRPr lang="en-US" sz="1000" dirty="0"/>
          </a:p>
        </p:txBody>
      </p:sp>
      <p:sp>
        <p:nvSpPr>
          <p:cNvPr id="6" name="Panel LAVANDA · DETALLE"/>
          <p:cNvSpPr/>
          <p:nvPr/>
        </p:nvSpPr>
        <p:spPr>
          <a:xfrm>
            <a:off x="6277356" y="1691640"/>
            <a:ext cx="5271516" cy="3383280"/>
          </a:xfrm>
          <a:prstGeom prst="rect">
            <a:avLst/>
          </a:prstGeom>
          <a:solidFill>
            <a:srgbClr val="F1EEFB"/>
          </a:solidFill>
          <a:ln w="12700">
            <a:solidFill>
              <a:srgbClr val="F1EEF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1676" y="1874520"/>
            <a:ext cx="47228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4A3C8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LAVANDA · DETALLE</a:t>
            </a:r>
            <a:endParaRPr lang="en-US" sz="1000" dirty="0"/>
          </a:p>
        </p:txBody>
      </p:sp>
      <p:sp>
        <p:nvSpPr>
          <p:cNvPr id="8" name="Chip Cancha 1 · 4 veces"/>
          <p:cNvSpPr/>
          <p:nvPr/>
        </p:nvSpPr>
        <p:spPr>
          <a:xfrm>
            <a:off x="914400" y="2331720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E8F2FC"/>
          </a:solidFill>
          <a:ln w="9525">
            <a:solidFill>
              <a:srgbClr val="BFDD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4400" y="233172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4F8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Cancha 1 · 4 veces</a:t>
            </a:r>
            <a:endParaRPr lang="en-US" sz="1000" dirty="0"/>
          </a:p>
        </p:txBody>
      </p:sp>
      <p:sp>
        <p:nvSpPr>
          <p:cNvPr id="10" name="Chip Precio base"/>
          <p:cNvSpPr/>
          <p:nvPr/>
        </p:nvSpPr>
        <p:spPr>
          <a:xfrm>
            <a:off x="2788920" y="2331720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E8F2FC"/>
          </a:solidFill>
          <a:ln w="9525">
            <a:solidFill>
              <a:srgbClr val="BFDD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788920" y="2331720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4F8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Precio base</a:t>
            </a:r>
            <a:endParaRPr lang="en-US" sz="1000" dirty="0"/>
          </a:p>
        </p:txBody>
      </p:sp>
      <p:sp>
        <p:nvSpPr>
          <p:cNvPr id="12" name="Chip Total $ 770.000"/>
          <p:cNvSpPr/>
          <p:nvPr/>
        </p:nvSpPr>
        <p:spPr>
          <a:xfrm>
            <a:off x="4160520" y="2331720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E8F2FC"/>
          </a:solidFill>
          <a:ln w="9525">
            <a:solidFill>
              <a:srgbClr val="BFDD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160520" y="233172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4F8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Total $ 770.000</a:t>
            </a:r>
            <a:endParaRPr lang="en-US" sz="1000" dirty="0"/>
          </a:p>
        </p:txBody>
      </p:sp>
      <p:sp>
        <p:nvSpPr>
          <p:cNvPr id="14" name="Gráfico de ejemplo"/>
          <p:cNvSpPr/>
          <p:nvPr/>
        </p:nvSpPr>
        <p:spPr>
          <a:xfrm>
            <a:off x="914400" y="2926080"/>
            <a:ext cx="480060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BFDDF7"/>
            </a:solidFill>
            <a:prstDash val="solid"/>
          </a:ln>
        </p:spPr>
      </p:sp>
      <p:sp>
        <p:nvSpPr>
          <p:cNvPr id="15" name="Barra"/>
          <p:cNvSpPr/>
          <p:nvPr/>
        </p:nvSpPr>
        <p:spPr>
          <a:xfrm>
            <a:off x="1188720" y="3387852"/>
            <a:ext cx="457200" cy="251460"/>
          </a:xfrm>
          <a:prstGeom prst="rect">
            <a:avLst/>
          </a:prstGeom>
          <a:solidFill>
            <a:srgbClr val="BCDCCB"/>
          </a:solidFill>
          <a:ln w="12700">
            <a:solidFill>
              <a:srgbClr val="BCDCCB"/>
            </a:solidFill>
            <a:prstDash val="solid"/>
          </a:ln>
        </p:spPr>
      </p:sp>
      <p:sp>
        <p:nvSpPr>
          <p:cNvPr id="16" name="Barra"/>
          <p:cNvSpPr/>
          <p:nvPr/>
        </p:nvSpPr>
        <p:spPr>
          <a:xfrm>
            <a:off x="2011680" y="3186684"/>
            <a:ext cx="457200" cy="452628"/>
          </a:xfrm>
          <a:prstGeom prst="rect">
            <a:avLst/>
          </a:prstGeom>
          <a:solidFill>
            <a:srgbClr val="BCDCCB"/>
          </a:solidFill>
          <a:ln w="12700">
            <a:solidFill>
              <a:srgbClr val="BCDCCB"/>
            </a:solidFill>
            <a:prstDash val="solid"/>
          </a:ln>
        </p:spPr>
      </p:sp>
      <p:sp>
        <p:nvSpPr>
          <p:cNvPr id="17" name="Barra"/>
          <p:cNvSpPr/>
          <p:nvPr/>
        </p:nvSpPr>
        <p:spPr>
          <a:xfrm>
            <a:off x="2834640" y="3327502"/>
            <a:ext cx="457200" cy="311810"/>
          </a:xfrm>
          <a:prstGeom prst="rect">
            <a:avLst/>
          </a:prstGeom>
          <a:solidFill>
            <a:srgbClr val="BCDCCB"/>
          </a:solidFill>
          <a:ln w="12700">
            <a:solidFill>
              <a:srgbClr val="BCDCCB"/>
            </a:solidFill>
            <a:prstDash val="solid"/>
          </a:ln>
        </p:spPr>
      </p:sp>
      <p:sp>
        <p:nvSpPr>
          <p:cNvPr id="18" name="Barra"/>
          <p:cNvSpPr/>
          <p:nvPr/>
        </p:nvSpPr>
        <p:spPr>
          <a:xfrm>
            <a:off x="3657600" y="3136392"/>
            <a:ext cx="457200" cy="502920"/>
          </a:xfrm>
          <a:prstGeom prst="rect">
            <a:avLst/>
          </a:prstGeom>
          <a:solidFill>
            <a:srgbClr val="1F6F57"/>
          </a:solidFill>
          <a:ln w="12700">
            <a:solidFill>
              <a:srgbClr val="1F6F57"/>
            </a:solidFill>
            <a:prstDash val="solid"/>
          </a:ln>
        </p:spPr>
      </p:sp>
      <p:sp>
        <p:nvSpPr>
          <p:cNvPr id="19" name="Barra"/>
          <p:cNvSpPr/>
          <p:nvPr/>
        </p:nvSpPr>
        <p:spPr>
          <a:xfrm>
            <a:off x="4480560" y="3287268"/>
            <a:ext cx="457200" cy="352044"/>
          </a:xfrm>
          <a:prstGeom prst="rect">
            <a:avLst/>
          </a:prstGeom>
          <a:solidFill>
            <a:srgbClr val="BCDCCB"/>
          </a:solidFill>
          <a:ln w="12700">
            <a:solidFill>
              <a:srgbClr val="BCDCCB"/>
            </a:solidFill>
            <a:prstDash val="solid"/>
          </a:ln>
        </p:spPr>
      </p:sp>
      <p:sp>
        <p:nvSpPr>
          <p:cNvPr id="20" name="Promedio"/>
          <p:cNvSpPr/>
          <p:nvPr/>
        </p:nvSpPr>
        <p:spPr>
          <a:xfrm>
            <a:off x="1005840" y="3310128"/>
            <a:ext cx="4617720" cy="0"/>
          </a:xfrm>
          <a:prstGeom prst="line">
            <a:avLst/>
          </a:prstGeom>
          <a:noFill/>
          <a:ln w="15875">
            <a:solidFill>
              <a:srgbClr val="2F6FC0"/>
            </a:solidFill>
            <a:prstDash val="dash"/>
          </a:ln>
        </p:spPr>
      </p:sp>
      <p:sp>
        <p:nvSpPr>
          <p:cNvPr id="21" name="Chip Promedio 128 k"/>
          <p:cNvSpPr/>
          <p:nvPr/>
        </p:nvSpPr>
        <p:spPr>
          <a:xfrm>
            <a:off x="1005840" y="2990088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E8F2FC"/>
          </a:solidFill>
          <a:ln w="9525">
            <a:solidFill>
              <a:srgbClr val="BFDDF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05840" y="2990088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4F8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Promedio 128 k</a:t>
            </a:r>
            <a:endParaRPr lang="en-US" sz="1000" dirty="0"/>
          </a:p>
        </p:txBody>
      </p:sp>
      <p:sp>
        <p:nvSpPr>
          <p:cNvPr id="23" name="Panel de caja"/>
          <p:cNvSpPr/>
          <p:nvPr/>
        </p:nvSpPr>
        <p:spPr>
          <a:xfrm>
            <a:off x="914400" y="3977640"/>
            <a:ext cx="2377440" cy="822960"/>
          </a:xfrm>
          <a:prstGeom prst="rect">
            <a:avLst/>
          </a:prstGeom>
          <a:solidFill>
            <a:srgbClr val="0F3D2E"/>
          </a:solidFill>
          <a:ln w="12700">
            <a:solidFill>
              <a:srgbClr val="0F3D2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97280" y="4114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BAEE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HOY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097280" y="4370832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$ 28.000</a:t>
            </a:r>
            <a:endParaRPr lang="en-US" sz="1800" dirty="0"/>
          </a:p>
        </p:txBody>
      </p:sp>
      <p:sp>
        <p:nvSpPr>
          <p:cNvPr id="26" name="Botón ojo"/>
          <p:cNvSpPr/>
          <p:nvPr/>
        </p:nvSpPr>
        <p:spPr>
          <a:xfrm>
            <a:off x="3429000" y="41605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F3D2E"/>
          </a:solidFill>
          <a:ln w="9525">
            <a:solidFill>
              <a:srgbClr val="6BAEE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429000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6BAEE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OJO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3977640" y="41148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1B4F8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ETIQUETAS Y OJITO SOBRE VERDE</a:t>
            </a:r>
            <a:endParaRPr lang="en-US" sz="800" dirty="0"/>
          </a:p>
        </p:txBody>
      </p:sp>
      <p:sp>
        <p:nvSpPr>
          <p:cNvPr id="29" name="Chip 8ª"/>
          <p:cNvSpPr/>
          <p:nvPr/>
        </p:nvSpPr>
        <p:spPr>
          <a:xfrm>
            <a:off x="6551676" y="2331720"/>
            <a:ext cx="822960" cy="310896"/>
          </a:xfrm>
          <a:prstGeom prst="roundRect">
            <a:avLst>
              <a:gd name="adj" fmla="val 50000"/>
            </a:avLst>
          </a:prstGeom>
          <a:solidFill>
            <a:srgbClr val="F1EEFB"/>
          </a:solidFill>
          <a:ln w="9525">
            <a:solidFill>
              <a:srgbClr val="E4DFF7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551676" y="233172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3C8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8ª</a:t>
            </a:r>
            <a:endParaRPr lang="en-US" sz="1000" dirty="0"/>
          </a:p>
        </p:txBody>
      </p:sp>
      <p:sp>
        <p:nvSpPr>
          <p:cNvPr id="31" name="Chip Promo"/>
          <p:cNvSpPr/>
          <p:nvPr/>
        </p:nvSpPr>
        <p:spPr>
          <a:xfrm>
            <a:off x="7511796" y="2331720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9C8DDD"/>
          </a:solidFill>
          <a:ln w="9525">
            <a:solidFill>
              <a:srgbClr val="9C8DDD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511796" y="233172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Promo</a:t>
            </a:r>
            <a:endParaRPr lang="en-US" sz="1000" dirty="0"/>
          </a:p>
        </p:txBody>
      </p:sp>
      <p:sp>
        <p:nvSpPr>
          <p:cNvPr id="33" name="Chip Pico"/>
          <p:cNvSpPr/>
          <p:nvPr/>
        </p:nvSpPr>
        <p:spPr>
          <a:xfrm>
            <a:off x="8654796" y="2331720"/>
            <a:ext cx="868680" cy="310896"/>
          </a:xfrm>
          <a:prstGeom prst="roundRect">
            <a:avLst>
              <a:gd name="adj" fmla="val 50000"/>
            </a:avLst>
          </a:prstGeom>
          <a:solidFill>
            <a:srgbClr val="F1EEFB"/>
          </a:solidFill>
          <a:ln w="9525">
            <a:solidFill>
              <a:srgbClr val="E4DFF7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654796" y="233172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3C8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Pico</a:t>
            </a:r>
            <a:endParaRPr lang="en-US" sz="1000" dirty="0"/>
          </a:p>
        </p:txBody>
      </p:sp>
      <p:sp>
        <p:nvSpPr>
          <p:cNvPr id="35" name="Tarjeta categoría"/>
          <p:cNvSpPr/>
          <p:nvPr/>
        </p:nvSpPr>
        <p:spPr>
          <a:xfrm>
            <a:off x="6551676" y="2926080"/>
            <a:ext cx="2286000" cy="1005840"/>
          </a:xfrm>
          <a:prstGeom prst="rect">
            <a:avLst/>
          </a:prstGeom>
          <a:solidFill>
            <a:srgbClr val="F1EEFB"/>
          </a:solidFill>
          <a:ln w="9525">
            <a:solidFill>
              <a:srgbClr val="E4DFF7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734556" y="303580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4A3C8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CATEGORÍA ACTUAL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6734556" y="32918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4A3C8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8ª</a:t>
            </a:r>
            <a:endParaRPr lang="en-US" sz="3400" dirty="0"/>
          </a:p>
        </p:txBody>
      </p:sp>
      <p:sp>
        <p:nvSpPr>
          <p:cNvPr id="38" name="Text 36"/>
          <p:cNvSpPr txBox="1"/>
          <p:nvPr/>
        </p:nvSpPr>
        <p:spPr>
          <a:xfrm>
            <a:off x="6551676" y="41148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4A3C8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— PROMOS Y DESCUENTOS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9066276" y="2926080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Categoría del jugador, insignia de promo, etiqueta de pico y títulos de promociones. Siempre pequeño.</a:t>
            </a:r>
            <a:endParaRPr lang="en-US" sz="1100" dirty="0"/>
          </a:p>
        </p:txBody>
      </p:sp>
      <p:sp>
        <p:nvSpPr>
          <p:cNvPr id="40" name="Filete"/>
          <p:cNvSpPr/>
          <p:nvPr/>
        </p:nvSpPr>
        <p:spPr>
          <a:xfrm>
            <a:off x="640080" y="5349240"/>
            <a:ext cx="2544318" cy="0"/>
          </a:xfrm>
          <a:prstGeom prst="line">
            <a:avLst/>
          </a:prstGeom>
          <a:noFill/>
          <a:ln w="15875">
            <a:solidFill>
              <a:srgbClr val="0D1F1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40080" y="545896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1097280" y="54223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Verde primero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640080" y="5760720"/>
            <a:ext cx="24985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Acciones, barras, menú y estados siguen en verde, blanco y negro.</a:t>
            </a:r>
            <a:endParaRPr lang="en-US" sz="1050" dirty="0"/>
          </a:p>
        </p:txBody>
      </p:sp>
      <p:sp>
        <p:nvSpPr>
          <p:cNvPr id="44" name="Filete"/>
          <p:cNvSpPr/>
          <p:nvPr/>
        </p:nvSpPr>
        <p:spPr>
          <a:xfrm>
            <a:off x="3367278" y="5349240"/>
            <a:ext cx="2544318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3367278" y="545896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3824478" y="54223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Sin fondos grandes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3367278" y="5760720"/>
            <a:ext cx="24985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Solo chips, líneas, números y etiquetas. Ningún panel entero en azul o lavanda.</a:t>
            </a:r>
            <a:endParaRPr lang="en-US" sz="1050" dirty="0"/>
          </a:p>
        </p:txBody>
      </p:sp>
      <p:sp>
        <p:nvSpPr>
          <p:cNvPr id="48" name="Filete"/>
          <p:cNvSpPr/>
          <p:nvPr/>
        </p:nvSpPr>
        <p:spPr>
          <a:xfrm>
            <a:off x="6094476" y="5349240"/>
            <a:ext cx="2544318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094476" y="545896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000" dirty="0"/>
          </a:p>
        </p:txBody>
      </p:sp>
      <p:sp>
        <p:nvSpPr>
          <p:cNvPr id="50" name="Text 48"/>
          <p:cNvSpPr txBox="1"/>
          <p:nvPr/>
        </p:nvSpPr>
        <p:spPr>
          <a:xfrm>
            <a:off x="6551676" y="54223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Dosis a ojo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6094476" y="5760720"/>
            <a:ext cx="24985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 pesa pantalla por pantalla, sin un porcentaje fijo.</a:t>
            </a:r>
            <a:endParaRPr lang="en-US" sz="1050" dirty="0"/>
          </a:p>
        </p:txBody>
      </p:sp>
      <p:sp>
        <p:nvSpPr>
          <p:cNvPr id="52" name="Filete"/>
          <p:cNvSpPr/>
          <p:nvPr/>
        </p:nvSpPr>
        <p:spPr>
          <a:xfrm>
            <a:off x="8821674" y="5349240"/>
            <a:ext cx="2544318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821674" y="545896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000" dirty="0"/>
          </a:p>
        </p:txBody>
      </p:sp>
      <p:sp>
        <p:nvSpPr>
          <p:cNvPr id="54" name="Text 52"/>
          <p:cNvSpPr txBox="1"/>
          <p:nvPr/>
        </p:nvSpPr>
        <p:spPr>
          <a:xfrm>
            <a:off x="9278874" y="54223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En oscuro, más claros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8821674" y="5760720"/>
            <a:ext cx="24985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Cielo #8CC4F2 · Lavanda #B8ACEC: suben de tono para mantener el contraste.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437376"/>
            <a:ext cx="85039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A7B74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— COLOR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640080" y="868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Cómo se reparte </a:t>
            </a:r>
            <a:pPr algn="l" indent="0" marL="0">
              <a:buNone/>
            </a:pPr>
            <a:r>
              <a:rPr lang="en-US" sz="3600" b="1" dirty="0">
                <a:solidFill>
                  <a:srgbClr val="1F6F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 color</a:t>
            </a:r>
            <a:endParaRPr lang="en-US" sz="3600" dirty="0"/>
          </a:p>
        </p:txBody>
      </p:sp>
      <p:sp>
        <p:nvSpPr>
          <p:cNvPr id="4" name="Proporción Blanco"/>
          <p:cNvSpPr/>
          <p:nvPr/>
        </p:nvSpPr>
        <p:spPr>
          <a:xfrm>
            <a:off x="640080" y="1965960"/>
            <a:ext cx="4480560" cy="164592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C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310128"/>
            <a:ext cx="429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BLANCO</a:t>
            </a:r>
            <a:endParaRPr lang="en-US" sz="900" dirty="0"/>
          </a:p>
        </p:txBody>
      </p:sp>
      <p:sp>
        <p:nvSpPr>
          <p:cNvPr id="6" name="Proporción Bosque"/>
          <p:cNvSpPr/>
          <p:nvPr/>
        </p:nvSpPr>
        <p:spPr>
          <a:xfrm>
            <a:off x="5120640" y="1965960"/>
            <a:ext cx="2103120" cy="1645920"/>
          </a:xfrm>
          <a:prstGeom prst="rect">
            <a:avLst/>
          </a:prstGeom>
          <a:solidFill>
            <a:srgbClr val="0F3D2E"/>
          </a:solidFill>
          <a:ln w="12700">
            <a:solidFill>
              <a:srgbClr val="0F3D2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257800" y="3310128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BOSQUE</a:t>
            </a:r>
            <a:endParaRPr lang="en-US" sz="900" dirty="0"/>
          </a:p>
        </p:txBody>
      </p:sp>
      <p:sp>
        <p:nvSpPr>
          <p:cNvPr id="8" name="Proporción Marca"/>
          <p:cNvSpPr/>
          <p:nvPr/>
        </p:nvSpPr>
        <p:spPr>
          <a:xfrm>
            <a:off x="7223760" y="1965960"/>
            <a:ext cx="1280160" cy="1645920"/>
          </a:xfrm>
          <a:prstGeom prst="rect">
            <a:avLst/>
          </a:prstGeom>
          <a:solidFill>
            <a:srgbClr val="1F6F57"/>
          </a:solidFill>
          <a:ln w="12700">
            <a:solidFill>
              <a:srgbClr val="1F6F5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60920" y="331012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MARCA</a:t>
            </a:r>
            <a:endParaRPr lang="en-US" sz="900" dirty="0"/>
          </a:p>
        </p:txBody>
      </p:sp>
      <p:sp>
        <p:nvSpPr>
          <p:cNvPr id="10" name="Proporción Menta"/>
          <p:cNvSpPr/>
          <p:nvPr/>
        </p:nvSpPr>
        <p:spPr>
          <a:xfrm>
            <a:off x="8503920" y="1965960"/>
            <a:ext cx="914400" cy="1645920"/>
          </a:xfrm>
          <a:prstGeom prst="rect">
            <a:avLst/>
          </a:prstGeom>
          <a:solidFill>
            <a:srgbClr val="DFEEE6"/>
          </a:solidFill>
          <a:ln w="9525">
            <a:solidFill>
              <a:srgbClr val="CAD6C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41080" y="3310128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MENTA</a:t>
            </a:r>
            <a:endParaRPr lang="en-US" sz="900" dirty="0"/>
          </a:p>
        </p:txBody>
      </p:sp>
      <p:sp>
        <p:nvSpPr>
          <p:cNvPr id="12" name="Proporción "/>
          <p:cNvSpPr/>
          <p:nvPr/>
        </p:nvSpPr>
        <p:spPr>
          <a:xfrm>
            <a:off x="9418320" y="1965960"/>
            <a:ext cx="640080" cy="1645920"/>
          </a:xfrm>
          <a:prstGeom prst="rect">
            <a:avLst/>
          </a:prstGeom>
          <a:solidFill>
            <a:srgbClr val="6BAEE8"/>
          </a:solidFill>
          <a:ln w="12700">
            <a:solidFill>
              <a:srgbClr val="6BAEE8"/>
            </a:solidFill>
            <a:prstDash val="solid"/>
          </a:ln>
        </p:spPr>
      </p:sp>
      <p:sp>
        <p:nvSpPr>
          <p:cNvPr id="13" name="Proporción "/>
          <p:cNvSpPr/>
          <p:nvPr/>
        </p:nvSpPr>
        <p:spPr>
          <a:xfrm>
            <a:off x="10058400" y="1965960"/>
            <a:ext cx="457200" cy="1645920"/>
          </a:xfrm>
          <a:prstGeom prst="rect">
            <a:avLst/>
          </a:prstGeom>
          <a:solidFill>
            <a:srgbClr val="9C8DDD"/>
          </a:solidFill>
          <a:ln w="12700">
            <a:solidFill>
              <a:srgbClr val="9C8DDD"/>
            </a:solidFill>
            <a:prstDash val="solid"/>
          </a:ln>
        </p:spPr>
      </p:sp>
      <p:sp>
        <p:nvSpPr>
          <p:cNvPr id="14" name="Proporción "/>
          <p:cNvSpPr/>
          <p:nvPr/>
        </p:nvSpPr>
        <p:spPr>
          <a:xfrm>
            <a:off x="10515600" y="1965960"/>
            <a:ext cx="640080" cy="1645920"/>
          </a:xfrm>
          <a:prstGeom prst="rect">
            <a:avLst/>
          </a:prstGeom>
          <a:solidFill>
            <a:srgbClr val="0D1F18"/>
          </a:solidFill>
          <a:ln w="12700">
            <a:solidFill>
              <a:srgbClr val="0D1F18"/>
            </a:solidFill>
            <a:prstDash val="solid"/>
          </a:ln>
        </p:spPr>
      </p:sp>
      <p:sp>
        <p:nvSpPr>
          <p:cNvPr id="15" name="Proporción "/>
          <p:cNvSpPr/>
          <p:nvPr/>
        </p:nvSpPr>
        <p:spPr>
          <a:xfrm>
            <a:off x="11155680" y="1965960"/>
            <a:ext cx="393192" cy="1645920"/>
          </a:xfrm>
          <a:prstGeom prst="rect">
            <a:avLst/>
          </a:prstGeom>
          <a:solidFill>
            <a:srgbClr val="E5533D"/>
          </a:solidFill>
          <a:ln w="12700">
            <a:solidFill>
              <a:srgbClr val="E5533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74904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PROPORCIÓN ORIENTATIVA — PROPUESTA</a:t>
            </a:r>
            <a:endParaRPr lang="en-US" sz="1000" dirty="0"/>
          </a:p>
        </p:txBody>
      </p:sp>
      <p:sp>
        <p:nvSpPr>
          <p:cNvPr id="17" name="Filete"/>
          <p:cNvSpPr/>
          <p:nvPr/>
        </p:nvSpPr>
        <p:spPr>
          <a:xfrm>
            <a:off x="640080" y="4526280"/>
            <a:ext cx="3429000" cy="0"/>
          </a:xfrm>
          <a:prstGeom prst="line">
            <a:avLst/>
          </a:prstGeom>
          <a:noFill/>
          <a:ln w="15875">
            <a:solidFill>
              <a:srgbClr val="0D1F1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0080" y="46634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 blanco domina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5120640"/>
            <a:ext cx="3383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Las superficies de trabajo son blancas con bordes finos. El color marca estado e identidad.</a:t>
            </a:r>
            <a:endParaRPr lang="en-US" sz="1400" dirty="0"/>
          </a:p>
        </p:txBody>
      </p:sp>
      <p:sp>
        <p:nvSpPr>
          <p:cNvPr id="20" name="Filete"/>
          <p:cNvSpPr/>
          <p:nvPr/>
        </p:nvSpPr>
        <p:spPr>
          <a:xfrm>
            <a:off x="4343400" y="4526280"/>
            <a:ext cx="3429000" cy="0"/>
          </a:xfrm>
          <a:prstGeom prst="line">
            <a:avLst/>
          </a:prstGeom>
          <a:noFill/>
          <a:ln w="15875">
            <a:solidFill>
              <a:srgbClr val="0D1F1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343400" y="46634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 verde ancla y actúa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4343400" y="5120640"/>
            <a:ext cx="3383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Verde bosque para la estructura; verde de marca para la acción. Un solo botón primario por vista.</a:t>
            </a:r>
            <a:endParaRPr lang="en-US" sz="1400" dirty="0"/>
          </a:p>
        </p:txBody>
      </p:sp>
      <p:sp>
        <p:nvSpPr>
          <p:cNvPr id="23" name="Filete"/>
          <p:cNvSpPr/>
          <p:nvPr/>
        </p:nvSpPr>
        <p:spPr>
          <a:xfrm>
            <a:off x="8046720" y="4526280"/>
            <a:ext cx="3429000" cy="0"/>
          </a:xfrm>
          <a:prstGeom prst="line">
            <a:avLst/>
          </a:prstGeom>
          <a:noFill/>
          <a:ln w="15875">
            <a:solidFill>
              <a:srgbClr val="E5533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046720" y="46634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553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 coral solo cancela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8046720" y="5120640"/>
            <a:ext cx="3383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se usa para decorar ni para una baja de números: una baja va en gris oscuro.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437376"/>
            <a:ext cx="85039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A7B74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— COLOR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640080" y="868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Colores </a:t>
            </a:r>
            <a:pPr algn="l" indent="0" marL="0">
              <a:buNone/>
            </a:pPr>
            <a:r>
              <a:rPr lang="en-US" sz="3600" b="1" dirty="0">
                <a:solidFill>
                  <a:srgbClr val="1F6F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 estado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45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AGENDA · CANCHA 1 Y CANCHA 2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508760" y="1920240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4354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CANCHA 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206240" y="1920240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4354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CANCHA 2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51460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17:00</a:t>
            </a:r>
            <a:endParaRPr lang="en-US" sz="1100" dirty="0"/>
          </a:p>
        </p:txBody>
      </p:sp>
      <p:sp>
        <p:nvSpPr>
          <p:cNvPr id="8" name="Libre"/>
          <p:cNvSpPr/>
          <p:nvPr/>
        </p:nvSpPr>
        <p:spPr>
          <a:xfrm>
            <a:off x="1508760" y="2194560"/>
            <a:ext cx="2606040" cy="896112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15875">
            <a:solidFill>
              <a:srgbClr val="CAD6CF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1673352" y="2350008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4354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LIBRE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1673352" y="267004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 de 4 personas</a:t>
            </a:r>
            <a:endParaRPr lang="en-US" sz="1200" dirty="0"/>
          </a:p>
        </p:txBody>
      </p:sp>
      <p:sp>
        <p:nvSpPr>
          <p:cNvPr id="11" name="Reservado"/>
          <p:cNvSpPr/>
          <p:nvPr/>
        </p:nvSpPr>
        <p:spPr>
          <a:xfrm>
            <a:off x="4206240" y="2194560"/>
            <a:ext cx="2606040" cy="896112"/>
          </a:xfrm>
          <a:prstGeom prst="roundRect">
            <a:avLst>
              <a:gd name="adj" fmla="val 10204"/>
            </a:avLst>
          </a:prstGeom>
          <a:solidFill>
            <a:srgbClr val="E8F4EE"/>
          </a:solidFill>
          <a:ln w="15875">
            <a:solidFill>
              <a:srgbClr val="BCDCC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370832" y="2350008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RESERVADO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4370832" y="267004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6F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 de 4 personas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50215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18:30</a:t>
            </a:r>
            <a:endParaRPr lang="en-US" sz="1100" dirty="0"/>
          </a:p>
        </p:txBody>
      </p:sp>
      <p:sp>
        <p:nvSpPr>
          <p:cNvPr id="15" name="Reservado"/>
          <p:cNvSpPr/>
          <p:nvPr/>
        </p:nvSpPr>
        <p:spPr>
          <a:xfrm>
            <a:off x="1508760" y="3182112"/>
            <a:ext cx="2606040" cy="896112"/>
          </a:xfrm>
          <a:prstGeom prst="roundRect">
            <a:avLst>
              <a:gd name="adj" fmla="val 10204"/>
            </a:avLst>
          </a:prstGeom>
          <a:solidFill>
            <a:srgbClr val="E8F4EE"/>
          </a:solidFill>
          <a:ln w="15875">
            <a:solidFill>
              <a:srgbClr val="BCDCC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673352" y="333756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RESERVADO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673352" y="36576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6F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 de 4 personas</a:t>
            </a:r>
            <a:endParaRPr lang="en-US" sz="1200" dirty="0"/>
          </a:p>
        </p:txBody>
      </p:sp>
      <p:sp>
        <p:nvSpPr>
          <p:cNvPr id="18" name="Completo"/>
          <p:cNvSpPr/>
          <p:nvPr/>
        </p:nvSpPr>
        <p:spPr>
          <a:xfrm>
            <a:off x="4206240" y="3182112"/>
            <a:ext cx="2606040" cy="896112"/>
          </a:xfrm>
          <a:prstGeom prst="roundRect">
            <a:avLst>
              <a:gd name="adj" fmla="val 10204"/>
            </a:avLst>
          </a:prstGeom>
          <a:solidFill>
            <a:srgbClr val="0F3D2E"/>
          </a:solidFill>
          <a:ln w="12700">
            <a:solidFill>
              <a:srgbClr val="0F3D2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370832" y="333756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COMPLETO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4370832" y="36576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D6C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 de 4 personas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448970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20:00</a:t>
            </a:r>
            <a:endParaRPr lang="en-US" sz="1100" dirty="0"/>
          </a:p>
        </p:txBody>
      </p:sp>
      <p:sp>
        <p:nvSpPr>
          <p:cNvPr id="22" name="Completo"/>
          <p:cNvSpPr/>
          <p:nvPr/>
        </p:nvSpPr>
        <p:spPr>
          <a:xfrm>
            <a:off x="1508760" y="4169664"/>
            <a:ext cx="2606040" cy="896112"/>
          </a:xfrm>
          <a:prstGeom prst="roundRect">
            <a:avLst>
              <a:gd name="adj" fmla="val 10204"/>
            </a:avLst>
          </a:prstGeom>
          <a:solidFill>
            <a:srgbClr val="0F3D2E"/>
          </a:solidFill>
          <a:ln w="12700">
            <a:solidFill>
              <a:srgbClr val="0F3D2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673352" y="4325112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COMPLETO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673352" y="4645152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D6C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 de 4 personas</a:t>
            </a:r>
            <a:endParaRPr lang="en-US" sz="1200" dirty="0"/>
          </a:p>
        </p:txBody>
      </p:sp>
      <p:sp>
        <p:nvSpPr>
          <p:cNvPr id="25" name="Cancelado"/>
          <p:cNvSpPr/>
          <p:nvPr/>
        </p:nvSpPr>
        <p:spPr>
          <a:xfrm>
            <a:off x="4206240" y="4169664"/>
            <a:ext cx="2606040" cy="896112"/>
          </a:xfrm>
          <a:prstGeom prst="roundRect">
            <a:avLst>
              <a:gd name="adj" fmla="val 10204"/>
            </a:avLst>
          </a:prstGeom>
          <a:solidFill>
            <a:srgbClr val="FDEEEA"/>
          </a:solidFill>
          <a:ln w="15875">
            <a:solidFill>
              <a:srgbClr val="F4B9AD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370832" y="4325112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E553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CANCELADO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4370832" y="4645152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553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 guarda aparte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547725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21:30</a:t>
            </a:r>
            <a:endParaRPr lang="en-US" sz="1100" dirty="0"/>
          </a:p>
        </p:txBody>
      </p:sp>
      <p:sp>
        <p:nvSpPr>
          <p:cNvPr id="29" name="Libre"/>
          <p:cNvSpPr/>
          <p:nvPr/>
        </p:nvSpPr>
        <p:spPr>
          <a:xfrm>
            <a:off x="1508760" y="5157216"/>
            <a:ext cx="2606040" cy="896112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15875">
            <a:solidFill>
              <a:srgbClr val="CAD6CF"/>
            </a:solidFill>
            <a:prstDash val="dash"/>
          </a:ln>
        </p:spPr>
      </p:sp>
      <p:sp>
        <p:nvSpPr>
          <p:cNvPr id="30" name="Text 28"/>
          <p:cNvSpPr txBox="1"/>
          <p:nvPr/>
        </p:nvSpPr>
        <p:spPr>
          <a:xfrm>
            <a:off x="1673352" y="5312664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4354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LIBRE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1673352" y="5632704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 de 4 personas</a:t>
            </a:r>
            <a:endParaRPr lang="en-US" sz="1200" dirty="0"/>
          </a:p>
        </p:txBody>
      </p:sp>
      <p:sp>
        <p:nvSpPr>
          <p:cNvPr id="32" name="Reservado"/>
          <p:cNvSpPr/>
          <p:nvPr/>
        </p:nvSpPr>
        <p:spPr>
          <a:xfrm>
            <a:off x="4206240" y="5157216"/>
            <a:ext cx="2606040" cy="896112"/>
          </a:xfrm>
          <a:prstGeom prst="roundRect">
            <a:avLst>
              <a:gd name="adj" fmla="val 10204"/>
            </a:avLst>
          </a:prstGeom>
          <a:solidFill>
            <a:srgbClr val="E8F4EE"/>
          </a:solidFill>
          <a:ln w="15875">
            <a:solidFill>
              <a:srgbClr val="BCDCC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370832" y="5312664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RESERVADO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4370832" y="5632704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6F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 de 4 personas</a:t>
            </a:r>
            <a:endParaRPr lang="en-US" sz="1200" dirty="0"/>
          </a:p>
        </p:txBody>
      </p:sp>
      <p:sp>
        <p:nvSpPr>
          <p:cNvPr id="35" name="Filete"/>
          <p:cNvSpPr/>
          <p:nvPr/>
        </p:nvSpPr>
        <p:spPr>
          <a:xfrm>
            <a:off x="7680960" y="1920240"/>
            <a:ext cx="3867912" cy="0"/>
          </a:xfrm>
          <a:prstGeom prst="line">
            <a:avLst/>
          </a:prstGeom>
          <a:noFill/>
          <a:ln w="15875">
            <a:solidFill>
              <a:srgbClr val="0D1F1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680960" y="2048256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8183880" y="20116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Libre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8183880" y="22860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Borde punteado gris, fondo blanco. 0 personas.</a:t>
            </a:r>
            <a:endParaRPr lang="en-US" sz="1100" dirty="0"/>
          </a:p>
        </p:txBody>
      </p:sp>
      <p:sp>
        <p:nvSpPr>
          <p:cNvPr id="39" name="Filete"/>
          <p:cNvSpPr/>
          <p:nvPr/>
        </p:nvSpPr>
        <p:spPr>
          <a:xfrm>
            <a:off x="7680960" y="2633472"/>
            <a:ext cx="3867912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680960" y="27614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8183880" y="272491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Reservado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8183880" y="299923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Fondo verde suave, texto verde. 1 a 3 personas.</a:t>
            </a:r>
            <a:endParaRPr lang="en-US" sz="1100" dirty="0"/>
          </a:p>
        </p:txBody>
      </p:sp>
      <p:sp>
        <p:nvSpPr>
          <p:cNvPr id="43" name="Filete"/>
          <p:cNvSpPr/>
          <p:nvPr/>
        </p:nvSpPr>
        <p:spPr>
          <a:xfrm>
            <a:off x="7680960" y="3346704"/>
            <a:ext cx="3867912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680960" y="34747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8183880" y="34381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Completo</a:t>
            </a:r>
            <a:endParaRPr lang="en-US" sz="1500" dirty="0"/>
          </a:p>
        </p:txBody>
      </p:sp>
      <p:sp>
        <p:nvSpPr>
          <p:cNvPr id="46" name="Text 44"/>
          <p:cNvSpPr txBox="1"/>
          <p:nvPr/>
        </p:nvSpPr>
        <p:spPr>
          <a:xfrm>
            <a:off x="8183880" y="371246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Relleno verde bosque, texto blanco. 4 personas.</a:t>
            </a:r>
            <a:endParaRPr lang="en-US" sz="1100" dirty="0"/>
          </a:p>
        </p:txBody>
      </p:sp>
      <p:sp>
        <p:nvSpPr>
          <p:cNvPr id="47" name="Filete"/>
          <p:cNvSpPr/>
          <p:nvPr/>
        </p:nvSpPr>
        <p:spPr>
          <a:xfrm>
            <a:off x="7680960" y="4059936"/>
            <a:ext cx="3867912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7680960" y="4187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000" dirty="0"/>
          </a:p>
        </p:txBody>
      </p:sp>
      <p:sp>
        <p:nvSpPr>
          <p:cNvPr id="49" name="Text 47"/>
          <p:cNvSpPr txBox="1"/>
          <p:nvPr/>
        </p:nvSpPr>
        <p:spPr>
          <a:xfrm>
            <a:off x="8183880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Cancelado</a:t>
            </a:r>
            <a:endParaRPr lang="en-US" sz="1500" dirty="0"/>
          </a:p>
        </p:txBody>
      </p:sp>
      <p:sp>
        <p:nvSpPr>
          <p:cNvPr id="50" name="Text 48"/>
          <p:cNvSpPr txBox="1"/>
          <p:nvPr/>
        </p:nvSpPr>
        <p:spPr>
          <a:xfrm>
            <a:off x="8183880" y="4425696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Chip coral. Se guarda aparte.</a:t>
            </a:r>
            <a:endParaRPr lang="en-US" sz="1100" dirty="0"/>
          </a:p>
        </p:txBody>
      </p:sp>
      <p:sp>
        <p:nvSpPr>
          <p:cNvPr id="51" name="Filete"/>
          <p:cNvSpPr/>
          <p:nvPr/>
        </p:nvSpPr>
        <p:spPr>
          <a:xfrm>
            <a:off x="7680960" y="4773168"/>
            <a:ext cx="3867912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7680960" y="4901184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1000" dirty="0"/>
          </a:p>
        </p:txBody>
      </p:sp>
      <p:sp>
        <p:nvSpPr>
          <p:cNvPr id="53" name="Text 51"/>
          <p:cNvSpPr txBox="1"/>
          <p:nvPr/>
        </p:nvSpPr>
        <p:spPr>
          <a:xfrm>
            <a:off x="8183880" y="48646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confirmar</a:t>
            </a:r>
            <a:endParaRPr lang="en-US" sz="1500" dirty="0"/>
          </a:p>
        </p:txBody>
      </p:sp>
      <p:sp>
        <p:nvSpPr>
          <p:cNvPr id="54" name="Text 52"/>
          <p:cNvSpPr txBox="1"/>
          <p:nvPr/>
        </p:nvSpPr>
        <p:spPr>
          <a:xfrm>
            <a:off x="8183880" y="51389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Chip con borde punteado: dato no definido.</a:t>
            </a:r>
            <a:endParaRPr lang="en-US" sz="1100" dirty="0"/>
          </a:p>
        </p:txBody>
      </p:sp>
      <p:sp>
        <p:nvSpPr>
          <p:cNvPr id="55" name="Text 53"/>
          <p:cNvSpPr txBox="1"/>
          <p:nvPr/>
        </p:nvSpPr>
        <p:spPr>
          <a:xfrm>
            <a:off x="7680960" y="5577840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Los estados nunca dependen solo del color: llevan su nombre y cambian el relleno o el borde.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437376"/>
            <a:ext cx="85039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A7B74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— COLOR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640080" y="868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Combinaciones </a:t>
            </a:r>
            <a:pPr algn="l" indent="0" marL="0">
              <a:buNone/>
            </a:pPr>
            <a:r>
              <a:rPr lang="en-US" sz="3600" b="1" dirty="0">
                <a:solidFill>
                  <a:srgbClr val="1F6F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y contraste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8308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MUESTRA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468880" y="17830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COMBINACIÓN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178308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CONTRASTE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949440" y="17830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NIVEL WCAG</a:t>
            </a:r>
            <a:endParaRPr lang="en-US" sz="1000" dirty="0"/>
          </a:p>
        </p:txBody>
      </p:sp>
      <p:sp>
        <p:nvSpPr>
          <p:cNvPr id="8" name="Filete"/>
          <p:cNvSpPr/>
          <p:nvPr/>
        </p:nvSpPr>
        <p:spPr>
          <a:xfrm>
            <a:off x="640080" y="2084832"/>
            <a:ext cx="7772400" cy="0"/>
          </a:xfrm>
          <a:prstGeom prst="line">
            <a:avLst/>
          </a:prstGeom>
          <a:noFill/>
          <a:ln w="15875">
            <a:solidFill>
              <a:srgbClr val="0D1F18"/>
            </a:solidFill>
            <a:prstDash val="solid"/>
          </a:ln>
        </p:spPr>
      </p:sp>
      <p:sp>
        <p:nvSpPr>
          <p:cNvPr id="9" name="Muestra 1"/>
          <p:cNvSpPr/>
          <p:nvPr/>
        </p:nvSpPr>
        <p:spPr>
          <a:xfrm>
            <a:off x="640080" y="2139696"/>
            <a:ext cx="16459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C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139696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Aa  Pali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2468880" y="2139696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Negro verdoso sobre blanco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0" y="2212848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17,1 : 1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949440" y="2212848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AAA</a:t>
            </a:r>
            <a:endParaRPr lang="en-US" sz="1000" dirty="0"/>
          </a:p>
        </p:txBody>
      </p:sp>
      <p:sp>
        <p:nvSpPr>
          <p:cNvPr id="14" name="Filete"/>
          <p:cNvSpPr/>
          <p:nvPr/>
        </p:nvSpPr>
        <p:spPr>
          <a:xfrm>
            <a:off x="640080" y="2560320"/>
            <a:ext cx="7772400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15" name="Muestra 2"/>
          <p:cNvSpPr/>
          <p:nvPr/>
        </p:nvSpPr>
        <p:spPr>
          <a:xfrm>
            <a:off x="640080" y="2615184"/>
            <a:ext cx="16459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261518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Aa  Pali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2468880" y="2615184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Gris secundario sobre blanco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0" y="2688336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8,0 : 1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949440" y="2688336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AAA</a:t>
            </a:r>
            <a:endParaRPr lang="en-US" sz="1000" dirty="0"/>
          </a:p>
        </p:txBody>
      </p:sp>
      <p:sp>
        <p:nvSpPr>
          <p:cNvPr id="20" name="Filete"/>
          <p:cNvSpPr/>
          <p:nvPr/>
        </p:nvSpPr>
        <p:spPr>
          <a:xfrm>
            <a:off x="640080" y="3035808"/>
            <a:ext cx="7772400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21" name="Muestra 3"/>
          <p:cNvSpPr/>
          <p:nvPr/>
        </p:nvSpPr>
        <p:spPr>
          <a:xfrm>
            <a:off x="640080" y="3090672"/>
            <a:ext cx="1645920" cy="365760"/>
          </a:xfrm>
          <a:prstGeom prst="rect">
            <a:avLst/>
          </a:prstGeom>
          <a:solidFill>
            <a:srgbClr val="0F3D2E"/>
          </a:solidFill>
          <a:ln w="12700">
            <a:solidFill>
              <a:srgbClr val="0F3D2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3090672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Aa  Pali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2468880" y="309067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Blanco sobre verde bosque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0" y="3163824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12,2 : 1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6949440" y="3163824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AAA</a:t>
            </a:r>
            <a:endParaRPr lang="en-US" sz="1000" dirty="0"/>
          </a:p>
        </p:txBody>
      </p:sp>
      <p:sp>
        <p:nvSpPr>
          <p:cNvPr id="26" name="Filete"/>
          <p:cNvSpPr/>
          <p:nvPr/>
        </p:nvSpPr>
        <p:spPr>
          <a:xfrm>
            <a:off x="640080" y="3511296"/>
            <a:ext cx="7772400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27" name="Muestra 4"/>
          <p:cNvSpPr/>
          <p:nvPr/>
        </p:nvSpPr>
        <p:spPr>
          <a:xfrm>
            <a:off x="640080" y="3566160"/>
            <a:ext cx="1645920" cy="365760"/>
          </a:xfrm>
          <a:prstGeom prst="rect">
            <a:avLst/>
          </a:prstGeom>
          <a:solidFill>
            <a:srgbClr val="0F3D2E"/>
          </a:solidFill>
          <a:ln w="12700">
            <a:solidFill>
              <a:srgbClr val="0F3D2E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77240" y="35661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D6C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Aa  Pali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2468880" y="35661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Menta sobre verde bosque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0" y="363931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7,6 : 1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6949440" y="3639312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AAA</a:t>
            </a:r>
            <a:endParaRPr lang="en-US" sz="1000" dirty="0"/>
          </a:p>
        </p:txBody>
      </p:sp>
      <p:sp>
        <p:nvSpPr>
          <p:cNvPr id="32" name="Filete"/>
          <p:cNvSpPr/>
          <p:nvPr/>
        </p:nvSpPr>
        <p:spPr>
          <a:xfrm>
            <a:off x="640080" y="3986784"/>
            <a:ext cx="7772400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33" name="Muestra 5"/>
          <p:cNvSpPr/>
          <p:nvPr/>
        </p:nvSpPr>
        <p:spPr>
          <a:xfrm>
            <a:off x="640080" y="4041648"/>
            <a:ext cx="16459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CF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77240" y="404164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Aa  Pali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2468880" y="404164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Verde de marca sobre blanco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0" y="411480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6,1 : 1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6949440" y="411480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AA</a:t>
            </a:r>
            <a:endParaRPr lang="en-US" sz="1000" dirty="0"/>
          </a:p>
        </p:txBody>
      </p:sp>
      <p:sp>
        <p:nvSpPr>
          <p:cNvPr id="38" name="Filete"/>
          <p:cNvSpPr/>
          <p:nvPr/>
        </p:nvSpPr>
        <p:spPr>
          <a:xfrm>
            <a:off x="640080" y="4462272"/>
            <a:ext cx="7772400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39" name="Muestra 6"/>
          <p:cNvSpPr/>
          <p:nvPr/>
        </p:nvSpPr>
        <p:spPr>
          <a:xfrm>
            <a:off x="640080" y="4517136"/>
            <a:ext cx="16459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C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77240" y="4517136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6FC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Aa  Pali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2468880" y="4517136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Azul cielo 600 sobre blanco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5486400" y="4590288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5,1 : 1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6949440" y="4590288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AA</a:t>
            </a:r>
            <a:endParaRPr lang="en-US" sz="1000" dirty="0"/>
          </a:p>
        </p:txBody>
      </p:sp>
      <p:sp>
        <p:nvSpPr>
          <p:cNvPr id="44" name="Filete"/>
          <p:cNvSpPr/>
          <p:nvPr/>
        </p:nvSpPr>
        <p:spPr>
          <a:xfrm>
            <a:off x="640080" y="4937760"/>
            <a:ext cx="7772400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45" name="Muestra 7"/>
          <p:cNvSpPr/>
          <p:nvPr/>
        </p:nvSpPr>
        <p:spPr>
          <a:xfrm>
            <a:off x="640080" y="4992624"/>
            <a:ext cx="1645920" cy="365760"/>
          </a:xfrm>
          <a:prstGeom prst="rect">
            <a:avLst/>
          </a:prstGeom>
          <a:solidFill>
            <a:srgbClr val="9C8DDD"/>
          </a:solidFill>
          <a:ln w="12700">
            <a:solidFill>
              <a:srgbClr val="9C8DDD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77240" y="499262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Aa  Pali</a:t>
            </a:r>
            <a:endParaRPr lang="en-US" sz="1500" dirty="0"/>
          </a:p>
        </p:txBody>
      </p:sp>
      <p:sp>
        <p:nvSpPr>
          <p:cNvPr id="47" name="Text 45"/>
          <p:cNvSpPr txBox="1"/>
          <p:nvPr/>
        </p:nvSpPr>
        <p:spPr>
          <a:xfrm>
            <a:off x="2468880" y="4992624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Texto oscuro sobre lavanda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5486400" y="5065776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5,9 : 1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6949440" y="5065776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AA</a:t>
            </a:r>
            <a:endParaRPr lang="en-US" sz="1000" dirty="0"/>
          </a:p>
        </p:txBody>
      </p:sp>
      <p:sp>
        <p:nvSpPr>
          <p:cNvPr id="50" name="Filete"/>
          <p:cNvSpPr/>
          <p:nvPr/>
        </p:nvSpPr>
        <p:spPr>
          <a:xfrm>
            <a:off x="640080" y="5413248"/>
            <a:ext cx="7772400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51" name="Muestra 8"/>
          <p:cNvSpPr/>
          <p:nvPr/>
        </p:nvSpPr>
        <p:spPr>
          <a:xfrm>
            <a:off x="640080" y="5468112"/>
            <a:ext cx="16459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CF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777240" y="5468112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7B7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Aa  Pali</a:t>
            </a:r>
            <a:endParaRPr lang="en-US" sz="1500" dirty="0"/>
          </a:p>
        </p:txBody>
      </p:sp>
      <p:sp>
        <p:nvSpPr>
          <p:cNvPr id="53" name="Text 51"/>
          <p:cNvSpPr txBox="1"/>
          <p:nvPr/>
        </p:nvSpPr>
        <p:spPr>
          <a:xfrm>
            <a:off x="2468880" y="546811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Gris de apoyo sobre blanco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5486400" y="5541264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4,47 : 1</a:t>
            </a:r>
            <a:endParaRPr lang="en-US" sz="1100" dirty="0"/>
          </a:p>
        </p:txBody>
      </p:sp>
      <p:sp>
        <p:nvSpPr>
          <p:cNvPr id="55" name="Text 53"/>
          <p:cNvSpPr txBox="1"/>
          <p:nvPr/>
        </p:nvSpPr>
        <p:spPr>
          <a:xfrm>
            <a:off x="6949440" y="5541264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553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JUSTO</a:t>
            </a:r>
            <a:endParaRPr lang="en-US" sz="1000" dirty="0"/>
          </a:p>
        </p:txBody>
      </p:sp>
      <p:sp>
        <p:nvSpPr>
          <p:cNvPr id="56" name="Filete"/>
          <p:cNvSpPr/>
          <p:nvPr/>
        </p:nvSpPr>
        <p:spPr>
          <a:xfrm>
            <a:off x="640080" y="5888736"/>
            <a:ext cx="7772400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57" name="Muestra 9"/>
          <p:cNvSpPr/>
          <p:nvPr/>
        </p:nvSpPr>
        <p:spPr>
          <a:xfrm>
            <a:off x="640080" y="5943600"/>
            <a:ext cx="1645920" cy="365760"/>
          </a:xfrm>
          <a:prstGeom prst="rect">
            <a:avLst/>
          </a:prstGeom>
          <a:solidFill>
            <a:srgbClr val="E5533D"/>
          </a:solidFill>
          <a:ln w="12700">
            <a:solidFill>
              <a:srgbClr val="E5533D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777240" y="59436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Aa  Pali</a:t>
            </a:r>
            <a:endParaRPr lang="en-US" sz="1500" dirty="0"/>
          </a:p>
        </p:txBody>
      </p:sp>
      <p:sp>
        <p:nvSpPr>
          <p:cNvPr id="59" name="Text 57"/>
          <p:cNvSpPr txBox="1"/>
          <p:nvPr/>
        </p:nvSpPr>
        <p:spPr>
          <a:xfrm>
            <a:off x="2468880" y="59436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Blanco sobre coral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5486400" y="601675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3,7 : 1</a:t>
            </a:r>
            <a:endParaRPr lang="en-US" sz="1100" dirty="0"/>
          </a:p>
        </p:txBody>
      </p:sp>
      <p:sp>
        <p:nvSpPr>
          <p:cNvPr id="61" name="Text 59"/>
          <p:cNvSpPr txBox="1"/>
          <p:nvPr/>
        </p:nvSpPr>
        <p:spPr>
          <a:xfrm>
            <a:off x="6949440" y="6016752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553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SOLO TEXTO GRANDE</a:t>
            </a:r>
            <a:endParaRPr lang="en-US" sz="1000" dirty="0"/>
          </a:p>
        </p:txBody>
      </p:sp>
      <p:sp>
        <p:nvSpPr>
          <p:cNvPr id="62" name="Filete"/>
          <p:cNvSpPr/>
          <p:nvPr/>
        </p:nvSpPr>
        <p:spPr>
          <a:xfrm>
            <a:off x="640080" y="6364224"/>
            <a:ext cx="7772400" cy="0"/>
          </a:xfrm>
          <a:prstGeom prst="line">
            <a:avLst/>
          </a:prstGeom>
          <a:noFill/>
          <a:ln w="15875">
            <a:solidFill>
              <a:srgbClr val="0D1F1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8869680" y="17830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553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REVISAR</a:t>
            </a:r>
            <a:endParaRPr lang="en-US" sz="1000" dirty="0"/>
          </a:p>
        </p:txBody>
      </p:sp>
      <p:sp>
        <p:nvSpPr>
          <p:cNvPr id="64" name="Text 62"/>
          <p:cNvSpPr txBox="1"/>
          <p:nvPr/>
        </p:nvSpPr>
        <p:spPr>
          <a:xfrm>
            <a:off x="8869680" y="2103120"/>
            <a:ext cx="2679192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Gris de apoyo. </a:t>
            </a:r>
            <a:pPr indent="0" marL="0">
              <a:buNone/>
            </a:pPr>
            <a:r>
              <a:rPr lang="en-US" sz="13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Queda en 4,47 : 1, apenas debajo del 4,5 que pide AA. Conviene oscurecerlo un poco.</a:t>
            </a:r>
            <a:endParaRPr lang="en-US" sz="1300" dirty="0"/>
          </a:p>
          <a:p>
            <a:pPr indent="0" marL="0">
              <a:buNone/>
            </a:pPr>
            <a:r>
              <a:rPr lang="en-US" sz="8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Coral. </a:t>
            </a:r>
            <a:pPr indent="0" marL="0">
              <a:buNone/>
            </a:pPr>
            <a:r>
              <a:rPr lang="en-US" sz="13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 botón de cancelar con texto blanco llega a 3,7 : 1: sirve para texto grande. En texto chico, pasar a un coral más oscuro.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437376"/>
            <a:ext cx="85039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A7B74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— COLOR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640080" y="868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9F2E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Paleta del </a:t>
            </a:r>
            <a:pPr algn="l" indent="0" marL="0">
              <a:buNone/>
            </a:pPr>
            <a:r>
              <a:rPr lang="en-US" sz="3600" b="1" dirty="0">
                <a:solidFill>
                  <a:srgbClr val="3FAE8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tema oscuro</a:t>
            </a:r>
            <a:endParaRPr lang="en-US" sz="3600" dirty="0"/>
          </a:p>
        </p:txBody>
      </p:sp>
      <p:pic>
        <p:nvPicPr>
          <p:cNvPr id="4" name="Tema oscuro · pelota" descr="Pelota del logo de Pal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0" y="868680"/>
            <a:ext cx="502920" cy="502920"/>
          </a:xfrm>
          <a:prstGeom prst="rect">
            <a:avLst/>
          </a:prstGeom>
        </p:spPr>
      </p:pic>
      <p:sp>
        <p:nvSpPr>
          <p:cNvPr id="5" name="Tema oscuro · nombre"/>
          <p:cNvSpPr txBox="1"/>
          <p:nvPr/>
        </p:nvSpPr>
        <p:spPr>
          <a:xfrm>
            <a:off x="10011766" y="818388"/>
            <a:ext cx="1508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spc="-100" kern="0" dirty="0">
                <a:solidFill>
                  <a:srgbClr val="E9F2E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Pali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1874520"/>
            <a:ext cx="5943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B5C8B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Solo cambian los tokens: ningún componente tiene colores propios. El verde de marca se aclara y el texto pasa a casi blanco para sostener el contraste.</a:t>
            </a:r>
            <a:endParaRPr lang="en-US" sz="1600" dirty="0"/>
          </a:p>
        </p:txBody>
      </p:sp>
      <p:sp>
        <p:nvSpPr>
          <p:cNvPr id="7" name="Oscuro Fondo"/>
          <p:cNvSpPr/>
          <p:nvPr/>
        </p:nvSpPr>
        <p:spPr>
          <a:xfrm>
            <a:off x="0" y="3657600"/>
            <a:ext cx="1354633" cy="3200400"/>
          </a:xfrm>
          <a:prstGeom prst="rect">
            <a:avLst/>
          </a:prstGeom>
          <a:solidFill>
            <a:srgbClr val="0B1511"/>
          </a:solidFill>
          <a:ln w="9525">
            <a:solidFill>
              <a:srgbClr val="34503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82880" y="38862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9F2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182880" y="5577840"/>
            <a:ext cx="108031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9F2E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Fondo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182880" y="5943600"/>
            <a:ext cx="10803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E9F2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#0B1511</a:t>
            </a:r>
            <a:endParaRPr lang="en-US" sz="900" dirty="0"/>
          </a:p>
        </p:txBody>
      </p:sp>
      <p:sp>
        <p:nvSpPr>
          <p:cNvPr id="11" name="Oscuro Superficie"/>
          <p:cNvSpPr/>
          <p:nvPr/>
        </p:nvSpPr>
        <p:spPr>
          <a:xfrm>
            <a:off x="1354633" y="3657600"/>
            <a:ext cx="1354633" cy="3200400"/>
          </a:xfrm>
          <a:prstGeom prst="rect">
            <a:avLst/>
          </a:prstGeom>
          <a:solidFill>
            <a:srgbClr val="12221B"/>
          </a:solidFill>
          <a:ln w="12700">
            <a:solidFill>
              <a:srgbClr val="12221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537513" y="38862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9F2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1537513" y="5577840"/>
            <a:ext cx="108031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9F2E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Superficie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1537513" y="5943600"/>
            <a:ext cx="10803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E9F2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#12221B</a:t>
            </a:r>
            <a:endParaRPr lang="en-US" sz="900" dirty="0"/>
          </a:p>
        </p:txBody>
      </p:sp>
      <p:sp>
        <p:nvSpPr>
          <p:cNvPr id="15" name="Oscuro Suave"/>
          <p:cNvSpPr/>
          <p:nvPr/>
        </p:nvSpPr>
        <p:spPr>
          <a:xfrm>
            <a:off x="2709266" y="3657600"/>
            <a:ext cx="1354633" cy="3200400"/>
          </a:xfrm>
          <a:prstGeom prst="rect">
            <a:avLst/>
          </a:prstGeom>
          <a:solidFill>
            <a:srgbClr val="16271F"/>
          </a:solidFill>
          <a:ln w="12700">
            <a:solidFill>
              <a:srgbClr val="16271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892146" y="38862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9F2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2892146" y="5577840"/>
            <a:ext cx="108031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9F2E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Suave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2892146" y="5943600"/>
            <a:ext cx="10803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E9F2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#16271F</a:t>
            </a:r>
            <a:endParaRPr lang="en-US" sz="900" dirty="0"/>
          </a:p>
        </p:txBody>
      </p:sp>
      <p:sp>
        <p:nvSpPr>
          <p:cNvPr id="19" name="Oscuro Línea"/>
          <p:cNvSpPr/>
          <p:nvPr/>
        </p:nvSpPr>
        <p:spPr>
          <a:xfrm>
            <a:off x="4063898" y="3657600"/>
            <a:ext cx="1354633" cy="3200400"/>
          </a:xfrm>
          <a:prstGeom prst="rect">
            <a:avLst/>
          </a:prstGeom>
          <a:solidFill>
            <a:srgbClr val="233A2F"/>
          </a:solidFill>
          <a:ln w="12700">
            <a:solidFill>
              <a:srgbClr val="233A2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246778" y="38862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9F2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4246778" y="5577840"/>
            <a:ext cx="108031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9F2E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Línea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246778" y="5943600"/>
            <a:ext cx="10803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E9F2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#233A2F</a:t>
            </a:r>
            <a:endParaRPr lang="en-US" sz="900" dirty="0"/>
          </a:p>
        </p:txBody>
      </p:sp>
      <p:sp>
        <p:nvSpPr>
          <p:cNvPr id="23" name="Oscuro Texto"/>
          <p:cNvSpPr/>
          <p:nvPr/>
        </p:nvSpPr>
        <p:spPr>
          <a:xfrm>
            <a:off x="5418531" y="3657600"/>
            <a:ext cx="1354633" cy="3200400"/>
          </a:xfrm>
          <a:prstGeom prst="rect">
            <a:avLst/>
          </a:prstGeom>
          <a:solidFill>
            <a:srgbClr val="E9F2ED"/>
          </a:solidFill>
          <a:ln w="12700">
            <a:solidFill>
              <a:srgbClr val="E9F2ED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601411" y="38862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5601411" y="5577840"/>
            <a:ext cx="108031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Texto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5601411" y="5943600"/>
            <a:ext cx="10803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#E9F2ED</a:t>
            </a:r>
            <a:endParaRPr lang="en-US" sz="900" dirty="0"/>
          </a:p>
        </p:txBody>
      </p:sp>
      <p:sp>
        <p:nvSpPr>
          <p:cNvPr id="27" name="Oscuro Texto 2"/>
          <p:cNvSpPr/>
          <p:nvPr/>
        </p:nvSpPr>
        <p:spPr>
          <a:xfrm>
            <a:off x="6773164" y="3657600"/>
            <a:ext cx="1354633" cy="3200400"/>
          </a:xfrm>
          <a:prstGeom prst="rect">
            <a:avLst/>
          </a:prstGeom>
          <a:solidFill>
            <a:srgbClr val="B5C8BF"/>
          </a:solidFill>
          <a:ln w="12700">
            <a:solidFill>
              <a:srgbClr val="B5C8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956044" y="38862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6956044" y="5577840"/>
            <a:ext cx="108031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Texto 2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6956044" y="5943600"/>
            <a:ext cx="10803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#B5C8BF</a:t>
            </a:r>
            <a:endParaRPr lang="en-US" sz="900" dirty="0"/>
          </a:p>
        </p:txBody>
      </p:sp>
      <p:sp>
        <p:nvSpPr>
          <p:cNvPr id="31" name="Oscuro Marca"/>
          <p:cNvSpPr/>
          <p:nvPr/>
        </p:nvSpPr>
        <p:spPr>
          <a:xfrm>
            <a:off x="8127797" y="3657600"/>
            <a:ext cx="1354633" cy="3200400"/>
          </a:xfrm>
          <a:prstGeom prst="rect">
            <a:avLst/>
          </a:prstGeom>
          <a:solidFill>
            <a:srgbClr val="3FAE87"/>
          </a:solidFill>
          <a:ln w="12700">
            <a:solidFill>
              <a:srgbClr val="3FAE87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310677" y="38862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8310677" y="5577840"/>
            <a:ext cx="108031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Marca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8310677" y="5943600"/>
            <a:ext cx="10803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#3FAE87</a:t>
            </a:r>
            <a:endParaRPr lang="en-US" sz="900" dirty="0"/>
          </a:p>
        </p:txBody>
      </p:sp>
      <p:sp>
        <p:nvSpPr>
          <p:cNvPr id="35" name="Oscuro Relleno"/>
          <p:cNvSpPr/>
          <p:nvPr/>
        </p:nvSpPr>
        <p:spPr>
          <a:xfrm>
            <a:off x="9482430" y="3657600"/>
            <a:ext cx="1354633" cy="3200400"/>
          </a:xfrm>
          <a:prstGeom prst="rect">
            <a:avLst/>
          </a:prstGeom>
          <a:solidFill>
            <a:srgbClr val="1F6F57"/>
          </a:solidFill>
          <a:ln w="12700">
            <a:solidFill>
              <a:srgbClr val="1F6F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9665310" y="38862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4"/>
          <p:cNvSpPr txBox="1"/>
          <p:nvPr/>
        </p:nvSpPr>
        <p:spPr>
          <a:xfrm>
            <a:off x="9665310" y="5577840"/>
            <a:ext cx="108031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Relleno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9665310" y="5943600"/>
            <a:ext cx="10803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#1F6F57</a:t>
            </a:r>
            <a:endParaRPr lang="en-US" sz="900" dirty="0"/>
          </a:p>
        </p:txBody>
      </p:sp>
      <p:sp>
        <p:nvSpPr>
          <p:cNvPr id="39" name="Oscuro Coral"/>
          <p:cNvSpPr/>
          <p:nvPr/>
        </p:nvSpPr>
        <p:spPr>
          <a:xfrm>
            <a:off x="10837062" y="3657600"/>
            <a:ext cx="1354633" cy="3200400"/>
          </a:xfrm>
          <a:prstGeom prst="rect">
            <a:avLst/>
          </a:prstGeom>
          <a:solidFill>
            <a:srgbClr val="F0705B"/>
          </a:solidFill>
          <a:ln w="12700">
            <a:solidFill>
              <a:srgbClr val="F0705B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19942" y="38862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</a:t>
            </a:r>
            <a:endParaRPr lang="en-US" sz="1000" dirty="0"/>
          </a:p>
        </p:txBody>
      </p:sp>
      <p:sp>
        <p:nvSpPr>
          <p:cNvPr id="41" name="Text 38"/>
          <p:cNvSpPr txBox="1"/>
          <p:nvPr/>
        </p:nvSpPr>
        <p:spPr>
          <a:xfrm>
            <a:off x="11019942" y="5577840"/>
            <a:ext cx="108031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Coral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11019942" y="5943600"/>
            <a:ext cx="10803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#F0705B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437376"/>
            <a:ext cx="85039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6A093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a gigante"/>
          <p:cNvSpPr txBox="1"/>
          <p:nvPr/>
        </p:nvSpPr>
        <p:spPr>
          <a:xfrm>
            <a:off x="4754880" y="-1280160"/>
            <a:ext cx="8686800" cy="6400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00" b="1" spc="-2000" kern="0" dirty="0">
                <a:solidFill>
                  <a:srgbClr val="1F6F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Aa</a:t>
            </a:r>
            <a:endParaRPr lang="en-US" sz="56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486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  /  05</a:t>
            </a:r>
            <a:endParaRPr lang="en-US" sz="1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94360" y="3429000"/>
            <a:ext cx="10972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spc="-500" kern="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Tipografía</a:t>
            </a:r>
            <a:endParaRPr lang="en-US" sz="1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566928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9D6C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Dos familias de IBM Plex: una para leer y otra para los datos.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 — TIPOGRAFÍA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640080" y="868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IBM Plex Sans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17320"/>
            <a:ext cx="59436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0" b="1" spc="-1000" kern="0" dirty="0">
                <a:solidFill>
                  <a:srgbClr val="0F3D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Aa</a:t>
            </a:r>
            <a:endParaRPr lang="en-US" sz="30000" dirty="0"/>
          </a:p>
        </p:txBody>
      </p:sp>
      <p:sp>
        <p:nvSpPr>
          <p:cNvPr id="5" name="Text 3"/>
          <p:cNvSpPr txBox="1"/>
          <p:nvPr/>
        </p:nvSpPr>
        <p:spPr>
          <a:xfrm>
            <a:off x="6766560" y="17830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Texto, títulos, botones y formularios.</a:t>
            </a:r>
            <a:endParaRPr lang="en-US" sz="1600" dirty="0"/>
          </a:p>
        </p:txBody>
      </p:sp>
      <p:sp>
        <p:nvSpPr>
          <p:cNvPr id="6" name="Filete"/>
          <p:cNvSpPr/>
          <p:nvPr/>
        </p:nvSpPr>
        <p:spPr>
          <a:xfrm>
            <a:off x="6766560" y="2514600"/>
            <a:ext cx="4754880" cy="0"/>
          </a:xfrm>
          <a:prstGeom prst="line">
            <a:avLst/>
          </a:prstGeom>
          <a:noFill/>
          <a:ln w="15875">
            <a:solidFill>
              <a:srgbClr val="0D1F1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766560" y="26060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Pali · Reservá un turno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9875520" y="2715768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REGULAR 400</a:t>
            </a:r>
            <a:endParaRPr lang="en-US" sz="900" dirty="0"/>
          </a:p>
        </p:txBody>
      </p:sp>
      <p:sp>
        <p:nvSpPr>
          <p:cNvPr id="9" name="Filete"/>
          <p:cNvSpPr/>
          <p:nvPr/>
        </p:nvSpPr>
        <p:spPr>
          <a:xfrm>
            <a:off x="6766560" y="3081528"/>
            <a:ext cx="4754880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66560" y="317296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Pali · Reservá un turno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9875520" y="3282696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MEDIUM 500</a:t>
            </a:r>
            <a:endParaRPr lang="en-US" sz="900" dirty="0"/>
          </a:p>
        </p:txBody>
      </p:sp>
      <p:sp>
        <p:nvSpPr>
          <p:cNvPr id="12" name="Filete"/>
          <p:cNvSpPr/>
          <p:nvPr/>
        </p:nvSpPr>
        <p:spPr>
          <a:xfrm>
            <a:off x="6766560" y="3648456"/>
            <a:ext cx="4754880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766560" y="3739896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Pali · Reservá un turno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9875520" y="3849624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SEMIBOLD 600</a:t>
            </a:r>
            <a:endParaRPr lang="en-US" sz="900" dirty="0"/>
          </a:p>
        </p:txBody>
      </p:sp>
      <p:sp>
        <p:nvSpPr>
          <p:cNvPr id="15" name="Filete"/>
          <p:cNvSpPr/>
          <p:nvPr/>
        </p:nvSpPr>
        <p:spPr>
          <a:xfrm>
            <a:off x="6766560" y="4215384"/>
            <a:ext cx="4754880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766560" y="443484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ABCDEFGHIJKLMNÑOPQRSTUVWXYZ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abcdefghijklmnñopqrstuvwxyz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0123456789  $ % ( ) ¿ ? ¡ !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594360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 CARGA DESDE GOOGLE FONTS. SIN CONEXIÓN SE USA LA FUENTE DEL SISTEMA.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437376"/>
            <a:ext cx="85039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A7B74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 — TIPOGRAFÍA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640080" y="868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IBM Plex Mono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17320"/>
            <a:ext cx="59436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0" b="1" spc="-10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Aa</a:t>
            </a:r>
            <a:endParaRPr lang="en-US" sz="30000" dirty="0"/>
          </a:p>
        </p:txBody>
      </p:sp>
      <p:sp>
        <p:nvSpPr>
          <p:cNvPr id="5" name="Text 3"/>
          <p:cNvSpPr txBox="1"/>
          <p:nvPr/>
        </p:nvSpPr>
        <p:spPr>
          <a:xfrm>
            <a:off x="6766560" y="178308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FEEE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Datos y etiquetas: horarios, importes y teléfonos.</a:t>
            </a:r>
            <a:endParaRPr lang="en-US" sz="1600" dirty="0"/>
          </a:p>
        </p:txBody>
      </p:sp>
      <p:sp>
        <p:nvSpPr>
          <p:cNvPr id="6" name="Filete"/>
          <p:cNvSpPr/>
          <p:nvPr/>
        </p:nvSpPr>
        <p:spPr>
          <a:xfrm>
            <a:off x="6766560" y="2697480"/>
            <a:ext cx="4754880" cy="0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766560" y="27889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19:30 – 21:00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9875520" y="2898648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REGULAR 400</a:t>
            </a:r>
            <a:endParaRPr lang="en-US" sz="900" dirty="0"/>
          </a:p>
        </p:txBody>
      </p:sp>
      <p:sp>
        <p:nvSpPr>
          <p:cNvPr id="9" name="Filete"/>
          <p:cNvSpPr/>
          <p:nvPr/>
        </p:nvSpPr>
        <p:spPr>
          <a:xfrm>
            <a:off x="6766560" y="3264408"/>
            <a:ext cx="4754880" cy="0"/>
          </a:xfrm>
          <a:prstGeom prst="line">
            <a:avLst/>
          </a:prstGeom>
          <a:noFill/>
          <a:ln w="9525">
            <a:solidFill>
              <a:srgbClr val="34503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66560" y="335584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19:30 – 21:00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9875520" y="3465576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MEDIUM 500</a:t>
            </a:r>
            <a:endParaRPr lang="en-US" sz="900" dirty="0"/>
          </a:p>
        </p:txBody>
      </p:sp>
      <p:sp>
        <p:nvSpPr>
          <p:cNvPr id="12" name="Filete"/>
          <p:cNvSpPr/>
          <p:nvPr/>
        </p:nvSpPr>
        <p:spPr>
          <a:xfrm>
            <a:off x="6766560" y="3831336"/>
            <a:ext cx="4754880" cy="0"/>
          </a:xfrm>
          <a:prstGeom prst="line">
            <a:avLst/>
          </a:prstGeom>
          <a:noFill/>
          <a:ln w="9525">
            <a:solidFill>
              <a:srgbClr val="34503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766560" y="406908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$ 1.372.000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2284-363702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CANCHA 1 · 4 DE 4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437376"/>
            <a:ext cx="85039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9D6C4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 — TIPOGRAFÍA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640080" y="868680"/>
            <a:ext cx="3017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Jerarquía tipográfica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74320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Seis roles y una cifra destacada. Cada tamaño tiene una sola función.</a:t>
            </a:r>
            <a:endParaRPr lang="en-US" sz="1500" dirty="0"/>
          </a:p>
        </p:txBody>
      </p:sp>
      <p:sp>
        <p:nvSpPr>
          <p:cNvPr id="5" name="Filete"/>
          <p:cNvSpPr/>
          <p:nvPr/>
        </p:nvSpPr>
        <p:spPr>
          <a:xfrm>
            <a:off x="4114800" y="868680"/>
            <a:ext cx="7434072" cy="0"/>
          </a:xfrm>
          <a:prstGeom prst="line">
            <a:avLst/>
          </a:prstGeom>
          <a:noFill/>
          <a:ln w="15875">
            <a:solidFill>
              <a:srgbClr val="0D1F1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114800" y="97840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Título de página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114800" y="125272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42 PX · 600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492240" y="868680"/>
            <a:ext cx="50566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Cuánto entró</a:t>
            </a:r>
            <a:endParaRPr lang="en-US" sz="4200" dirty="0"/>
          </a:p>
        </p:txBody>
      </p:sp>
      <p:sp>
        <p:nvSpPr>
          <p:cNvPr id="9" name="Filete"/>
          <p:cNvSpPr/>
          <p:nvPr/>
        </p:nvSpPr>
        <p:spPr>
          <a:xfrm>
            <a:off x="4114800" y="1828800"/>
            <a:ext cx="7434072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114800" y="19385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Título de sección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114800" y="221284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28 PX · 600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6492240" y="1828800"/>
            <a:ext cx="50566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Reservas del día</a:t>
            </a:r>
            <a:endParaRPr lang="en-US" sz="2800" dirty="0"/>
          </a:p>
        </p:txBody>
      </p:sp>
      <p:sp>
        <p:nvSpPr>
          <p:cNvPr id="13" name="Filete"/>
          <p:cNvSpPr/>
          <p:nvPr/>
        </p:nvSpPr>
        <p:spPr>
          <a:xfrm>
            <a:off x="4114800" y="2560320"/>
            <a:ext cx="7434072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0" y="267004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Subtítulo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114800" y="294436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15,5 PX · 600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6492240" y="2560320"/>
            <a:ext cx="50566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Cancha 1 · Turno completo</a:t>
            </a:r>
            <a:endParaRPr lang="en-US" sz="1550" dirty="0"/>
          </a:p>
        </p:txBody>
      </p:sp>
      <p:sp>
        <p:nvSpPr>
          <p:cNvPr id="17" name="Filete"/>
          <p:cNvSpPr/>
          <p:nvPr/>
        </p:nvSpPr>
        <p:spPr>
          <a:xfrm>
            <a:off x="4114800" y="3154680"/>
            <a:ext cx="7434072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114800" y="326440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Texto base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114800" y="353872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14,5 PX · 400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6492240" y="3154680"/>
            <a:ext cx="50566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Tocá un turno libre para reservarlo.</a:t>
            </a:r>
            <a:endParaRPr lang="en-US" sz="1450" dirty="0"/>
          </a:p>
        </p:txBody>
      </p:sp>
      <p:sp>
        <p:nvSpPr>
          <p:cNvPr id="21" name="Filete"/>
          <p:cNvSpPr/>
          <p:nvPr/>
        </p:nvSpPr>
        <p:spPr>
          <a:xfrm>
            <a:off x="4114800" y="3749040"/>
            <a:ext cx="7434072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114800" y="385876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Texto de apoyo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4114800" y="413308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12,5 PX · 400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6492240" y="3749040"/>
            <a:ext cx="50566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B7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Los importes son una estimación.</a:t>
            </a:r>
            <a:endParaRPr lang="en-US" sz="1250" dirty="0"/>
          </a:p>
        </p:txBody>
      </p:sp>
      <p:sp>
        <p:nvSpPr>
          <p:cNvPr id="25" name="Filete"/>
          <p:cNvSpPr/>
          <p:nvPr/>
        </p:nvSpPr>
        <p:spPr>
          <a:xfrm>
            <a:off x="4114800" y="4343400"/>
            <a:ext cx="7434072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114800" y="44531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Etiqueta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4114800" y="472744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10,5 PX · MONO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6492240" y="4343400"/>
            <a:ext cx="5056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BUSCADOR ÚNICO</a:t>
            </a:r>
            <a:endParaRPr lang="en-US" sz="1100" dirty="0"/>
          </a:p>
        </p:txBody>
      </p:sp>
      <p:sp>
        <p:nvSpPr>
          <p:cNvPr id="29" name="Filete"/>
          <p:cNvSpPr/>
          <p:nvPr/>
        </p:nvSpPr>
        <p:spPr>
          <a:xfrm>
            <a:off x="4114800" y="4892040"/>
            <a:ext cx="7434072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114800" y="500176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Cifra destacada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114800" y="527608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48 PX · 600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6492240" y="4892040"/>
            <a:ext cx="50566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6F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$ 1.372.000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437376"/>
            <a:ext cx="85039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A7B74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urno completo"/>
          <p:cNvSpPr/>
          <p:nvPr/>
        </p:nvSpPr>
        <p:spPr>
          <a:xfrm>
            <a:off x="5760720" y="548640"/>
            <a:ext cx="1078992" cy="896112"/>
          </a:xfrm>
          <a:prstGeom prst="rect">
            <a:avLst/>
          </a:prstGeom>
          <a:solidFill>
            <a:srgbClr val="1F6F57"/>
          </a:solidFill>
          <a:ln w="12700">
            <a:solidFill>
              <a:srgbClr val="1F6F57"/>
            </a:solidFill>
            <a:prstDash val="solid"/>
          </a:ln>
        </p:spPr>
      </p:sp>
      <p:sp>
        <p:nvSpPr>
          <p:cNvPr id="3" name="Turno completo"/>
          <p:cNvSpPr/>
          <p:nvPr/>
        </p:nvSpPr>
        <p:spPr>
          <a:xfrm>
            <a:off x="6931152" y="548640"/>
            <a:ext cx="1078992" cy="896112"/>
          </a:xfrm>
          <a:prstGeom prst="rect">
            <a:avLst/>
          </a:prstGeom>
          <a:solidFill>
            <a:srgbClr val="1F6F57"/>
          </a:solidFill>
          <a:ln w="12700">
            <a:solidFill>
              <a:srgbClr val="1F6F57"/>
            </a:solidFill>
            <a:prstDash val="solid"/>
          </a:ln>
        </p:spPr>
      </p:sp>
      <p:sp>
        <p:nvSpPr>
          <p:cNvPr id="4" name="Turno libre"/>
          <p:cNvSpPr/>
          <p:nvPr/>
        </p:nvSpPr>
        <p:spPr>
          <a:xfrm>
            <a:off x="8101584" y="548640"/>
            <a:ext cx="1078992" cy="896112"/>
          </a:xfrm>
          <a:prstGeom prst="rect">
            <a:avLst/>
          </a:prstGeom>
          <a:ln w="9525">
            <a:solidFill>
              <a:srgbClr val="3A6A58"/>
            </a:solidFill>
            <a:prstDash val="dash"/>
          </a:ln>
        </p:spPr>
      </p:sp>
      <p:sp>
        <p:nvSpPr>
          <p:cNvPr id="5" name="Turno libre"/>
          <p:cNvSpPr/>
          <p:nvPr/>
        </p:nvSpPr>
        <p:spPr>
          <a:xfrm>
            <a:off x="9272016" y="548640"/>
            <a:ext cx="1078992" cy="896112"/>
          </a:xfrm>
          <a:prstGeom prst="rect">
            <a:avLst/>
          </a:prstGeom>
          <a:ln w="9525">
            <a:solidFill>
              <a:srgbClr val="3A6A58"/>
            </a:solidFill>
            <a:prstDash val="dash"/>
          </a:ln>
        </p:spPr>
      </p:sp>
      <p:sp>
        <p:nvSpPr>
          <p:cNvPr id="6" name="Turno reservado"/>
          <p:cNvSpPr/>
          <p:nvPr/>
        </p:nvSpPr>
        <p:spPr>
          <a:xfrm>
            <a:off x="10442448" y="548640"/>
            <a:ext cx="1078992" cy="896112"/>
          </a:xfrm>
          <a:prstGeom prst="rect">
            <a:avLst/>
          </a:prstGeom>
          <a:solidFill>
            <a:srgbClr val="17503E"/>
          </a:solidFill>
          <a:ln w="12700">
            <a:solidFill>
              <a:srgbClr val="17503E"/>
            </a:solidFill>
            <a:prstDash val="solid"/>
          </a:ln>
        </p:spPr>
      </p:sp>
      <p:sp>
        <p:nvSpPr>
          <p:cNvPr id="7" name="Turno libre"/>
          <p:cNvSpPr/>
          <p:nvPr/>
        </p:nvSpPr>
        <p:spPr>
          <a:xfrm>
            <a:off x="5760720" y="1536192"/>
            <a:ext cx="1078992" cy="896112"/>
          </a:xfrm>
          <a:prstGeom prst="rect">
            <a:avLst/>
          </a:prstGeom>
          <a:ln w="9525">
            <a:solidFill>
              <a:srgbClr val="3A6A58"/>
            </a:solidFill>
            <a:prstDash val="dash"/>
          </a:ln>
        </p:spPr>
      </p:sp>
      <p:sp>
        <p:nvSpPr>
          <p:cNvPr id="8" name="Turno reservado"/>
          <p:cNvSpPr/>
          <p:nvPr/>
        </p:nvSpPr>
        <p:spPr>
          <a:xfrm>
            <a:off x="6931152" y="1536192"/>
            <a:ext cx="1078992" cy="896112"/>
          </a:xfrm>
          <a:prstGeom prst="rect">
            <a:avLst/>
          </a:prstGeom>
          <a:solidFill>
            <a:srgbClr val="17503E"/>
          </a:solidFill>
          <a:ln w="12700">
            <a:solidFill>
              <a:srgbClr val="17503E"/>
            </a:solidFill>
            <a:prstDash val="solid"/>
          </a:ln>
        </p:spPr>
      </p:sp>
      <p:sp>
        <p:nvSpPr>
          <p:cNvPr id="9" name="Turno libre"/>
          <p:cNvSpPr/>
          <p:nvPr/>
        </p:nvSpPr>
        <p:spPr>
          <a:xfrm>
            <a:off x="8101584" y="1536192"/>
            <a:ext cx="1078992" cy="896112"/>
          </a:xfrm>
          <a:prstGeom prst="rect">
            <a:avLst/>
          </a:prstGeom>
          <a:ln w="9525">
            <a:solidFill>
              <a:srgbClr val="3A6A58"/>
            </a:solidFill>
            <a:prstDash val="dash"/>
          </a:ln>
        </p:spPr>
      </p:sp>
      <p:sp>
        <p:nvSpPr>
          <p:cNvPr id="10" name="Turno cancelado"/>
          <p:cNvSpPr/>
          <p:nvPr/>
        </p:nvSpPr>
        <p:spPr>
          <a:xfrm>
            <a:off x="9272016" y="1536192"/>
            <a:ext cx="1078992" cy="896112"/>
          </a:xfrm>
          <a:prstGeom prst="rect">
            <a:avLst/>
          </a:prstGeom>
          <a:solidFill>
            <a:srgbClr val="E5533D"/>
          </a:solidFill>
          <a:ln w="12700">
            <a:solidFill>
              <a:srgbClr val="E5533D"/>
            </a:solidFill>
            <a:prstDash val="solid"/>
          </a:ln>
        </p:spPr>
      </p:sp>
      <p:sp>
        <p:nvSpPr>
          <p:cNvPr id="11" name="Turno libre"/>
          <p:cNvSpPr/>
          <p:nvPr/>
        </p:nvSpPr>
        <p:spPr>
          <a:xfrm>
            <a:off x="10442448" y="1536192"/>
            <a:ext cx="1078992" cy="896112"/>
          </a:xfrm>
          <a:prstGeom prst="rect">
            <a:avLst/>
          </a:prstGeom>
          <a:ln w="9525">
            <a:solidFill>
              <a:srgbClr val="3A6A58"/>
            </a:solidFill>
            <a:prstDash val="dash"/>
          </a:ln>
        </p:spPr>
      </p:sp>
      <p:sp>
        <p:nvSpPr>
          <p:cNvPr id="12" name="Turno destacado"/>
          <p:cNvSpPr/>
          <p:nvPr/>
        </p:nvSpPr>
        <p:spPr>
          <a:xfrm>
            <a:off x="5760720" y="2523744"/>
            <a:ext cx="1078992" cy="896112"/>
          </a:xfrm>
          <a:prstGeom prst="rect">
            <a:avLst/>
          </a:prstGeom>
          <a:solidFill>
            <a:srgbClr val="A9D6C4"/>
          </a:solidFill>
          <a:ln w="12700">
            <a:solidFill>
              <a:srgbClr val="A9D6C4"/>
            </a:solidFill>
            <a:prstDash val="solid"/>
          </a:ln>
        </p:spPr>
      </p:sp>
      <p:sp>
        <p:nvSpPr>
          <p:cNvPr id="13" name="Turno completo"/>
          <p:cNvSpPr/>
          <p:nvPr/>
        </p:nvSpPr>
        <p:spPr>
          <a:xfrm>
            <a:off x="6931152" y="2523744"/>
            <a:ext cx="1078992" cy="896112"/>
          </a:xfrm>
          <a:prstGeom prst="rect">
            <a:avLst/>
          </a:prstGeom>
          <a:solidFill>
            <a:srgbClr val="1F6F57"/>
          </a:solidFill>
          <a:ln w="12700">
            <a:solidFill>
              <a:srgbClr val="1F6F57"/>
            </a:solidFill>
            <a:prstDash val="solid"/>
          </a:ln>
        </p:spPr>
      </p:sp>
      <p:sp>
        <p:nvSpPr>
          <p:cNvPr id="14" name="Turno reservado"/>
          <p:cNvSpPr/>
          <p:nvPr/>
        </p:nvSpPr>
        <p:spPr>
          <a:xfrm>
            <a:off x="8101584" y="2523744"/>
            <a:ext cx="1078992" cy="896112"/>
          </a:xfrm>
          <a:prstGeom prst="rect">
            <a:avLst/>
          </a:prstGeom>
          <a:solidFill>
            <a:srgbClr val="17503E"/>
          </a:solidFill>
          <a:ln w="12700">
            <a:solidFill>
              <a:srgbClr val="17503E"/>
            </a:solidFill>
            <a:prstDash val="solid"/>
          </a:ln>
        </p:spPr>
      </p:sp>
      <p:sp>
        <p:nvSpPr>
          <p:cNvPr id="15" name="Turno libre"/>
          <p:cNvSpPr/>
          <p:nvPr/>
        </p:nvSpPr>
        <p:spPr>
          <a:xfrm>
            <a:off x="9272016" y="2523744"/>
            <a:ext cx="1078992" cy="896112"/>
          </a:xfrm>
          <a:prstGeom prst="rect">
            <a:avLst/>
          </a:prstGeom>
          <a:ln w="9525">
            <a:solidFill>
              <a:srgbClr val="3A6A58"/>
            </a:solidFill>
            <a:prstDash val="dash"/>
          </a:ln>
        </p:spPr>
      </p:sp>
      <p:sp>
        <p:nvSpPr>
          <p:cNvPr id="16" name="Turno libre"/>
          <p:cNvSpPr/>
          <p:nvPr/>
        </p:nvSpPr>
        <p:spPr>
          <a:xfrm>
            <a:off x="10442448" y="2523744"/>
            <a:ext cx="1078992" cy="896112"/>
          </a:xfrm>
          <a:prstGeom prst="rect">
            <a:avLst/>
          </a:prstGeom>
          <a:ln w="9525">
            <a:solidFill>
              <a:srgbClr val="3A6A58"/>
            </a:solidFill>
            <a:prstDash val="dash"/>
          </a:ln>
        </p:spPr>
      </p:sp>
      <p:sp>
        <p:nvSpPr>
          <p:cNvPr id="17" name="Turno reservado"/>
          <p:cNvSpPr/>
          <p:nvPr/>
        </p:nvSpPr>
        <p:spPr>
          <a:xfrm>
            <a:off x="5760720" y="3511296"/>
            <a:ext cx="1078992" cy="896112"/>
          </a:xfrm>
          <a:prstGeom prst="rect">
            <a:avLst/>
          </a:prstGeom>
          <a:solidFill>
            <a:srgbClr val="17503E"/>
          </a:solidFill>
          <a:ln w="12700">
            <a:solidFill>
              <a:srgbClr val="17503E"/>
            </a:solidFill>
            <a:prstDash val="solid"/>
          </a:ln>
        </p:spPr>
      </p:sp>
      <p:sp>
        <p:nvSpPr>
          <p:cNvPr id="18" name="Turno reservado"/>
          <p:cNvSpPr/>
          <p:nvPr/>
        </p:nvSpPr>
        <p:spPr>
          <a:xfrm>
            <a:off x="6931152" y="3511296"/>
            <a:ext cx="1078992" cy="896112"/>
          </a:xfrm>
          <a:prstGeom prst="rect">
            <a:avLst/>
          </a:prstGeom>
          <a:solidFill>
            <a:srgbClr val="17503E"/>
          </a:solidFill>
          <a:ln w="12700">
            <a:solidFill>
              <a:srgbClr val="17503E"/>
            </a:solidFill>
            <a:prstDash val="solid"/>
          </a:ln>
        </p:spPr>
      </p:sp>
      <p:sp>
        <p:nvSpPr>
          <p:cNvPr id="19" name="Turno reservado"/>
          <p:cNvSpPr/>
          <p:nvPr/>
        </p:nvSpPr>
        <p:spPr>
          <a:xfrm>
            <a:off x="8101584" y="3511296"/>
            <a:ext cx="1078992" cy="896112"/>
          </a:xfrm>
          <a:prstGeom prst="rect">
            <a:avLst/>
          </a:prstGeom>
          <a:solidFill>
            <a:srgbClr val="17503E"/>
          </a:solidFill>
          <a:ln w="12700">
            <a:solidFill>
              <a:srgbClr val="17503E"/>
            </a:solidFill>
            <a:prstDash val="solid"/>
          </a:ln>
        </p:spPr>
      </p:sp>
      <p:sp>
        <p:nvSpPr>
          <p:cNvPr id="20" name="Turno reservado"/>
          <p:cNvSpPr/>
          <p:nvPr/>
        </p:nvSpPr>
        <p:spPr>
          <a:xfrm>
            <a:off x="9272016" y="3511296"/>
            <a:ext cx="1078992" cy="896112"/>
          </a:xfrm>
          <a:prstGeom prst="rect">
            <a:avLst/>
          </a:prstGeom>
          <a:solidFill>
            <a:srgbClr val="17503E"/>
          </a:solidFill>
          <a:ln w="12700">
            <a:solidFill>
              <a:srgbClr val="17503E"/>
            </a:solidFill>
            <a:prstDash val="solid"/>
          </a:ln>
        </p:spPr>
      </p:sp>
      <p:sp>
        <p:nvSpPr>
          <p:cNvPr id="21" name="Turno reservado"/>
          <p:cNvSpPr/>
          <p:nvPr/>
        </p:nvSpPr>
        <p:spPr>
          <a:xfrm>
            <a:off x="10442448" y="3511296"/>
            <a:ext cx="1078992" cy="896112"/>
          </a:xfrm>
          <a:prstGeom prst="rect">
            <a:avLst/>
          </a:prstGeom>
          <a:solidFill>
            <a:srgbClr val="17503E"/>
          </a:solidFill>
          <a:ln w="12700">
            <a:solidFill>
              <a:srgbClr val="17503E"/>
            </a:solidFill>
            <a:prstDash val="solid"/>
          </a:ln>
        </p:spPr>
      </p:sp>
      <p:sp>
        <p:nvSpPr>
          <p:cNvPr id="22" name="Turno reservado"/>
          <p:cNvSpPr/>
          <p:nvPr/>
        </p:nvSpPr>
        <p:spPr>
          <a:xfrm>
            <a:off x="5760720" y="4498848"/>
            <a:ext cx="1078992" cy="896112"/>
          </a:xfrm>
          <a:prstGeom prst="rect">
            <a:avLst/>
          </a:prstGeom>
          <a:solidFill>
            <a:srgbClr val="17503E"/>
          </a:solidFill>
          <a:ln w="12700">
            <a:solidFill>
              <a:srgbClr val="17503E"/>
            </a:solidFill>
            <a:prstDash val="solid"/>
          </a:ln>
        </p:spPr>
      </p:sp>
      <p:sp>
        <p:nvSpPr>
          <p:cNvPr id="23" name="Turno completo"/>
          <p:cNvSpPr/>
          <p:nvPr/>
        </p:nvSpPr>
        <p:spPr>
          <a:xfrm>
            <a:off x="6931152" y="4498848"/>
            <a:ext cx="1078992" cy="896112"/>
          </a:xfrm>
          <a:prstGeom prst="rect">
            <a:avLst/>
          </a:prstGeom>
          <a:solidFill>
            <a:srgbClr val="1F6F57"/>
          </a:solidFill>
          <a:ln w="12700">
            <a:solidFill>
              <a:srgbClr val="1F6F57"/>
            </a:solidFill>
            <a:prstDash val="solid"/>
          </a:ln>
        </p:spPr>
      </p:sp>
      <p:sp>
        <p:nvSpPr>
          <p:cNvPr id="24" name="Turno destacado"/>
          <p:cNvSpPr/>
          <p:nvPr/>
        </p:nvSpPr>
        <p:spPr>
          <a:xfrm>
            <a:off x="8101584" y="4498848"/>
            <a:ext cx="1078992" cy="896112"/>
          </a:xfrm>
          <a:prstGeom prst="rect">
            <a:avLst/>
          </a:prstGeom>
          <a:solidFill>
            <a:srgbClr val="A9D6C4"/>
          </a:solidFill>
          <a:ln w="12700">
            <a:solidFill>
              <a:srgbClr val="A9D6C4"/>
            </a:solidFill>
            <a:prstDash val="solid"/>
          </a:ln>
        </p:spPr>
      </p:sp>
      <p:sp>
        <p:nvSpPr>
          <p:cNvPr id="25" name="Turno libre"/>
          <p:cNvSpPr/>
          <p:nvPr/>
        </p:nvSpPr>
        <p:spPr>
          <a:xfrm>
            <a:off x="9272016" y="4498848"/>
            <a:ext cx="1078992" cy="896112"/>
          </a:xfrm>
          <a:prstGeom prst="rect">
            <a:avLst/>
          </a:prstGeom>
          <a:ln w="9525">
            <a:solidFill>
              <a:srgbClr val="3A6A58"/>
            </a:solidFill>
            <a:prstDash val="dash"/>
          </a:ln>
        </p:spPr>
      </p:sp>
      <p:sp>
        <p:nvSpPr>
          <p:cNvPr id="26" name="Turno completo"/>
          <p:cNvSpPr/>
          <p:nvPr/>
        </p:nvSpPr>
        <p:spPr>
          <a:xfrm>
            <a:off x="10442448" y="4498848"/>
            <a:ext cx="1078992" cy="896112"/>
          </a:xfrm>
          <a:prstGeom prst="rect">
            <a:avLst/>
          </a:prstGeom>
          <a:solidFill>
            <a:srgbClr val="1F6F57"/>
          </a:solidFill>
          <a:ln w="12700">
            <a:solidFill>
              <a:srgbClr val="1F6F57"/>
            </a:solidFill>
            <a:prstDash val="solid"/>
          </a:ln>
        </p:spPr>
      </p:sp>
      <p:sp>
        <p:nvSpPr>
          <p:cNvPr id="27" name="Turno libre"/>
          <p:cNvSpPr/>
          <p:nvPr/>
        </p:nvSpPr>
        <p:spPr>
          <a:xfrm>
            <a:off x="5760720" y="5486400"/>
            <a:ext cx="1078992" cy="896112"/>
          </a:xfrm>
          <a:prstGeom prst="rect">
            <a:avLst/>
          </a:prstGeom>
          <a:ln w="9525">
            <a:solidFill>
              <a:srgbClr val="3A6A58"/>
            </a:solidFill>
            <a:prstDash val="dash"/>
          </a:ln>
        </p:spPr>
      </p:sp>
      <p:sp>
        <p:nvSpPr>
          <p:cNvPr id="28" name="Turno reservado"/>
          <p:cNvSpPr/>
          <p:nvPr/>
        </p:nvSpPr>
        <p:spPr>
          <a:xfrm>
            <a:off x="6931152" y="5486400"/>
            <a:ext cx="1078992" cy="896112"/>
          </a:xfrm>
          <a:prstGeom prst="rect">
            <a:avLst/>
          </a:prstGeom>
          <a:solidFill>
            <a:srgbClr val="17503E"/>
          </a:solidFill>
          <a:ln w="12700">
            <a:solidFill>
              <a:srgbClr val="17503E"/>
            </a:solidFill>
            <a:prstDash val="solid"/>
          </a:ln>
        </p:spPr>
      </p:sp>
      <p:sp>
        <p:nvSpPr>
          <p:cNvPr id="29" name="Turno libre"/>
          <p:cNvSpPr/>
          <p:nvPr/>
        </p:nvSpPr>
        <p:spPr>
          <a:xfrm>
            <a:off x="8101584" y="5486400"/>
            <a:ext cx="1078992" cy="896112"/>
          </a:xfrm>
          <a:prstGeom prst="rect">
            <a:avLst/>
          </a:prstGeom>
          <a:ln w="9525">
            <a:solidFill>
              <a:srgbClr val="3A6A58"/>
            </a:solidFill>
            <a:prstDash val="dash"/>
          </a:ln>
        </p:spPr>
      </p:sp>
      <p:sp>
        <p:nvSpPr>
          <p:cNvPr id="30" name="Turno completo"/>
          <p:cNvSpPr/>
          <p:nvPr/>
        </p:nvSpPr>
        <p:spPr>
          <a:xfrm>
            <a:off x="9272016" y="5486400"/>
            <a:ext cx="1078992" cy="896112"/>
          </a:xfrm>
          <a:prstGeom prst="rect">
            <a:avLst/>
          </a:prstGeom>
          <a:solidFill>
            <a:srgbClr val="1F6F57"/>
          </a:solidFill>
          <a:ln w="12700">
            <a:solidFill>
              <a:srgbClr val="1F6F57"/>
            </a:solidFill>
            <a:prstDash val="solid"/>
          </a:ln>
        </p:spPr>
      </p:sp>
      <p:sp>
        <p:nvSpPr>
          <p:cNvPr id="31" name="Turno libre"/>
          <p:cNvSpPr/>
          <p:nvPr/>
        </p:nvSpPr>
        <p:spPr>
          <a:xfrm>
            <a:off x="10442448" y="5486400"/>
            <a:ext cx="1078992" cy="896112"/>
          </a:xfrm>
          <a:prstGeom prst="rect">
            <a:avLst/>
          </a:prstGeom>
          <a:ln w="9525">
            <a:solidFill>
              <a:srgbClr val="3A6A58"/>
            </a:solidFill>
            <a:prstDash val="dash"/>
          </a:ln>
        </p:spPr>
      </p:sp>
      <p:sp>
        <p:nvSpPr>
          <p:cNvPr id="32" name="Text 30"/>
          <p:cNvSpPr txBox="1"/>
          <p:nvPr/>
        </p:nvSpPr>
        <p:spPr>
          <a:xfrm>
            <a:off x="640080" y="5486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  /  05</a:t>
            </a:r>
            <a:endParaRPr lang="en-US" sz="1200" dirty="0"/>
          </a:p>
        </p:txBody>
      </p:sp>
      <p:sp>
        <p:nvSpPr>
          <p:cNvPr id="33" name="Text 0"/>
          <p:cNvSpPr/>
          <p:nvPr>
            <p:ph idx="100" type="title" hasCustomPrompt="1"/>
          </p:nvPr>
        </p:nvSpPr>
        <p:spPr>
          <a:xfrm>
            <a:off x="594360" y="3429000"/>
            <a:ext cx="10972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spc="-500" kern="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Sistema</a:t>
            </a:r>
            <a:endParaRPr lang="en-US" sz="13000" dirty="0"/>
          </a:p>
        </p:txBody>
      </p:sp>
      <p:sp>
        <p:nvSpPr>
          <p:cNvPr id="34" name="Text 32"/>
          <p:cNvSpPr txBox="1"/>
          <p:nvPr/>
        </p:nvSpPr>
        <p:spPr>
          <a:xfrm>
            <a:off x="640080" y="566928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9D6C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Forma, espacio, voz y cómo se ve la marca cuando trabaja en el producto.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 — SISTEMA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640080" y="868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Forma, espacio </a:t>
            </a:r>
            <a:pPr algn="l" indent="0" marL="0">
              <a:buNone/>
            </a:pPr>
            <a:r>
              <a:rPr lang="en-US" sz="3600" b="1" dirty="0">
                <a:solidFill>
                  <a:srgbClr val="1F6F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y movimiento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830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ESQUINAS</a:t>
            </a:r>
            <a:endParaRPr lang="en-US" sz="1000" dirty="0"/>
          </a:p>
        </p:txBody>
      </p:sp>
      <p:sp>
        <p:nvSpPr>
          <p:cNvPr id="5" name="Radio 8"/>
          <p:cNvSpPr/>
          <p:nvPr/>
        </p:nvSpPr>
        <p:spPr>
          <a:xfrm>
            <a:off x="640080" y="2148840"/>
            <a:ext cx="123444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0D1F1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148840"/>
            <a:ext cx="1234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 PX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2004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Controles</a:t>
            </a:r>
            <a:endParaRPr lang="en-US" sz="1200" dirty="0"/>
          </a:p>
        </p:txBody>
      </p:sp>
      <p:sp>
        <p:nvSpPr>
          <p:cNvPr id="8" name="Radio 12"/>
          <p:cNvSpPr/>
          <p:nvPr/>
        </p:nvSpPr>
        <p:spPr>
          <a:xfrm>
            <a:off x="2057400" y="2148840"/>
            <a:ext cx="1234440" cy="914400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12700">
            <a:solidFill>
              <a:srgbClr val="0D1F1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057400" y="2148840"/>
            <a:ext cx="1234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 PX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2057400" y="32004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Cards, turnos, modal</a:t>
            </a:r>
            <a:endParaRPr lang="en-US" sz="1200" dirty="0"/>
          </a:p>
        </p:txBody>
      </p:sp>
      <p:sp>
        <p:nvSpPr>
          <p:cNvPr id="11" name="Radio 20"/>
          <p:cNvSpPr/>
          <p:nvPr/>
        </p:nvSpPr>
        <p:spPr>
          <a:xfrm>
            <a:off x="3474720" y="2148840"/>
            <a:ext cx="1234440" cy="9144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0D1F1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74720" y="2148840"/>
            <a:ext cx="1234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 PX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3474720" y="32004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Panel de encabezado</a:t>
            </a:r>
            <a:endParaRPr lang="en-US" sz="1200" dirty="0"/>
          </a:p>
        </p:txBody>
      </p:sp>
      <p:sp>
        <p:nvSpPr>
          <p:cNvPr id="14" name="Radio ∞"/>
          <p:cNvSpPr/>
          <p:nvPr/>
        </p:nvSpPr>
        <p:spPr>
          <a:xfrm>
            <a:off x="4892040" y="2148840"/>
            <a:ext cx="1234440" cy="914400"/>
          </a:xfrm>
          <a:prstGeom prst="roundRect">
            <a:avLst>
              <a:gd name="adj" fmla="val 34000"/>
            </a:avLst>
          </a:prstGeom>
          <a:solidFill>
            <a:srgbClr val="FFFFFF"/>
          </a:solidFill>
          <a:ln w="12700">
            <a:solidFill>
              <a:srgbClr val="0D1F1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892040" y="2148840"/>
            <a:ext cx="1234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PÍLDORA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2004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Chips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492240" y="178308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ESPACIADO · MÚLTIPLOS DE 4 PX</a:t>
            </a:r>
            <a:endParaRPr lang="en-US" sz="1000" dirty="0"/>
          </a:p>
        </p:txBody>
      </p:sp>
      <p:sp>
        <p:nvSpPr>
          <p:cNvPr id="18" name="Espacio 4"/>
          <p:cNvSpPr/>
          <p:nvPr/>
        </p:nvSpPr>
        <p:spPr>
          <a:xfrm>
            <a:off x="6492240" y="2975458"/>
            <a:ext cx="91440" cy="87782"/>
          </a:xfrm>
          <a:prstGeom prst="rect">
            <a:avLst/>
          </a:prstGeom>
          <a:solidFill>
            <a:srgbClr val="1F6F57"/>
          </a:solidFill>
          <a:ln w="12700">
            <a:solidFill>
              <a:srgbClr val="1F6F5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309360" y="31546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900" dirty="0"/>
          </a:p>
        </p:txBody>
      </p:sp>
      <p:sp>
        <p:nvSpPr>
          <p:cNvPr id="20" name="Espacio 8"/>
          <p:cNvSpPr/>
          <p:nvPr/>
        </p:nvSpPr>
        <p:spPr>
          <a:xfrm>
            <a:off x="6858000" y="2887675"/>
            <a:ext cx="175565" cy="175565"/>
          </a:xfrm>
          <a:prstGeom prst="rect">
            <a:avLst/>
          </a:prstGeom>
          <a:solidFill>
            <a:srgbClr val="1F6F57"/>
          </a:solidFill>
          <a:ln w="12700">
            <a:solidFill>
              <a:srgbClr val="1F6F5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675120" y="3154680"/>
            <a:ext cx="5413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</a:t>
            </a:r>
            <a:endParaRPr lang="en-US" sz="900" dirty="0"/>
          </a:p>
        </p:txBody>
      </p:sp>
      <p:sp>
        <p:nvSpPr>
          <p:cNvPr id="22" name="Espacio 12"/>
          <p:cNvSpPr/>
          <p:nvPr/>
        </p:nvSpPr>
        <p:spPr>
          <a:xfrm>
            <a:off x="7307885" y="2799893"/>
            <a:ext cx="263347" cy="263347"/>
          </a:xfrm>
          <a:prstGeom prst="rect">
            <a:avLst/>
          </a:prstGeom>
          <a:solidFill>
            <a:srgbClr val="1F6F57"/>
          </a:solidFill>
          <a:ln w="12700">
            <a:solidFill>
              <a:srgbClr val="1F6F57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125005" y="3154680"/>
            <a:ext cx="6291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</a:t>
            </a:r>
            <a:endParaRPr lang="en-US" sz="900" dirty="0"/>
          </a:p>
        </p:txBody>
      </p:sp>
      <p:sp>
        <p:nvSpPr>
          <p:cNvPr id="24" name="Espacio 16"/>
          <p:cNvSpPr/>
          <p:nvPr/>
        </p:nvSpPr>
        <p:spPr>
          <a:xfrm>
            <a:off x="7845552" y="2712110"/>
            <a:ext cx="351130" cy="351130"/>
          </a:xfrm>
          <a:prstGeom prst="rect">
            <a:avLst/>
          </a:prstGeom>
          <a:solidFill>
            <a:srgbClr val="1F6F57"/>
          </a:solidFill>
          <a:ln w="12700">
            <a:solidFill>
              <a:srgbClr val="1F6F5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662672" y="3154680"/>
            <a:ext cx="7168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16</a:t>
            </a:r>
            <a:endParaRPr lang="en-US" sz="900" dirty="0"/>
          </a:p>
        </p:txBody>
      </p:sp>
      <p:sp>
        <p:nvSpPr>
          <p:cNvPr id="26" name="Espacio 24"/>
          <p:cNvSpPr/>
          <p:nvPr/>
        </p:nvSpPr>
        <p:spPr>
          <a:xfrm>
            <a:off x="8471002" y="2536546"/>
            <a:ext cx="526694" cy="526694"/>
          </a:xfrm>
          <a:prstGeom prst="rect">
            <a:avLst/>
          </a:prstGeom>
          <a:solidFill>
            <a:srgbClr val="1F6F57"/>
          </a:solidFill>
          <a:ln w="12700">
            <a:solidFill>
              <a:srgbClr val="1F6F57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88122" y="3154680"/>
            <a:ext cx="8924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24</a:t>
            </a:r>
            <a:endParaRPr lang="en-US" sz="900" dirty="0"/>
          </a:p>
        </p:txBody>
      </p:sp>
      <p:sp>
        <p:nvSpPr>
          <p:cNvPr id="28" name="Espacio 32"/>
          <p:cNvSpPr/>
          <p:nvPr/>
        </p:nvSpPr>
        <p:spPr>
          <a:xfrm>
            <a:off x="9272016" y="2360981"/>
            <a:ext cx="702259" cy="702259"/>
          </a:xfrm>
          <a:prstGeom prst="rect">
            <a:avLst/>
          </a:prstGeom>
          <a:solidFill>
            <a:srgbClr val="1F6F57"/>
          </a:solidFill>
          <a:ln w="12700">
            <a:solidFill>
              <a:srgbClr val="1F6F57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089136" y="3154680"/>
            <a:ext cx="10680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32</a:t>
            </a:r>
            <a:endParaRPr lang="en-US" sz="900" dirty="0"/>
          </a:p>
        </p:txBody>
      </p:sp>
      <p:sp>
        <p:nvSpPr>
          <p:cNvPr id="30" name="Espacio 48"/>
          <p:cNvSpPr/>
          <p:nvPr/>
        </p:nvSpPr>
        <p:spPr>
          <a:xfrm>
            <a:off x="10248595" y="2009851"/>
            <a:ext cx="1053389" cy="1053389"/>
          </a:xfrm>
          <a:prstGeom prst="rect">
            <a:avLst/>
          </a:prstGeom>
          <a:solidFill>
            <a:srgbClr val="1F6F57"/>
          </a:solidFill>
          <a:ln w="12700">
            <a:solidFill>
              <a:srgbClr val="1F6F57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0065715" y="3154680"/>
            <a:ext cx="141914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48</a:t>
            </a:r>
            <a:endParaRPr lang="en-US" sz="900" dirty="0"/>
          </a:p>
        </p:txBody>
      </p:sp>
      <p:sp>
        <p:nvSpPr>
          <p:cNvPr id="32" name="Filete"/>
          <p:cNvSpPr/>
          <p:nvPr/>
        </p:nvSpPr>
        <p:spPr>
          <a:xfrm>
            <a:off x="640080" y="4297680"/>
            <a:ext cx="3429000" cy="0"/>
          </a:xfrm>
          <a:prstGeom prst="line">
            <a:avLst/>
          </a:prstGeom>
          <a:noFill/>
          <a:ln w="15875">
            <a:solidFill>
              <a:srgbClr val="0D1F1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40080" y="44348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640080" y="47091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Sombra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640080" y="5166360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Una sola, solo en modal y listas flotantes. El resto se separa con bordes finos.</a:t>
            </a:r>
            <a:endParaRPr lang="en-US" sz="1400" dirty="0"/>
          </a:p>
        </p:txBody>
      </p:sp>
      <p:sp>
        <p:nvSpPr>
          <p:cNvPr id="36" name="Filete"/>
          <p:cNvSpPr/>
          <p:nvPr/>
        </p:nvSpPr>
        <p:spPr>
          <a:xfrm>
            <a:off x="4343400" y="4297680"/>
            <a:ext cx="3429000" cy="0"/>
          </a:xfrm>
          <a:prstGeom prst="line">
            <a:avLst/>
          </a:prstGeom>
          <a:noFill/>
          <a:ln w="15875">
            <a:solidFill>
              <a:srgbClr val="0D1F1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343400" y="44348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4343400" y="47091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Movimiento</a:t>
            </a:r>
            <a:endParaRPr lang="en-US" sz="1800" dirty="0"/>
          </a:p>
        </p:txBody>
      </p:sp>
      <p:sp>
        <p:nvSpPr>
          <p:cNvPr id="39" name="Text 37"/>
          <p:cNvSpPr txBox="1"/>
          <p:nvPr/>
        </p:nvSpPr>
        <p:spPr>
          <a:xfrm>
            <a:off x="4343400" y="5166360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150 ms al pasar el mouse. Sin animaciones decorativas; se respeta “reducir movimiento”.</a:t>
            </a:r>
            <a:endParaRPr lang="en-US" sz="1400" dirty="0"/>
          </a:p>
        </p:txBody>
      </p:sp>
      <p:sp>
        <p:nvSpPr>
          <p:cNvPr id="40" name="Filete"/>
          <p:cNvSpPr/>
          <p:nvPr/>
        </p:nvSpPr>
        <p:spPr>
          <a:xfrm>
            <a:off x="8046720" y="4297680"/>
            <a:ext cx="3429000" cy="0"/>
          </a:xfrm>
          <a:prstGeom prst="line">
            <a:avLst/>
          </a:prstGeom>
          <a:noFill/>
          <a:ln w="15875">
            <a:solidFill>
              <a:srgbClr val="0D1F1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046720" y="44348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8046720" y="47091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Cambio de tema</a:t>
            </a:r>
            <a:endParaRPr lang="en-US" sz="1800" dirty="0"/>
          </a:p>
        </p:txBody>
      </p:sp>
      <p:sp>
        <p:nvSpPr>
          <p:cNvPr id="43" name="Text 41"/>
          <p:cNvSpPr txBox="1"/>
          <p:nvPr/>
        </p:nvSpPr>
        <p:spPr>
          <a:xfrm>
            <a:off x="8046720" y="5166360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 cambio claro/oscuro se revela como una onda circular desde el clic.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437376"/>
            <a:ext cx="85039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A7B74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 — SISTEMA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640080" y="868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Tono </a:t>
            </a:r>
            <a:pPr algn="l" indent="0" marL="0">
              <a:buNone/>
            </a:pPr>
            <a:r>
              <a:rPr lang="en-US" sz="3600" b="1" dirty="0">
                <a:solidFill>
                  <a:srgbClr val="1F6F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 voz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00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Directo y amigable, sin perder la cordialidad. Español de Argentina, con voseo, frases cortas y sin formalismos ni tecnicismos.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2402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ASÍ SÍ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400800" y="22402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553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ASÍ NO</a:t>
            </a:r>
            <a:endParaRPr lang="en-US" sz="1000" dirty="0"/>
          </a:p>
        </p:txBody>
      </p:sp>
      <p:sp>
        <p:nvSpPr>
          <p:cNvPr id="7" name="Filete vertical"/>
          <p:cNvSpPr/>
          <p:nvPr/>
        </p:nvSpPr>
        <p:spPr>
          <a:xfrm>
            <a:off x="6080760" y="2240280"/>
            <a:ext cx="0" cy="4023360"/>
          </a:xfrm>
          <a:prstGeom prst="line">
            <a:avLst/>
          </a:prstGeom>
          <a:noFill/>
          <a:ln w="9525">
            <a:solidFill>
              <a:srgbClr val="CAD6CF"/>
            </a:solidFill>
            <a:prstDash val="solid"/>
          </a:ln>
        </p:spPr>
      </p:sp>
      <p:sp>
        <p:nvSpPr>
          <p:cNvPr id="8" name="Filete"/>
          <p:cNvSpPr/>
          <p:nvPr/>
        </p:nvSpPr>
        <p:spPr>
          <a:xfrm>
            <a:off x="640080" y="2606040"/>
            <a:ext cx="5120640" cy="0"/>
          </a:xfrm>
          <a:prstGeom prst="line">
            <a:avLst/>
          </a:prstGeom>
          <a:noFill/>
          <a:ln w="15875">
            <a:solidFill>
              <a:srgbClr val="0D1F18"/>
            </a:solidFill>
            <a:prstDash val="solid"/>
          </a:ln>
        </p:spPr>
      </p:sp>
      <p:sp>
        <p:nvSpPr>
          <p:cNvPr id="9" name="Filete"/>
          <p:cNvSpPr/>
          <p:nvPr/>
        </p:nvSpPr>
        <p:spPr>
          <a:xfrm>
            <a:off x="6400800" y="2606040"/>
            <a:ext cx="5148072" cy="0"/>
          </a:xfrm>
          <a:prstGeom prst="line">
            <a:avLst/>
          </a:prstGeom>
          <a:noFill/>
          <a:ln w="15875">
            <a:solidFill>
              <a:srgbClr val="0D1F1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715768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Tocá un turno libre para reservarlo.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400800" y="2715768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strike="sngStrike" dirty="0">
                <a:solidFill>
                  <a:srgbClr val="6A7B7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Clickee sobre el slot disponible para efectuar la reserva.</a:t>
            </a:r>
            <a:endParaRPr lang="en-US" sz="2000" dirty="0"/>
          </a:p>
        </p:txBody>
      </p:sp>
      <p:sp>
        <p:nvSpPr>
          <p:cNvPr id="12" name="Filete"/>
          <p:cNvSpPr/>
          <p:nvPr/>
        </p:nvSpPr>
        <p:spPr>
          <a:xfrm>
            <a:off x="640080" y="3520440"/>
            <a:ext cx="5120640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13" name="Filete"/>
          <p:cNvSpPr/>
          <p:nvPr/>
        </p:nvSpPr>
        <p:spPr>
          <a:xfrm>
            <a:off x="6400800" y="3520440"/>
            <a:ext cx="5148072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3630168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Falta completar el campo Teléfono: es obligatorio.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0" y="3630168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strike="sngStrike" dirty="0">
                <a:solidFill>
                  <a:srgbClr val="6A7B7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Error de validación: campo requerido (400).</a:t>
            </a:r>
            <a:endParaRPr lang="en-US" sz="2000" dirty="0"/>
          </a:p>
        </p:txBody>
      </p:sp>
      <p:sp>
        <p:nvSpPr>
          <p:cNvPr id="16" name="Filete"/>
          <p:cNvSpPr/>
          <p:nvPr/>
        </p:nvSpPr>
        <p:spPr>
          <a:xfrm>
            <a:off x="640080" y="4434840"/>
            <a:ext cx="5120640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17" name="Filete"/>
          <p:cNvSpPr/>
          <p:nvPr/>
        </p:nvSpPr>
        <p:spPr>
          <a:xfrm>
            <a:off x="6400800" y="4434840"/>
            <a:ext cx="5148072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0080" y="4544568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Elegí una categoría.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0" y="4544568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strike="sngStrike" dirty="0">
                <a:solidFill>
                  <a:srgbClr val="6A7B7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Seleccione una opción del dropdown.</a:t>
            </a:r>
            <a:endParaRPr lang="en-US" sz="2000" dirty="0"/>
          </a:p>
        </p:txBody>
      </p:sp>
      <p:sp>
        <p:nvSpPr>
          <p:cNvPr id="20" name="Filete"/>
          <p:cNvSpPr/>
          <p:nvPr/>
        </p:nvSpPr>
        <p:spPr>
          <a:xfrm>
            <a:off x="640080" y="5349240"/>
            <a:ext cx="5120640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21" name="Filete"/>
          <p:cNvSpPr/>
          <p:nvPr/>
        </p:nvSpPr>
        <p:spPr>
          <a:xfrm>
            <a:off x="6400800" y="5349240"/>
            <a:ext cx="5148072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5458968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pudimos cargar los ingresos. Intentá de nuevo.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0" y="5458968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strike="sngStrike" dirty="0">
                <a:solidFill>
                  <a:srgbClr val="6A7B7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Ocurrió una excepción inesperada.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437376"/>
            <a:ext cx="85039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A7B74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 — SISTEMA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640080" y="868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Así </a:t>
            </a:r>
            <a:pPr algn="l" indent="0" marL="0">
              <a:buNone/>
            </a:pPr>
            <a:r>
              <a:rPr lang="en-US" sz="3600" b="1" dirty="0">
                <a:solidFill>
                  <a:srgbClr val="1F6F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habla el chatbot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3736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Directo, amigable y cordial. Primero lo que importa; el voseo y el saludo hacen el resto.</a:t>
            </a:r>
            <a:endParaRPr lang="en-US" sz="1600" dirty="0"/>
          </a:p>
        </p:txBody>
      </p:sp>
      <p:sp>
        <p:nvSpPr>
          <p:cNvPr id="5" name="Filete"/>
          <p:cNvSpPr/>
          <p:nvPr/>
        </p:nvSpPr>
        <p:spPr>
          <a:xfrm>
            <a:off x="640080" y="3063240"/>
            <a:ext cx="3840480" cy="0"/>
          </a:xfrm>
          <a:prstGeom prst="line">
            <a:avLst/>
          </a:prstGeom>
          <a:noFill/>
          <a:ln w="15875">
            <a:solidFill>
              <a:srgbClr val="0D1F1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318211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DIRECTO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456432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Va al dato: horarios, canchas y precio, sin vueltas.</a:t>
            </a:r>
            <a:endParaRPr lang="en-US" sz="1300" dirty="0"/>
          </a:p>
        </p:txBody>
      </p:sp>
      <p:sp>
        <p:nvSpPr>
          <p:cNvPr id="8" name="Filete"/>
          <p:cNvSpPr/>
          <p:nvPr/>
        </p:nvSpPr>
        <p:spPr>
          <a:xfrm>
            <a:off x="640080" y="3931920"/>
            <a:ext cx="3840480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405079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AMIGABLE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4325112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Saluda, tutea con voseo y no suena a formulario.</a:t>
            </a:r>
            <a:endParaRPr lang="en-US" sz="1300" dirty="0"/>
          </a:p>
        </p:txBody>
      </p:sp>
      <p:sp>
        <p:nvSpPr>
          <p:cNvPr id="11" name="Filete"/>
          <p:cNvSpPr/>
          <p:nvPr/>
        </p:nvSpPr>
        <p:spPr>
          <a:xfrm>
            <a:off x="640080" y="4800600"/>
            <a:ext cx="3840480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491947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CORDIAL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5193792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Sin jerga ni exclamaciones de más. Nunca fría ni formal.</a:t>
            </a:r>
            <a:endParaRPr lang="en-US" sz="1300" dirty="0"/>
          </a:p>
        </p:txBody>
      </p:sp>
      <p:sp>
        <p:nvSpPr>
          <p:cNvPr id="14" name="Conversación"/>
          <p:cNvSpPr/>
          <p:nvPr/>
        </p:nvSpPr>
        <p:spPr>
          <a:xfrm>
            <a:off x="6035040" y="1645920"/>
            <a:ext cx="5513832" cy="4572000"/>
          </a:xfrm>
          <a:prstGeom prst="rect">
            <a:avLst/>
          </a:prstGeom>
          <a:solidFill>
            <a:srgbClr val="E8F2FC"/>
          </a:solidFill>
          <a:ln w="12700">
            <a:solidFill>
              <a:srgbClr val="E8F2FC"/>
            </a:solidFill>
            <a:prstDash val="solid"/>
          </a:ln>
        </p:spPr>
      </p:sp>
      <p:sp>
        <p:nvSpPr>
          <p:cNvPr id="15" name="Encabezado del chat"/>
          <p:cNvSpPr/>
          <p:nvPr/>
        </p:nvSpPr>
        <p:spPr>
          <a:xfrm>
            <a:off x="6035040" y="1645920"/>
            <a:ext cx="5513832" cy="566928"/>
          </a:xfrm>
          <a:prstGeom prst="rect">
            <a:avLst/>
          </a:prstGeom>
          <a:solidFill>
            <a:srgbClr val="0F3D2E"/>
          </a:solidFill>
          <a:ln w="12700">
            <a:solidFill>
              <a:srgbClr val="0F3D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0" y="1746504"/>
            <a:ext cx="365760" cy="365760"/>
          </a:xfrm>
          <a:prstGeom prst="ellipse">
            <a:avLst/>
          </a:prstGeom>
          <a:solidFill>
            <a:srgbClr val="A9D6C4"/>
          </a:solidFill>
          <a:ln w="12700">
            <a:solidFill>
              <a:srgbClr val="A9D6C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0" y="17465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3D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720840" y="171907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Tu club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720840" y="1984248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RESPONDE CON LA IDENTIDAD DEL CLUB</a:t>
            </a:r>
            <a:endParaRPr lang="en-US" sz="800" dirty="0"/>
          </a:p>
        </p:txBody>
      </p:sp>
      <p:sp>
        <p:nvSpPr>
          <p:cNvPr id="20" name="Mensaje"/>
          <p:cNvSpPr/>
          <p:nvPr/>
        </p:nvSpPr>
        <p:spPr>
          <a:xfrm>
            <a:off x="7479792" y="2423160"/>
            <a:ext cx="3840480" cy="566928"/>
          </a:xfrm>
          <a:prstGeom prst="roundRect">
            <a:avLst>
              <a:gd name="adj" fmla="val 19355"/>
            </a:avLst>
          </a:prstGeom>
          <a:solidFill>
            <a:srgbClr val="1F6F57"/>
          </a:solidFill>
          <a:ln w="12700">
            <a:solidFill>
              <a:srgbClr val="1F6F5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616952" y="2496312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Hola, quiero una cancha para mañana a la noche</a:t>
            </a:r>
            <a:endParaRPr lang="en-US" sz="1200" dirty="0"/>
          </a:p>
        </p:txBody>
      </p:sp>
      <p:sp>
        <p:nvSpPr>
          <p:cNvPr id="22" name="Mensaje"/>
          <p:cNvSpPr/>
          <p:nvPr/>
        </p:nvSpPr>
        <p:spPr>
          <a:xfrm>
            <a:off x="6263640" y="3246120"/>
            <a:ext cx="402336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BFDDF7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00800" y="331927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¡Hola! Para mañana a la noche tengo libre:</a:t>
            </a:r>
            <a:endParaRPr lang="en-US" sz="1200" dirty="0"/>
          </a:p>
        </p:txBody>
      </p:sp>
      <p:sp>
        <p:nvSpPr>
          <p:cNvPr id="24" name="Horario"/>
          <p:cNvSpPr/>
          <p:nvPr/>
        </p:nvSpPr>
        <p:spPr>
          <a:xfrm>
            <a:off x="6400800" y="3867912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6BAEE8"/>
          </a:solidFill>
          <a:ln w="12700">
            <a:solidFill>
              <a:srgbClr val="6BAEE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00800" y="3867912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20:00 · Cancha 1</a:t>
            </a:r>
            <a:endParaRPr lang="en-US" sz="1100" dirty="0"/>
          </a:p>
        </p:txBody>
      </p:sp>
      <p:sp>
        <p:nvSpPr>
          <p:cNvPr id="26" name="Horario"/>
          <p:cNvSpPr/>
          <p:nvPr/>
        </p:nvSpPr>
        <p:spPr>
          <a:xfrm>
            <a:off x="8275320" y="3867912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6BAEE8"/>
          </a:solidFill>
          <a:ln w="12700">
            <a:solidFill>
              <a:srgbClr val="6BAEE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75320" y="3867912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21:30 · Cancha 2</a:t>
            </a:r>
            <a:endParaRPr lang="en-US" sz="1100" dirty="0"/>
          </a:p>
        </p:txBody>
      </p:sp>
      <p:sp>
        <p:nvSpPr>
          <p:cNvPr id="28" name="Mensaje"/>
          <p:cNvSpPr/>
          <p:nvPr/>
        </p:nvSpPr>
        <p:spPr>
          <a:xfrm>
            <a:off x="9217152" y="4599432"/>
            <a:ext cx="2103120" cy="566928"/>
          </a:xfrm>
          <a:prstGeom prst="roundRect">
            <a:avLst>
              <a:gd name="adj" fmla="val 19355"/>
            </a:avLst>
          </a:prstGeom>
          <a:solidFill>
            <a:srgbClr val="1F6F57"/>
          </a:solidFill>
          <a:ln w="12700">
            <a:solidFill>
              <a:srgbClr val="1F6F57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354312" y="467258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 de las 21:30</a:t>
            </a:r>
            <a:endParaRPr lang="en-US" sz="1200" dirty="0"/>
          </a:p>
        </p:txBody>
      </p:sp>
      <p:sp>
        <p:nvSpPr>
          <p:cNvPr id="30" name="Mensaje"/>
          <p:cNvSpPr/>
          <p:nvPr/>
        </p:nvSpPr>
        <p:spPr>
          <a:xfrm>
            <a:off x="6263640" y="5422392"/>
            <a:ext cx="4206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BFDDF7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00800" y="5495544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Listo, te anoté en Cancha 2 a las 21:30. ¿Cuántos van a jugar?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6035040" y="6291072"/>
            <a:ext cx="55138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A7B7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EJEMPLO DE TONO. EL FLUJO DEL CHATBOT TODAVÍA NO ESTÁ DEFINIDO.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437376"/>
            <a:ext cx="85039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A7B74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 — SISTEMA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640080" y="868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 protagonista </a:t>
            </a:r>
            <a:pPr algn="l" indent="0" marL="0">
              <a:buNone/>
            </a:pPr>
            <a:r>
              <a:rPr lang="en-US" sz="3600" b="1" dirty="0">
                <a:solidFill>
                  <a:srgbClr val="1F6F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es el club</a:t>
            </a:r>
            <a:endParaRPr lang="en-US" sz="3600" dirty="0"/>
          </a:p>
        </p:txBody>
      </p:sp>
      <p:sp>
        <p:nvSpPr>
          <p:cNvPr id="4" name="Capa 1"/>
          <p:cNvSpPr/>
          <p:nvPr/>
        </p:nvSpPr>
        <p:spPr>
          <a:xfrm>
            <a:off x="640080" y="1691640"/>
            <a:ext cx="10908792" cy="1463040"/>
          </a:xfrm>
          <a:prstGeom prst="rect">
            <a:avLst/>
          </a:prstGeom>
          <a:solidFill>
            <a:srgbClr val="6BAEE8"/>
          </a:solidFill>
          <a:ln w="12700">
            <a:solidFill>
              <a:srgbClr val="6BAE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189280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LO QUE VE EL JUGADOR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14884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spc="-100" kern="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Habla con la identidad del club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492240" y="192024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 chatbot responde como el club, sin marca ni publicidad de Pali. Parte de una base común que cada club puede personalizar.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862072"/>
            <a:ext cx="10058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100" kern="0" dirty="0">
                <a:solidFill>
                  <a:srgbClr val="0D1F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DEFINIDO  ·  PERSONALIZACIÓN A CONFIRMAR</a:t>
            </a:r>
            <a:endParaRPr lang="en-US" sz="900" dirty="0"/>
          </a:p>
        </p:txBody>
      </p:sp>
      <p:sp>
        <p:nvSpPr>
          <p:cNvPr id="9" name="Capa 2"/>
          <p:cNvSpPr/>
          <p:nvPr/>
        </p:nvSpPr>
        <p:spPr>
          <a:xfrm>
            <a:off x="640080" y="3246120"/>
            <a:ext cx="10908792" cy="1463040"/>
          </a:xfrm>
          <a:prstGeom prst="rect">
            <a:avLst/>
          </a:prstGeom>
          <a:solidFill>
            <a:srgbClr val="A9D6C4"/>
          </a:solidFill>
          <a:ln w="12700">
            <a:solidFill>
              <a:srgbClr val="A9D6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60120" y="344728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F3D2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LO QUE VE EL ADMINISTRADOR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960120" y="370332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spc="-100" kern="0" dirty="0">
                <a:solidFill>
                  <a:srgbClr val="0F3D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 club gana presencia en el backoffice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492240" y="347472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3D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 nombre y su logo tendrían más lugar, con un diseño tipo marca blanca. Todavía no está resuelto cómo.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960120" y="4416552"/>
            <a:ext cx="10058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100" kern="0" dirty="0">
                <a:solidFill>
                  <a:srgbClr val="0F3D2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DEFINIR</a:t>
            </a:r>
            <a:endParaRPr lang="en-US" sz="900" dirty="0"/>
          </a:p>
        </p:txBody>
      </p:sp>
      <p:sp>
        <p:nvSpPr>
          <p:cNvPr id="14" name="Capa 3"/>
          <p:cNvSpPr/>
          <p:nvPr/>
        </p:nvSpPr>
        <p:spPr>
          <a:xfrm>
            <a:off x="640080" y="4800600"/>
            <a:ext cx="10908792" cy="1463040"/>
          </a:xfrm>
          <a:prstGeom prst="rect">
            <a:avLst/>
          </a:prstGeom>
          <a:solidFill>
            <a:srgbClr val="0F3D2E"/>
          </a:solidFill>
          <a:ln w="12700">
            <a:solidFill>
              <a:srgbClr val="0F3D2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60120" y="50017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DETRÁS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960120" y="525780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spc="-100" kern="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Pali trabaja en silencio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6492240" y="502920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Es el producto para el administrador. Su misión: que el club compita bien con el resto. El jugador nunca lo ve.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960120" y="5971032"/>
            <a:ext cx="10058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1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DEFINIDO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437376"/>
            <a:ext cx="85039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A7B74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 — SISTEMA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640080" y="868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 marca </a:t>
            </a:r>
            <a:pPr algn="l" indent="0" marL="0">
              <a:buNone/>
            </a:pPr>
            <a:r>
              <a:rPr lang="en-US" sz="3600" b="1" dirty="0">
                <a:solidFill>
                  <a:srgbClr val="1F6F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en el producto</a:t>
            </a:r>
            <a:endParaRPr lang="en-US" sz="3600" dirty="0"/>
          </a:p>
        </p:txBody>
      </p:sp>
      <p:sp>
        <p:nvSpPr>
          <p:cNvPr id="4" name="Marco de pantalla"/>
          <p:cNvSpPr/>
          <p:nvPr/>
        </p:nvSpPr>
        <p:spPr>
          <a:xfrm>
            <a:off x="640080" y="1783080"/>
            <a:ext cx="7680960" cy="4343400"/>
          </a:xfrm>
          <a:prstGeom prst="roundRect">
            <a:avLst>
              <a:gd name="adj" fmla="val 1263"/>
            </a:avLst>
          </a:prstGeom>
          <a:solidFill>
            <a:srgbClr val="FFFFFF"/>
          </a:solidFill>
          <a:ln w="9525">
            <a:solidFill>
              <a:srgbClr val="CAD6CF"/>
            </a:solidFill>
            <a:prstDash val="solid"/>
          </a:ln>
        </p:spPr>
      </p:sp>
      <p:sp>
        <p:nvSpPr>
          <p:cNvPr id="5" name="Barra lateral"/>
          <p:cNvSpPr/>
          <p:nvPr/>
        </p:nvSpPr>
        <p:spPr>
          <a:xfrm>
            <a:off x="640080" y="1783080"/>
            <a:ext cx="2011680" cy="4343400"/>
          </a:xfrm>
          <a:prstGeom prst="roundRect">
            <a:avLst>
              <a:gd name="adj" fmla="val 2727"/>
            </a:avLst>
          </a:prstGeom>
          <a:solidFill>
            <a:srgbClr val="0F3D2E"/>
          </a:solidFill>
          <a:ln w="12700">
            <a:solidFill>
              <a:srgbClr val="0F3D2E"/>
            </a:solidFill>
            <a:prstDash val="solid"/>
          </a:ln>
        </p:spPr>
      </p:sp>
      <p:pic>
        <p:nvPicPr>
          <p:cNvPr id="6" name="Barra lateral · pelota" descr="Pelota del logo de Pal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2057400"/>
            <a:ext cx="310896" cy="310896"/>
          </a:xfrm>
          <a:prstGeom prst="rect">
            <a:avLst/>
          </a:prstGeom>
        </p:spPr>
      </p:pic>
      <p:sp>
        <p:nvSpPr>
          <p:cNvPr id="7" name="Barra lateral · nombre"/>
          <p:cNvSpPr txBox="1"/>
          <p:nvPr/>
        </p:nvSpPr>
        <p:spPr>
          <a:xfrm>
            <a:off x="1262969" y="2026310"/>
            <a:ext cx="932688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-100" kern="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Pali</a:t>
            </a:r>
            <a:endParaRPr lang="en-US" sz="21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2724912"/>
            <a:ext cx="365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1325880" y="2724912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Cobros</a:t>
            </a:r>
            <a:endParaRPr lang="en-US" sz="1300" dirty="0"/>
          </a:p>
        </p:txBody>
      </p:sp>
      <p:sp>
        <p:nvSpPr>
          <p:cNvPr id="10" name="Ítem activo"/>
          <p:cNvSpPr/>
          <p:nvPr/>
        </p:nvSpPr>
        <p:spPr>
          <a:xfrm>
            <a:off x="777240" y="3154680"/>
            <a:ext cx="1737360" cy="384048"/>
          </a:xfrm>
          <a:prstGeom prst="roundRect">
            <a:avLst>
              <a:gd name="adj" fmla="val 16667"/>
            </a:avLst>
          </a:prstGeom>
          <a:solidFill>
            <a:srgbClr val="A9D6C4"/>
          </a:solidFill>
          <a:ln w="12700">
            <a:solidFill>
              <a:srgbClr val="A9D6C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14400" y="3182112"/>
            <a:ext cx="365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1325880" y="3182112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3D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Agenda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914400" y="3639312"/>
            <a:ext cx="365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1325880" y="3639312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Personas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914400" y="4096512"/>
            <a:ext cx="365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1325880" y="4096512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Reservas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914400" y="4553712"/>
            <a:ext cx="365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1325880" y="4553712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Configuración</a:t>
            </a:r>
            <a:endParaRPr lang="en-US" sz="1300" dirty="0"/>
          </a:p>
        </p:txBody>
      </p:sp>
      <p:sp>
        <p:nvSpPr>
          <p:cNvPr id="19" name="Encabezado de página"/>
          <p:cNvSpPr/>
          <p:nvPr/>
        </p:nvSpPr>
        <p:spPr>
          <a:xfrm>
            <a:off x="2880360" y="2057400"/>
            <a:ext cx="5212080" cy="1051560"/>
          </a:xfrm>
          <a:prstGeom prst="roundRect">
            <a:avLst>
              <a:gd name="adj" fmla="val 12174"/>
            </a:avLst>
          </a:prstGeom>
          <a:solidFill>
            <a:srgbClr val="DFEEE6"/>
          </a:solidFill>
          <a:ln w="12700">
            <a:solidFill>
              <a:srgbClr val="DFEEE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154680" y="21945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BACKOFFICE · AGENDA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3154680" y="246888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Reservá un turno en </a:t>
            </a:r>
            <a:pPr indent="0" marL="0">
              <a:buNone/>
            </a:pPr>
            <a:r>
              <a:rPr lang="en-US" sz="2400" b="1" dirty="0">
                <a:solidFill>
                  <a:srgbClr val="1F6F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 clics</a:t>
            </a:r>
            <a:endParaRPr lang="en-US" sz="2400" dirty="0"/>
          </a:p>
        </p:txBody>
      </p:sp>
      <p:sp>
        <p:nvSpPr>
          <p:cNvPr id="22" name="Turno Libre"/>
          <p:cNvSpPr/>
          <p:nvPr/>
        </p:nvSpPr>
        <p:spPr>
          <a:xfrm>
            <a:off x="2880360" y="3383280"/>
            <a:ext cx="164592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5875">
            <a:solidFill>
              <a:srgbClr val="CAD6CF"/>
            </a:solidFill>
            <a:prstDash val="dash"/>
          </a:ln>
        </p:spPr>
      </p:sp>
      <p:sp>
        <p:nvSpPr>
          <p:cNvPr id="23" name="Text 20"/>
          <p:cNvSpPr txBox="1"/>
          <p:nvPr/>
        </p:nvSpPr>
        <p:spPr>
          <a:xfrm>
            <a:off x="3017520" y="352044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4354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LIBRE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3017520" y="38404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 de 4 personas</a:t>
            </a:r>
            <a:endParaRPr lang="en-US" sz="1200" dirty="0"/>
          </a:p>
        </p:txBody>
      </p:sp>
      <p:sp>
        <p:nvSpPr>
          <p:cNvPr id="25" name="Turno Reservado"/>
          <p:cNvSpPr/>
          <p:nvPr/>
        </p:nvSpPr>
        <p:spPr>
          <a:xfrm>
            <a:off x="4663440" y="3383280"/>
            <a:ext cx="1645920" cy="868680"/>
          </a:xfrm>
          <a:prstGeom prst="roundRect">
            <a:avLst>
              <a:gd name="adj" fmla="val 10526"/>
            </a:avLst>
          </a:prstGeom>
          <a:solidFill>
            <a:srgbClr val="E8F4EE"/>
          </a:solidFill>
          <a:ln w="15875">
            <a:solidFill>
              <a:srgbClr val="BCDCCB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800600" y="352044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RESERVADO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4800600" y="38404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6F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 de 4 personas</a:t>
            </a:r>
            <a:endParaRPr lang="en-US" sz="1200" dirty="0"/>
          </a:p>
        </p:txBody>
      </p:sp>
      <p:sp>
        <p:nvSpPr>
          <p:cNvPr id="28" name="Turno Completo"/>
          <p:cNvSpPr/>
          <p:nvPr/>
        </p:nvSpPr>
        <p:spPr>
          <a:xfrm>
            <a:off x="6446520" y="3383280"/>
            <a:ext cx="1645920" cy="868680"/>
          </a:xfrm>
          <a:prstGeom prst="roundRect">
            <a:avLst>
              <a:gd name="adj" fmla="val 10526"/>
            </a:avLst>
          </a:prstGeom>
          <a:solidFill>
            <a:srgbClr val="0F3D2E"/>
          </a:solidFill>
          <a:ln w="12700">
            <a:solidFill>
              <a:srgbClr val="0F3D2E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52044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COMPLETO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6583680" y="38404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D6C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 de 4 personas</a:t>
            </a:r>
            <a:endParaRPr lang="en-US" sz="1200" dirty="0"/>
          </a:p>
        </p:txBody>
      </p:sp>
      <p:sp>
        <p:nvSpPr>
          <p:cNvPr id="31" name="Chip categoría"/>
          <p:cNvSpPr/>
          <p:nvPr/>
        </p:nvSpPr>
        <p:spPr>
          <a:xfrm>
            <a:off x="6583680" y="5394960"/>
            <a:ext cx="731520" cy="310896"/>
          </a:xfrm>
          <a:prstGeom prst="roundRect">
            <a:avLst>
              <a:gd name="adj" fmla="val 50000"/>
            </a:avLst>
          </a:prstGeom>
          <a:solidFill>
            <a:srgbClr val="F1EEFB"/>
          </a:solidFill>
          <a:ln w="9525">
            <a:solidFill>
              <a:srgbClr val="E4DFF7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583680" y="539496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3C8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8ª</a:t>
            </a:r>
            <a:endParaRPr lang="en-US" sz="1000" dirty="0"/>
          </a:p>
        </p:txBody>
      </p:sp>
      <p:sp>
        <p:nvSpPr>
          <p:cNvPr id="33" name="Chip cancha"/>
          <p:cNvSpPr/>
          <p:nvPr/>
        </p:nvSpPr>
        <p:spPr>
          <a:xfrm>
            <a:off x="2880360" y="5394960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E8F2FC"/>
          </a:solidFill>
          <a:ln w="9525">
            <a:solidFill>
              <a:srgbClr val="BFDDF7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880360" y="539496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4F8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Cancha 1 · 4 veces</a:t>
            </a:r>
            <a:endParaRPr lang="en-US" sz="1000" dirty="0"/>
          </a:p>
        </p:txBody>
      </p:sp>
      <p:sp>
        <p:nvSpPr>
          <p:cNvPr id="35" name="Botón Reservar"/>
          <p:cNvSpPr/>
          <p:nvPr/>
        </p:nvSpPr>
        <p:spPr>
          <a:xfrm>
            <a:off x="2880360" y="4709160"/>
            <a:ext cx="1234440" cy="457200"/>
          </a:xfrm>
          <a:prstGeom prst="roundRect">
            <a:avLst>
              <a:gd name="adj" fmla="val 14000"/>
            </a:avLst>
          </a:prstGeom>
          <a:solidFill>
            <a:srgbClr val="1F6F57"/>
          </a:solidFill>
          <a:ln w="12700">
            <a:solidFill>
              <a:srgbClr val="1F6F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880360" y="470916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Reservar</a:t>
            </a:r>
            <a:endParaRPr lang="en-US" sz="1100" dirty="0"/>
          </a:p>
        </p:txBody>
      </p:sp>
      <p:sp>
        <p:nvSpPr>
          <p:cNvPr id="37" name="Botón Aceptar"/>
          <p:cNvSpPr/>
          <p:nvPr/>
        </p:nvSpPr>
        <p:spPr>
          <a:xfrm>
            <a:off x="4206240" y="4709160"/>
            <a:ext cx="1234440" cy="457200"/>
          </a:xfrm>
          <a:prstGeom prst="roundRect">
            <a:avLst>
              <a:gd name="adj" fmla="val 14000"/>
            </a:avLst>
          </a:prstGeom>
          <a:solidFill>
            <a:srgbClr val="0F3D2E"/>
          </a:solidFill>
          <a:ln w="12700">
            <a:solidFill>
              <a:srgbClr val="0F3D2E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206240" y="470916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Aceptar</a:t>
            </a:r>
            <a:endParaRPr lang="en-US" sz="1100" dirty="0"/>
          </a:p>
        </p:txBody>
      </p:sp>
      <p:sp>
        <p:nvSpPr>
          <p:cNvPr id="39" name="Botón Cancelar"/>
          <p:cNvSpPr/>
          <p:nvPr/>
        </p:nvSpPr>
        <p:spPr>
          <a:xfrm>
            <a:off x="5532120" y="4709160"/>
            <a:ext cx="1234440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CAD6C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5532120" y="470916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Cancelar</a:t>
            </a:r>
            <a:endParaRPr lang="en-US" sz="1100" dirty="0"/>
          </a:p>
        </p:txBody>
      </p:sp>
      <p:sp>
        <p:nvSpPr>
          <p:cNvPr id="41" name="Botón Cancelar turno"/>
          <p:cNvSpPr/>
          <p:nvPr/>
        </p:nvSpPr>
        <p:spPr>
          <a:xfrm>
            <a:off x="6858000" y="4709160"/>
            <a:ext cx="1234440" cy="457200"/>
          </a:xfrm>
          <a:prstGeom prst="roundRect">
            <a:avLst>
              <a:gd name="adj" fmla="val 14000"/>
            </a:avLst>
          </a:prstGeom>
          <a:solidFill>
            <a:srgbClr val="FDEEEA"/>
          </a:solidFill>
          <a:ln w="9525">
            <a:solidFill>
              <a:srgbClr val="F4B9AD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6858000" y="470916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553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Cancelar turno</a:t>
            </a:r>
            <a:endParaRPr lang="en-US" sz="1100" dirty="0"/>
          </a:p>
        </p:txBody>
      </p:sp>
      <p:sp>
        <p:nvSpPr>
          <p:cNvPr id="43" name="Filete"/>
          <p:cNvSpPr/>
          <p:nvPr/>
        </p:nvSpPr>
        <p:spPr>
          <a:xfrm>
            <a:off x="8778240" y="1783080"/>
            <a:ext cx="2770632" cy="0"/>
          </a:xfrm>
          <a:prstGeom prst="line">
            <a:avLst/>
          </a:prstGeom>
          <a:noFill/>
          <a:ln w="15875">
            <a:solidFill>
              <a:srgbClr val="0D1F18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778240" y="189280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000" dirty="0"/>
          </a:p>
        </p:txBody>
      </p:sp>
      <p:sp>
        <p:nvSpPr>
          <p:cNvPr id="45" name="Text 42"/>
          <p:cNvSpPr txBox="1"/>
          <p:nvPr/>
        </p:nvSpPr>
        <p:spPr>
          <a:xfrm>
            <a:off x="9326880" y="18745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Logo en oscuro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9326880" y="21945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Sobre la barra lateral verde bosque.</a:t>
            </a:r>
            <a:endParaRPr lang="en-US" sz="1200" dirty="0"/>
          </a:p>
        </p:txBody>
      </p:sp>
      <p:sp>
        <p:nvSpPr>
          <p:cNvPr id="47" name="Filete"/>
          <p:cNvSpPr/>
          <p:nvPr/>
        </p:nvSpPr>
        <p:spPr>
          <a:xfrm>
            <a:off x="8778240" y="2679192"/>
            <a:ext cx="2770632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8778240" y="27889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9326880" y="27706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Verde de marca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9326880" y="3090672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Solo en la acción principal. Un botón primario por vista.</a:t>
            </a:r>
            <a:endParaRPr lang="en-US" sz="1200" dirty="0"/>
          </a:p>
        </p:txBody>
      </p:sp>
      <p:sp>
        <p:nvSpPr>
          <p:cNvPr id="51" name="Filete"/>
          <p:cNvSpPr/>
          <p:nvPr/>
        </p:nvSpPr>
        <p:spPr>
          <a:xfrm>
            <a:off x="8778240" y="3575304"/>
            <a:ext cx="2770632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8778240" y="368503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9326880" y="366674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Azul y lavanda</a:t>
            </a:r>
            <a:endParaRPr lang="en-US" sz="1400" dirty="0"/>
          </a:p>
        </p:txBody>
      </p:sp>
      <p:sp>
        <p:nvSpPr>
          <p:cNvPr id="54" name="Text 51"/>
          <p:cNvSpPr txBox="1"/>
          <p:nvPr/>
        </p:nvSpPr>
        <p:spPr>
          <a:xfrm>
            <a:off x="9326880" y="3986784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Datos en azul; categoría y promos en lavanda.</a:t>
            </a:r>
            <a:endParaRPr lang="en-US" sz="1200" dirty="0"/>
          </a:p>
        </p:txBody>
      </p:sp>
      <p:sp>
        <p:nvSpPr>
          <p:cNvPr id="55" name="Filete"/>
          <p:cNvSpPr/>
          <p:nvPr/>
        </p:nvSpPr>
        <p:spPr>
          <a:xfrm>
            <a:off x="8778240" y="4471416"/>
            <a:ext cx="2770632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8778240" y="458114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9326880" y="456285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Coral</a:t>
            </a:r>
            <a:endParaRPr lang="en-US" sz="1400" dirty="0"/>
          </a:p>
        </p:txBody>
      </p:sp>
      <p:sp>
        <p:nvSpPr>
          <p:cNvPr id="58" name="Text 55"/>
          <p:cNvSpPr txBox="1"/>
          <p:nvPr/>
        </p:nvSpPr>
        <p:spPr>
          <a:xfrm>
            <a:off x="9326880" y="4882896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Aparece únicamente al cancelar.</a:t>
            </a:r>
            <a:endParaRPr lang="en-US" sz="1200" dirty="0"/>
          </a:p>
        </p:txBody>
      </p:sp>
      <p:sp>
        <p:nvSpPr>
          <p:cNvPr id="59" name="Filete"/>
          <p:cNvSpPr/>
          <p:nvPr/>
        </p:nvSpPr>
        <p:spPr>
          <a:xfrm>
            <a:off x="8778240" y="5367528"/>
            <a:ext cx="2770632" cy="0"/>
          </a:xfrm>
          <a:prstGeom prst="line">
            <a:avLst/>
          </a:prstGeom>
          <a:noFill/>
          <a:ln w="9525">
            <a:solidFill>
              <a:srgbClr val="E2EAE5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8778240" y="5477256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6F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1000" dirty="0"/>
          </a:p>
        </p:txBody>
      </p:sp>
      <p:sp>
        <p:nvSpPr>
          <p:cNvPr id="61" name="Text 58"/>
          <p:cNvSpPr txBox="1"/>
          <p:nvPr/>
        </p:nvSpPr>
        <p:spPr>
          <a:xfrm>
            <a:off x="9326880" y="545896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1F1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Estados</a:t>
            </a:r>
            <a:endParaRPr lang="en-US" sz="1400" dirty="0"/>
          </a:p>
        </p:txBody>
      </p:sp>
      <p:sp>
        <p:nvSpPr>
          <p:cNvPr id="62" name="Text 59"/>
          <p:cNvSpPr txBox="1"/>
          <p:nvPr/>
        </p:nvSpPr>
        <p:spPr>
          <a:xfrm>
            <a:off x="9326880" y="5779008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54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Nombre escrito más relleno o borde distinto.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98480" y="6437376"/>
            <a:ext cx="85039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A7B74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ncha · borde"/>
          <p:cNvSpPr/>
          <p:nvPr/>
        </p:nvSpPr>
        <p:spPr>
          <a:xfrm>
            <a:off x="-2926080" y="-548640"/>
            <a:ext cx="17556480" cy="8778240"/>
          </a:xfrm>
          <a:prstGeom prst="rect">
            <a:avLst/>
          </a:prstGeom>
          <a:ln w="15875">
            <a:solidFill>
              <a:srgbClr val="1E4D3B"/>
            </a:solidFill>
            <a:prstDash val="solid"/>
          </a:ln>
        </p:spPr>
      </p:sp>
      <p:sp>
        <p:nvSpPr>
          <p:cNvPr id="3" name="Red"/>
          <p:cNvSpPr/>
          <p:nvPr/>
        </p:nvSpPr>
        <p:spPr>
          <a:xfrm>
            <a:off x="5852160" y="-548640"/>
            <a:ext cx="0" cy="8778240"/>
          </a:xfrm>
          <a:prstGeom prst="line">
            <a:avLst/>
          </a:prstGeom>
          <a:noFill/>
          <a:ln w="28575">
            <a:solidFill>
              <a:srgbClr val="1E4D3B"/>
            </a:solidFill>
            <a:prstDash val="solid"/>
          </a:ln>
        </p:spPr>
      </p:sp>
      <p:sp>
        <p:nvSpPr>
          <p:cNvPr id="4" name="Línea de cancha"/>
          <p:cNvSpPr/>
          <p:nvPr/>
        </p:nvSpPr>
        <p:spPr>
          <a:xfrm>
            <a:off x="-248717" y="-548640"/>
            <a:ext cx="0" cy="8778240"/>
          </a:xfrm>
          <a:prstGeom prst="line">
            <a:avLst/>
          </a:prstGeom>
          <a:noFill/>
          <a:ln w="15875">
            <a:solidFill>
              <a:srgbClr val="1E4D3B"/>
            </a:solidFill>
            <a:prstDash val="solid"/>
          </a:ln>
        </p:spPr>
      </p:sp>
      <p:sp>
        <p:nvSpPr>
          <p:cNvPr id="5" name="Línea de cancha"/>
          <p:cNvSpPr/>
          <p:nvPr/>
        </p:nvSpPr>
        <p:spPr>
          <a:xfrm>
            <a:off x="11953037" y="-548640"/>
            <a:ext cx="0" cy="8778240"/>
          </a:xfrm>
          <a:prstGeom prst="line">
            <a:avLst/>
          </a:prstGeom>
          <a:noFill/>
          <a:ln w="15875">
            <a:solidFill>
              <a:srgbClr val="1E4D3B"/>
            </a:solidFill>
            <a:prstDash val="solid"/>
          </a:ln>
        </p:spPr>
      </p:sp>
      <p:sp>
        <p:nvSpPr>
          <p:cNvPr id="6" name="Línea de cancha"/>
          <p:cNvSpPr/>
          <p:nvPr/>
        </p:nvSpPr>
        <p:spPr>
          <a:xfrm>
            <a:off x="-248717" y="3840480"/>
            <a:ext cx="12201754" cy="0"/>
          </a:xfrm>
          <a:prstGeom prst="line">
            <a:avLst/>
          </a:prstGeom>
          <a:noFill/>
          <a:ln w="15875">
            <a:solidFill>
              <a:srgbClr val="1E4D3B"/>
            </a:solidFill>
            <a:prstDash val="solid"/>
          </a:ln>
        </p:spPr>
      </p:sp>
      <p:pic>
        <p:nvPicPr>
          <p:cNvPr id="7" name="Pelota" descr="Pelota de Pal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822960"/>
            <a:ext cx="1371600" cy="1371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2651760"/>
            <a:ext cx="4754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Recursos</a:t>
            </a:r>
            <a:endParaRPr lang="en-US" sz="44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y próximos pasos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61722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PALI — MANUAL DE MARCA · VERSIÓN 1.0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6035040" y="8686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DÓNDE ESTÁ TODO</a:t>
            </a:r>
            <a:endParaRPr lang="en-US" sz="1000" dirty="0"/>
          </a:p>
        </p:txBody>
      </p:sp>
      <p:sp>
        <p:nvSpPr>
          <p:cNvPr id="11" name="Filete"/>
          <p:cNvSpPr/>
          <p:nvPr/>
        </p:nvSpPr>
        <p:spPr>
          <a:xfrm>
            <a:off x="6035040" y="1188720"/>
            <a:ext cx="5513832" cy="0"/>
          </a:xfrm>
          <a:prstGeom prst="line">
            <a:avLst/>
          </a:prstGeom>
          <a:noFill/>
          <a:ln w="9525">
            <a:solidFill>
              <a:srgbClr val="34503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035040" y="129844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Diseño/logo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603504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FEEE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Ícono y logo completo en SVG: claro, oscuro, negro y blanco.</a:t>
            </a:r>
            <a:endParaRPr lang="en-US" sz="1300" dirty="0"/>
          </a:p>
        </p:txBody>
      </p:sp>
      <p:sp>
        <p:nvSpPr>
          <p:cNvPr id="14" name="Filete"/>
          <p:cNvSpPr/>
          <p:nvPr/>
        </p:nvSpPr>
        <p:spPr>
          <a:xfrm>
            <a:off x="6035040" y="1965960"/>
            <a:ext cx="5513832" cy="0"/>
          </a:xfrm>
          <a:prstGeom prst="line">
            <a:avLst/>
          </a:prstGeom>
          <a:noFill/>
          <a:ln w="9525">
            <a:solidFill>
              <a:srgbClr val="34503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035040" y="207568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mockup/css/tokens.css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6035040" y="2331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FEEE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Colores, tipografía y espaciado como variables.</a:t>
            </a:r>
            <a:endParaRPr lang="en-US" sz="1300" dirty="0"/>
          </a:p>
        </p:txBody>
      </p:sp>
      <p:sp>
        <p:nvSpPr>
          <p:cNvPr id="17" name="Filete"/>
          <p:cNvSpPr/>
          <p:nvPr/>
        </p:nvSpPr>
        <p:spPr>
          <a:xfrm>
            <a:off x="6035040" y="2743200"/>
            <a:ext cx="5513832" cy="0"/>
          </a:xfrm>
          <a:prstGeom prst="line">
            <a:avLst/>
          </a:prstGeom>
          <a:noFill/>
          <a:ln w="9525">
            <a:solidFill>
              <a:srgbClr val="34503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035040" y="28529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Diseño/DESIGN-SYSTEM.md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6035040" y="31089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FEEE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Componentes, patrones y reglas de pantalla.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6035040" y="38404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DEFINIR</a:t>
            </a:r>
            <a:endParaRPr lang="en-US" sz="1000" dirty="0"/>
          </a:p>
        </p:txBody>
      </p:sp>
      <p:sp>
        <p:nvSpPr>
          <p:cNvPr id="21" name="Filete"/>
          <p:cNvSpPr/>
          <p:nvPr/>
        </p:nvSpPr>
        <p:spPr>
          <a:xfrm>
            <a:off x="6035040" y="4160520"/>
            <a:ext cx="5513832" cy="0"/>
          </a:xfrm>
          <a:prstGeom prst="line">
            <a:avLst/>
          </a:prstGeom>
          <a:noFill/>
          <a:ln w="9525">
            <a:solidFill>
              <a:srgbClr val="34503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035040" y="431596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6583680" y="4242816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FEEE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Validar el logo claro (pelota verde) y las medidas de respeto y tamaño mínimo.</a:t>
            </a:r>
            <a:endParaRPr lang="en-US" sz="1300" dirty="0"/>
          </a:p>
        </p:txBody>
      </p:sp>
      <p:sp>
        <p:nvSpPr>
          <p:cNvPr id="24" name="Filete"/>
          <p:cNvSpPr/>
          <p:nvPr/>
        </p:nvSpPr>
        <p:spPr>
          <a:xfrm>
            <a:off x="6035040" y="4690872"/>
            <a:ext cx="5513832" cy="0"/>
          </a:xfrm>
          <a:prstGeom prst="line">
            <a:avLst/>
          </a:prstGeom>
          <a:noFill/>
          <a:ln w="9525">
            <a:solidFill>
              <a:srgbClr val="34503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035040" y="48463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6583680" y="4773168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FEEE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Corregir el contraste del gris y del coral; confirmar la dosis de azul y lavanda.</a:t>
            </a:r>
            <a:endParaRPr lang="en-US" sz="1300" dirty="0"/>
          </a:p>
        </p:txBody>
      </p:sp>
      <p:sp>
        <p:nvSpPr>
          <p:cNvPr id="27" name="Filete"/>
          <p:cNvSpPr/>
          <p:nvPr/>
        </p:nvSpPr>
        <p:spPr>
          <a:xfrm>
            <a:off x="6035040" y="5221224"/>
            <a:ext cx="5513832" cy="0"/>
          </a:xfrm>
          <a:prstGeom prst="line">
            <a:avLst/>
          </a:prstGeom>
          <a:noFill/>
          <a:ln w="9525">
            <a:solidFill>
              <a:srgbClr val="34503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035040" y="537667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6583680" y="530352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FEEE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Versión impresa (CMYK) y uso en redes.</a:t>
            </a:r>
            <a:endParaRPr lang="en-US" sz="1300" dirty="0"/>
          </a:p>
        </p:txBody>
      </p:sp>
      <p:sp>
        <p:nvSpPr>
          <p:cNvPr id="30" name="Filete"/>
          <p:cNvSpPr/>
          <p:nvPr/>
        </p:nvSpPr>
        <p:spPr>
          <a:xfrm>
            <a:off x="6035040" y="5751576"/>
            <a:ext cx="5513832" cy="0"/>
          </a:xfrm>
          <a:prstGeom prst="line">
            <a:avLst/>
          </a:prstGeom>
          <a:noFill/>
          <a:ln w="9525">
            <a:solidFill>
              <a:srgbClr val="34503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035040" y="590702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A9D6C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6583680" y="5833872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FEEE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Identidad del club en el backoffice y logo para otros deportes.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ali">
  <a:themeElements>
    <a:clrScheme name="Pali">
      <a:dk1>
        <a:srgbClr val="0D1F18"/>
      </a:dk1>
      <a:lt1>
        <a:srgbClr val="FFFFFF"/>
      </a:lt1>
      <a:dk2>
        <a:srgbClr val="0F3D2E"/>
      </a:dk2>
      <a:lt2>
        <a:srgbClr val="F5F8F6"/>
      </a:lt2>
      <a:accent1>
        <a:srgbClr val="1F6F57"/>
      </a:accent1>
      <a:accent2>
        <a:srgbClr val="A9D6C4"/>
      </a:accent2>
      <a:accent3>
        <a:srgbClr val="DFEEE6"/>
      </a:accent3>
      <a:accent4>
        <a:srgbClr val="E5533D"/>
      </a:accent4>
      <a:accent5>
        <a:srgbClr val="43544D"/>
      </a:accent5>
      <a:accent6>
        <a:srgbClr val="6A7B74"/>
      </a:accent6>
      <a:hlink>
        <a:srgbClr val="1F6F57"/>
      </a:hlink>
      <a:folHlink>
        <a:srgbClr val="43544D"/>
      </a:folHlink>
    </a:clrScheme>
    <a:fontScheme name="Pali">
      <a:majorFont>
        <a:latin typeface="IBM Plex Sa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BM Plex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Pali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Manual de marca · Pali</dc:title>
  <dc:subject>PptxGenJS Presentation</dc:subject>
  <dc:creator>Pali</dc:creator>
  <cp:lastModifiedBy>Pali</cp:lastModifiedBy>
  <cp:revision>1</cp:revision>
  <dcterms:created xsi:type="dcterms:W3CDTF">2026-10-11T03:07:29Z</dcterms:created>
  <dcterms:modified xsi:type="dcterms:W3CDTF">2026-10-11T03:07:29Z</dcterms:modified>
</cp:coreProperties>
</file>