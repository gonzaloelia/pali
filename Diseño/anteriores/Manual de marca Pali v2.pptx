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979e2fbb-3c8c-01dc-fd5f-63d8ee783816}">
          <p14:sldIdLst>
            <p14:sldId id="256"/>
          </p14:sldIdLst>
        </p14:section>
        <p14:section name="Marca" id="{6cd4f861-eaac-88af-475c-62bb87132f10}">
          <p14:sldIdLst>
            <p14:sldId id="257"/>
            <p14:sldId id="258"/>
            <p14:sldId id="259"/>
            <p14:sldId id="260"/>
            <p14:sldId id="261"/>
          </p14:sldIdLst>
        </p14:section>
        <p14:section name="Logo" id="{49bedef9-a9f8-5594-e13c-d02519c1dade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olor" id="{a951a216-7aad-90c6-1481-edd453d4c097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Tipografía" id="{bfa0831c-6378-dd24-d337-3bcb5bfc20cd}">
          <p14:sldIdLst>
            <p14:sldId id="278"/>
            <p14:sldId id="279"/>
            <p14:sldId id="280"/>
            <p14:sldId id="281"/>
          </p14:sldIdLst>
        </p14:section>
        <p14:section name="Sistema" id="{9396071c-045e-c3e6-3c88-91c08dd88cae}">
          <p14:sldIdLst>
            <p14:sldId id="282"/>
            <p14:sldId id="283"/>
            <p14:sldId id="284"/>
            <p14:sldId id="285"/>
            <p14:sldId id="286"/>
          </p14:sldIdLst>
        </p14:section>
        <p14:section name="Cierre" id="{2970dc9e-98df-6560-c94f-bc72e46f3514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8620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— Manual de marca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30175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— Manual de marca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— Manual de marca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D6C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solidFill>
          <a:srgbClr val="0B15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— Manual de marca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6A09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image" Target="../media/image-13-2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4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elota a sangre" descr="Pelota de Pali, recortada por el borde de la lámi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-1005840"/>
            <a:ext cx="8229600" cy="8229600"/>
          </a:xfrm>
          <a:prstGeom prst="rect">
            <a:avLst/>
          </a:prstGeom>
        </p:spPr>
      </p:pic>
      <p:pic>
        <p:nvPicPr>
          <p:cNvPr id="3" name="Portada · pelota" descr="Pelota del logo de P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94360"/>
            <a:ext cx="384048" cy="384048"/>
          </a:xfrm>
          <a:prstGeom prst="rect">
            <a:avLst/>
          </a:prstGeom>
        </p:spPr>
      </p:pic>
      <p:sp>
        <p:nvSpPr>
          <p:cNvPr id="4" name="Portada · nombre"/>
          <p:cNvSpPr txBox="1"/>
          <p:nvPr/>
        </p:nvSpPr>
        <p:spPr>
          <a:xfrm>
            <a:off x="1093257" y="555955"/>
            <a:ext cx="115214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2600" dirty="0"/>
          </a:p>
        </p:txBody>
      </p:sp>
      <p:sp>
        <p:nvSpPr>
          <p:cNvPr id="5" name="Título"/>
          <p:cNvSpPr txBox="1"/>
          <p:nvPr/>
        </p:nvSpPr>
        <p:spPr>
          <a:xfrm>
            <a:off x="640080" y="233172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</a:t>
            </a:r>
            <a:endParaRPr lang="en-US" sz="7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marca</a:t>
            </a:r>
            <a:endParaRPr lang="en-US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4892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Identidad visual de Pali: logo, color, tipografía y reglas de uso.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5943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VERSIÓN 1.0  —  OCTUBRE 2026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217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6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BORRADOR PARA VALIDAR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CONTENIDO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Contenido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Cinco capítulos para usar la marca sin dudas, en el producto y fuera de él.</a:t>
            </a:r>
            <a:endParaRPr lang="en-US" sz="1500" dirty="0"/>
          </a:p>
        </p:txBody>
      </p:sp>
      <p:sp>
        <p:nvSpPr>
          <p:cNvPr id="5" name="Filete"/>
          <p:cNvSpPr/>
          <p:nvPr/>
        </p:nvSpPr>
        <p:spPr>
          <a:xfrm>
            <a:off x="4114800" y="868680"/>
            <a:ext cx="743407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0" y="1124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9966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Marca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1143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es Pali y qué principios guían el diseño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Filete"/>
          <p:cNvSpPr/>
          <p:nvPr/>
        </p:nvSpPr>
        <p:spPr>
          <a:xfrm>
            <a:off x="4114800" y="1947672"/>
            <a:ext cx="7434072" cy="0"/>
          </a:xfrm>
          <a:prstGeom prst="line">
            <a:avLst/>
          </a:prstGeom>
          <a:noFill/>
          <a:ln w="9525">
            <a:solidFill>
              <a:srgbClr val="CAD6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22037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0756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221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Versiones, construcción, espacio y usos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000232" y="2221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15" name="Filete"/>
          <p:cNvSpPr/>
          <p:nvPr/>
        </p:nvSpPr>
        <p:spPr>
          <a:xfrm>
            <a:off x="4114800" y="3026664"/>
            <a:ext cx="7434072" cy="0"/>
          </a:xfrm>
          <a:prstGeom prst="line">
            <a:avLst/>
          </a:prstGeom>
          <a:noFill/>
          <a:ln w="9525">
            <a:solidFill>
              <a:srgbClr val="CA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32826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154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3009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Primarios, secundarios, estados y contraste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000232" y="33009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300" dirty="0"/>
          </a:p>
        </p:txBody>
      </p:sp>
      <p:sp>
        <p:nvSpPr>
          <p:cNvPr id="20" name="Filete"/>
          <p:cNvSpPr/>
          <p:nvPr/>
        </p:nvSpPr>
        <p:spPr>
          <a:xfrm>
            <a:off x="4114800" y="4105656"/>
            <a:ext cx="7434072" cy="0"/>
          </a:xfrm>
          <a:prstGeom prst="line">
            <a:avLst/>
          </a:prstGeom>
          <a:noFill/>
          <a:ln w="9525">
            <a:solidFill>
              <a:srgbClr val="CA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0" y="4361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42336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Tipografía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437997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Sans, IBM Plex Mono y su jerarquía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4379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</a:t>
            </a:r>
            <a:endParaRPr lang="en-US" sz="1300" dirty="0"/>
          </a:p>
        </p:txBody>
      </p:sp>
      <p:sp>
        <p:nvSpPr>
          <p:cNvPr id="25" name="Filete"/>
          <p:cNvSpPr/>
          <p:nvPr/>
        </p:nvSpPr>
        <p:spPr>
          <a:xfrm>
            <a:off x="4114800" y="5184648"/>
            <a:ext cx="7434072" cy="0"/>
          </a:xfrm>
          <a:prstGeom prst="line">
            <a:avLst/>
          </a:prstGeom>
          <a:noFill/>
          <a:ln w="9525">
            <a:solidFill>
              <a:srgbClr val="CAD6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0" y="5440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531266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5458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Forma, voz, el club y la marca en el producto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000232" y="5458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eral"/>
          <p:cNvSpPr txBox="1"/>
          <p:nvPr/>
        </p:nvSpPr>
        <p:spPr>
          <a:xfrm>
            <a:off x="548640" y="320040"/>
            <a:ext cx="9144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0" b="1" spc="-800" kern="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3886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Marca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257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es Pali y los principios que guían cada decisión de diseño.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Esencia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Reservar una cancha tiene que costar </a:t>
            </a:r>
            <a:pPr indent="0" marL="0">
              <a:lnSpc>
                <a:spcPct val="98000"/>
              </a:lnSpc>
              <a:buNone/>
            </a:pPr>
            <a:r>
              <a:rPr lang="en-US" sz="4800" b="1" spc="-100" kern="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</a:t>
            </a:r>
            <a:pPr indent="0" marL="0">
              <a:lnSpc>
                <a:spcPct val="98000"/>
              </a:lnSpc>
              <a:buNone/>
            </a:pPr>
            <a:r>
              <a:rPr lang="en-US" sz="48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anotarla a mano.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PRINCIPIO 01 — POCOS CLICS</a:t>
            </a:r>
            <a:endParaRPr lang="en-US" sz="1000" dirty="0"/>
          </a:p>
        </p:txBody>
      </p:sp>
      <p:sp>
        <p:nvSpPr>
          <p:cNvPr id="6" name="Filete"/>
          <p:cNvSpPr/>
          <p:nvPr/>
        </p:nvSpPr>
        <p:spPr>
          <a:xfrm>
            <a:off x="640080" y="457200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709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QUÉ 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backoffice para que los clubes administren sus canchas y un chatbot de WhatsApp para que los jugadores las alquilen.</a:t>
            </a:r>
            <a:endParaRPr lang="en-US" sz="1400" dirty="0"/>
          </a:p>
        </p:txBody>
      </p:sp>
      <p:sp>
        <p:nvSpPr>
          <p:cNvPr id="9" name="Filete"/>
          <p:cNvSpPr/>
          <p:nvPr/>
        </p:nvSpPr>
        <p:spPr>
          <a:xfrm>
            <a:off x="4343400" y="457200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4709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 QUIÉN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5029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administradores de clubes que hoy anotan todo a mano. Arranca con paddle y está pensado para sumar otros deportes y clubes.</a:t>
            </a:r>
            <a:endParaRPr lang="en-US" sz="1400" dirty="0"/>
          </a:p>
        </p:txBody>
      </p:sp>
      <p:sp>
        <p:nvSpPr>
          <p:cNvPr id="12" name="Filete"/>
          <p:cNvSpPr/>
          <p:nvPr/>
        </p:nvSpPr>
        <p:spPr>
          <a:xfrm>
            <a:off x="8046720" y="457200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4709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CÓMO SE SIENTE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5029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Rápida y clara: pocos clics, superficies blancas para trabajar y un verde con carácter que remite al tenis y al paddle.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Dirección visual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Moderna, mínima y con </a:t>
            </a:r>
            <a:pPr indent="0" marL="0">
              <a:lnSpc>
                <a:spcPct val="98000"/>
              </a:lnSpc>
              <a:buNone/>
            </a:pPr>
            <a:r>
              <a:rPr lang="en-US" sz="4800" b="1" spc="-100" kern="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razón de ser</a:t>
            </a:r>
            <a:endParaRPr lang="en-US" sz="4800" dirty="0"/>
          </a:p>
        </p:txBody>
      </p:sp>
      <p:sp>
        <p:nvSpPr>
          <p:cNvPr id="5" name="Filete"/>
          <p:cNvSpPr/>
          <p:nvPr/>
        </p:nvSpPr>
        <p:spPr>
          <a:xfrm>
            <a:off x="640080" y="402336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160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MODERNA, NO GENÉRICA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805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diseño con criterio propio. No se arma con plantillas ni con efectos de moda.</a:t>
            </a:r>
            <a:endParaRPr lang="en-US" sz="1500" dirty="0"/>
          </a:p>
        </p:txBody>
      </p:sp>
      <p:sp>
        <p:nvSpPr>
          <p:cNvPr id="8" name="Filete"/>
          <p:cNvSpPr/>
          <p:nvPr/>
        </p:nvSpPr>
        <p:spPr>
          <a:xfrm>
            <a:off x="4343400" y="402336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4160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MÍNIMA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44805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Nada está porque sí: cada elemento, color y texto resuelve una necesidad del cliente.</a:t>
            </a:r>
            <a:endParaRPr lang="en-US" sz="1500" dirty="0"/>
          </a:p>
        </p:txBody>
      </p:sp>
      <p:sp>
        <p:nvSpPr>
          <p:cNvPr id="11" name="Filete"/>
          <p:cNvSpPr/>
          <p:nvPr/>
        </p:nvSpPr>
        <p:spPr>
          <a:xfrm>
            <a:off x="8046720" y="402336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4160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PENSADA PARA CRECER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44805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Hoy paddle. Mañana otros deportes y otros clubes. La marca no puede depender de un solo deporte.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89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 MISMO LENGUAJE VALE PARA LA MARCA Y PARA EL BACKOFFICE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MARCA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Ocho principios de diseño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Guían cada decisión, desde una pantalla hasta un color. Los principios 5 y 7 son reglas que no se negocian.</a:t>
            </a:r>
            <a:endParaRPr lang="en-US" sz="1500" dirty="0"/>
          </a:p>
        </p:txBody>
      </p:sp>
      <p:sp>
        <p:nvSpPr>
          <p:cNvPr id="5" name="Filete"/>
          <p:cNvSpPr/>
          <p:nvPr/>
        </p:nvSpPr>
        <p:spPr>
          <a:xfrm>
            <a:off x="4114800" y="868680"/>
            <a:ext cx="743407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0" y="1069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Pocos clics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Reservar un turno debe costar menos que anotarlo a mano.</a:t>
            </a:r>
            <a:endParaRPr lang="en-US" sz="1400" dirty="0"/>
          </a:p>
        </p:txBody>
      </p:sp>
      <p:sp>
        <p:nvSpPr>
          <p:cNvPr id="9" name="Filete"/>
          <p:cNvSpPr/>
          <p:nvPr/>
        </p:nvSpPr>
        <p:spPr>
          <a:xfrm>
            <a:off x="4114800" y="1536192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719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con carácter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719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verde ancla la interfaz y marca la acción.</a:t>
            </a:r>
            <a:endParaRPr lang="en-US" sz="1400" dirty="0"/>
          </a:p>
        </p:txBody>
      </p:sp>
      <p:sp>
        <p:nvSpPr>
          <p:cNvPr id="13" name="Filete"/>
          <p:cNvSpPr/>
          <p:nvPr/>
        </p:nvSpPr>
        <p:spPr>
          <a:xfrm>
            <a:off x="4114800" y="2203704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2404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386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 para trabajar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23865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Agenda, tablas y formularios van sobre blanco.</a:t>
            </a:r>
            <a:endParaRPr lang="en-US" sz="1400" dirty="0"/>
          </a:p>
        </p:txBody>
      </p:sp>
      <p:sp>
        <p:nvSpPr>
          <p:cNvPr id="17" name="Filete"/>
          <p:cNvSpPr/>
          <p:nvPr/>
        </p:nvSpPr>
        <p:spPr>
          <a:xfrm>
            <a:off x="4114800" y="2871216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0540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negro es el texto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0540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negro verdoso para texto y énfasis.</a:t>
            </a:r>
            <a:endParaRPr lang="en-US" sz="1400" dirty="0"/>
          </a:p>
        </p:txBody>
      </p:sp>
      <p:sp>
        <p:nvSpPr>
          <p:cNvPr id="21" name="Filete"/>
          <p:cNvSpPr/>
          <p:nvPr/>
        </p:nvSpPr>
        <p:spPr>
          <a:xfrm>
            <a:off x="4114800" y="3538728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0" y="3739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721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coral solo cancela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721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único color cálido, solo para acciones destructivas.</a:t>
            </a:r>
            <a:endParaRPr lang="en-US" sz="1400" dirty="0"/>
          </a:p>
        </p:txBody>
      </p:sp>
      <p:sp>
        <p:nvSpPr>
          <p:cNvPr id="25" name="Filete"/>
          <p:cNvSpPr/>
          <p:nvPr/>
        </p:nvSpPr>
        <p:spPr>
          <a:xfrm>
            <a:off x="4114800" y="420624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0" y="4407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en mono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Horarios, importes y teléfonos se alinean y se leen rápido.</a:t>
            </a:r>
            <a:endParaRPr lang="en-US" sz="1400" dirty="0"/>
          </a:p>
        </p:txBody>
      </p:sp>
      <p:sp>
        <p:nvSpPr>
          <p:cNvPr id="29" name="Filete"/>
          <p:cNvSpPr/>
          <p:nvPr/>
        </p:nvSpPr>
        <p:spPr>
          <a:xfrm>
            <a:off x="4114800" y="4873752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0" y="5074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5056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Obligatorio se marca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5056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Asterisco verde en lo obligatorio; lo opcional no lleva nada.</a:t>
            </a:r>
            <a:endParaRPr lang="en-US" sz="1400" dirty="0"/>
          </a:p>
        </p:txBody>
      </p:sp>
      <p:sp>
        <p:nvSpPr>
          <p:cNvPr id="33" name="Filete"/>
          <p:cNvSpPr/>
          <p:nvPr/>
        </p:nvSpPr>
        <p:spPr>
          <a:xfrm>
            <a:off x="4114800" y="5541264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14800" y="5742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754880" y="57241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Números de un vistazo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543800" y="57241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Cifras alineadas y siempre con su variación.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eral"/>
          <p:cNvSpPr txBox="1"/>
          <p:nvPr/>
        </p:nvSpPr>
        <p:spPr>
          <a:xfrm>
            <a:off x="548640" y="320040"/>
            <a:ext cx="9144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0" b="1" spc="-800" kern="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3886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257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pelota y un nombre. Cómo se construye, cuándo se usa cada versión y qué no hacer.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logo</a:t>
            </a:r>
            <a:endParaRPr lang="en-US" sz="3600" dirty="0"/>
          </a:p>
        </p:txBody>
      </p:sp>
      <p:pic>
        <p:nvPicPr>
          <p:cNvPr id="4" name="Logo clar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1720"/>
            <a:ext cx="2194560" cy="2194560"/>
          </a:xfrm>
          <a:prstGeom prst="rect">
            <a:avLst/>
          </a:prstGeom>
        </p:spPr>
      </p:pic>
      <p:sp>
        <p:nvSpPr>
          <p:cNvPr id="5" name="Logo claro · nombre"/>
          <p:cNvSpPr txBox="1"/>
          <p:nvPr/>
        </p:nvSpPr>
        <p:spPr>
          <a:xfrm>
            <a:off x="4052621" y="2112264"/>
            <a:ext cx="65836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9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14900" dirty="0"/>
          </a:p>
        </p:txBody>
      </p:sp>
      <p:sp>
        <p:nvSpPr>
          <p:cNvPr id="6" name="Filete vertical"/>
          <p:cNvSpPr/>
          <p:nvPr/>
        </p:nvSpPr>
        <p:spPr>
          <a:xfrm>
            <a:off x="2560320" y="4663440"/>
            <a:ext cx="0" cy="502920"/>
          </a:xfrm>
          <a:prstGeom prst="line">
            <a:avLst/>
          </a:prstGeom>
          <a:noFill/>
          <a:ln w="9525">
            <a:solidFill>
              <a:srgbClr val="0D1F1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468880" y="5230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PELOTA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5486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círculo con la costura de una pelota de tenis y de paddle. Identifica a Pali, sobre todo en tamaños chicos.</a:t>
            </a:r>
            <a:endParaRPr lang="en-US" sz="1300" dirty="0"/>
          </a:p>
        </p:txBody>
      </p:sp>
      <p:sp>
        <p:nvSpPr>
          <p:cNvPr id="9" name="Filete vertical"/>
          <p:cNvSpPr/>
          <p:nvPr/>
        </p:nvSpPr>
        <p:spPr>
          <a:xfrm>
            <a:off x="5515661" y="4663440"/>
            <a:ext cx="0" cy="502920"/>
          </a:xfrm>
          <a:prstGeom prst="line">
            <a:avLst/>
          </a:prstGeom>
          <a:noFill/>
          <a:ln w="9525">
            <a:solidFill>
              <a:srgbClr val="0D1F1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24221" y="5230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NOMBRE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24221" y="54864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“Pali” en IBM Plex Sans SemiBold, con el interletrado en −2 %. La P va en mayúscula y el resto en minúscula.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nombre no se usa sin la pelota. La pelota sí puede usarse sola.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Construcción de la pelota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arcos del mismo radio cortan el círculo. Cada uno está centrado en el punto medio de un borde.</a:t>
            </a:r>
            <a:endParaRPr lang="en-US" sz="1500" dirty="0"/>
          </a:p>
        </p:txBody>
      </p:sp>
      <p:pic>
        <p:nvPicPr>
          <p:cNvPr id="5" name="Pelota" descr="Pelota del logo con guías de construc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37360"/>
            <a:ext cx="2926080" cy="2926080"/>
          </a:xfrm>
          <a:prstGeom prst="rect">
            <a:avLst/>
          </a:prstGeom>
        </p:spPr>
      </p:pic>
      <p:sp>
        <p:nvSpPr>
          <p:cNvPr id="6" name="Guía arco izquierdo"/>
          <p:cNvSpPr/>
          <p:nvPr/>
        </p:nvSpPr>
        <p:spPr>
          <a:xfrm>
            <a:off x="4383634" y="1137514"/>
            <a:ext cx="4125773" cy="4125773"/>
          </a:xfrm>
          <a:prstGeom prst="ellipse">
            <a:avLst/>
          </a:prstGeom>
          <a:ln w="9525">
            <a:solidFill>
              <a:srgbClr val="6A7B74"/>
            </a:solidFill>
            <a:prstDash val="dash"/>
          </a:ln>
        </p:spPr>
      </p:sp>
      <p:sp>
        <p:nvSpPr>
          <p:cNvPr id="7" name="Guía arco derecho"/>
          <p:cNvSpPr/>
          <p:nvPr/>
        </p:nvSpPr>
        <p:spPr>
          <a:xfrm>
            <a:off x="7309714" y="1137514"/>
            <a:ext cx="4125773" cy="4125773"/>
          </a:xfrm>
          <a:prstGeom prst="ellipse">
            <a:avLst/>
          </a:prstGeom>
          <a:ln w="9525">
            <a:solidFill>
              <a:srgbClr val="6A7B74"/>
            </a:solidFill>
            <a:prstDash val="dash"/>
          </a:ln>
        </p:spPr>
      </p:sp>
      <p:sp>
        <p:nvSpPr>
          <p:cNvPr id="8" name="Eje horizontal"/>
          <p:cNvSpPr/>
          <p:nvPr/>
        </p:nvSpPr>
        <p:spPr>
          <a:xfrm>
            <a:off x="6126480" y="3200400"/>
            <a:ext cx="3566160" cy="0"/>
          </a:xfrm>
          <a:prstGeom prst="line">
            <a:avLst/>
          </a:prstGeom>
          <a:noFill/>
          <a:ln w="9525">
            <a:solidFill>
              <a:srgbClr val="0D1F18"/>
            </a:solidFill>
            <a:prstDash val="solid"/>
          </a:ln>
        </p:spPr>
      </p:sp>
      <p:sp>
        <p:nvSpPr>
          <p:cNvPr id="9" name="Eje vertical"/>
          <p:cNvSpPr/>
          <p:nvPr/>
        </p:nvSpPr>
        <p:spPr>
          <a:xfrm>
            <a:off x="7909560" y="1417320"/>
            <a:ext cx="0" cy="3566160"/>
          </a:xfrm>
          <a:prstGeom prst="line">
            <a:avLst/>
          </a:prstGeom>
          <a:noFill/>
          <a:ln w="9525">
            <a:solidFill>
              <a:srgbClr val="0D1F18"/>
            </a:solidFill>
            <a:prstDash val="solid"/>
          </a:ln>
        </p:spPr>
      </p:sp>
      <p:sp>
        <p:nvSpPr>
          <p:cNvPr id="10" name="Centro 1"/>
          <p:cNvSpPr/>
          <p:nvPr/>
        </p:nvSpPr>
        <p:spPr>
          <a:xfrm>
            <a:off x="6391656" y="3145536"/>
            <a:ext cx="109728" cy="109728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1" name="Centro 2"/>
          <p:cNvSpPr/>
          <p:nvPr/>
        </p:nvSpPr>
        <p:spPr>
          <a:xfrm>
            <a:off x="9317736" y="3145536"/>
            <a:ext cx="109728" cy="109728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2" name="Filete"/>
          <p:cNvSpPr/>
          <p:nvPr/>
        </p:nvSpPr>
        <p:spPr>
          <a:xfrm>
            <a:off x="6446520" y="5166360"/>
            <a:ext cx="2926080" cy="0"/>
          </a:xfrm>
          <a:prstGeom prst="line">
            <a:avLst/>
          </a:prstGeom>
          <a:noFill/>
          <a:ln w="12700">
            <a:solidFill>
              <a:srgbClr val="0D1F18"/>
            </a:solidFill>
            <a:prstDash val="solid"/>
          </a:ln>
        </p:spPr>
      </p:sp>
      <p:sp>
        <p:nvSpPr>
          <p:cNvPr id="13" name="Filete vertical"/>
          <p:cNvSpPr/>
          <p:nvPr/>
        </p:nvSpPr>
        <p:spPr>
          <a:xfrm>
            <a:off x="6446520" y="5102352"/>
            <a:ext cx="0" cy="128016"/>
          </a:xfrm>
          <a:prstGeom prst="line">
            <a:avLst/>
          </a:prstGeom>
          <a:noFill/>
          <a:ln w="12700">
            <a:solidFill>
              <a:srgbClr val="0D1F18"/>
            </a:solidFill>
            <a:prstDash val="solid"/>
          </a:ln>
        </p:spPr>
      </p:sp>
      <p:sp>
        <p:nvSpPr>
          <p:cNvPr id="14" name="Filete vertical"/>
          <p:cNvSpPr/>
          <p:nvPr/>
        </p:nvSpPr>
        <p:spPr>
          <a:xfrm>
            <a:off x="9372600" y="5102352"/>
            <a:ext cx="0" cy="128016"/>
          </a:xfrm>
          <a:prstGeom prst="line">
            <a:avLst/>
          </a:prstGeom>
          <a:noFill/>
          <a:ln w="12700">
            <a:solidFill>
              <a:srgbClr val="0D1F1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4873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33101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CENTRO DEL ARCO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418320" y="28529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 = 0,70 D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33101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TRAZO = 6 % DE 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5806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Radio y trazo se miden sobre el diámetro (D) y valen en cualquier tamaño.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 oscuro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Claro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868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Oscuro</a:t>
            </a:r>
            <a:endParaRPr lang="en-US" sz="3600" dirty="0"/>
          </a:p>
        </p:txBody>
      </p:sp>
      <p:pic>
        <p:nvPicPr>
          <p:cNvPr id="6" name="Logo clar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1280160" cy="1280160"/>
          </a:xfrm>
          <a:prstGeom prst="rect">
            <a:avLst/>
          </a:prstGeom>
        </p:spPr>
      </p:pic>
      <p:sp>
        <p:nvSpPr>
          <p:cNvPr id="7" name="Logo claro · nombre"/>
          <p:cNvSpPr txBox="1"/>
          <p:nvPr/>
        </p:nvSpPr>
        <p:spPr>
          <a:xfrm>
            <a:off x="2470709" y="2569464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8700" dirty="0"/>
          </a:p>
        </p:txBody>
      </p:sp>
      <p:pic>
        <p:nvPicPr>
          <p:cNvPr id="8" name="Logo oscuro · pelota" descr="Pelota del logo de P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697480"/>
            <a:ext cx="1280160" cy="1280160"/>
          </a:xfrm>
          <a:prstGeom prst="rect">
            <a:avLst/>
          </a:prstGeom>
        </p:spPr>
      </p:pic>
      <p:sp>
        <p:nvSpPr>
          <p:cNvPr id="9" name="Logo oscuro · nombre"/>
          <p:cNvSpPr txBox="1"/>
          <p:nvPr/>
        </p:nvSpPr>
        <p:spPr>
          <a:xfrm>
            <a:off x="8597189" y="2569464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87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fondos blancos o claros. Pelota verde de marca con costura blanca y nombre en verde bosque.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verde bosque y tema oscuro. Pelota menta con costura verde bosque y nombre en blanco.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172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pali-logo-claro.svg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6172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pali-logo-oscuro.svg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Otras versiones</a:t>
            </a:r>
            <a:endParaRPr lang="en-US" sz="3600" dirty="0"/>
          </a:p>
        </p:txBody>
      </p:sp>
      <p:sp>
        <p:nvSpPr>
          <p:cNvPr id="4" name="Campo Ícono · fondo claro"/>
          <p:cNvSpPr/>
          <p:nvPr/>
        </p:nvSpPr>
        <p:spPr>
          <a:xfrm>
            <a:off x="0" y="1828800"/>
            <a:ext cx="30472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Ícono · fondo claro" descr="Ícono · fondo cla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34640"/>
            <a:ext cx="1216152" cy="12161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Ícono · fondo claro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5742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Favicon, avatar y app.</a:t>
            </a:r>
            <a:endParaRPr lang="en-US" sz="1300" dirty="0"/>
          </a:p>
        </p:txBody>
      </p:sp>
      <p:sp>
        <p:nvSpPr>
          <p:cNvPr id="9" name="Campo Ícono · fondo oscuro"/>
          <p:cNvSpPr/>
          <p:nvPr/>
        </p:nvSpPr>
        <p:spPr>
          <a:xfrm>
            <a:off x="3047238" y="1828800"/>
            <a:ext cx="3047238" cy="329184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10" name="Ícono · fondo oscuro" descr="Ícono · fondo oscu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638" y="2834640"/>
            <a:ext cx="1216152" cy="12161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21558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321558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Ícono · fondo oscuro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321558" y="5742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Favicon, avatar y app.</a:t>
            </a:r>
            <a:endParaRPr lang="en-US" sz="1300" dirty="0"/>
          </a:p>
        </p:txBody>
      </p:sp>
      <p:sp>
        <p:nvSpPr>
          <p:cNvPr id="14" name="Campo Monocromo negro"/>
          <p:cNvSpPr/>
          <p:nvPr/>
        </p:nvSpPr>
        <p:spPr>
          <a:xfrm>
            <a:off x="6094476" y="1828800"/>
            <a:ext cx="3047238" cy="3291840"/>
          </a:xfrm>
          <a:prstGeom prst="rect">
            <a:avLst/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pic>
        <p:nvPicPr>
          <p:cNvPr id="15" name="Mono negro · pelota" descr="Pelota del logo de Pal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3063240"/>
            <a:ext cx="685800" cy="685800"/>
          </a:xfrm>
          <a:prstGeom prst="rect">
            <a:avLst/>
          </a:prstGeom>
        </p:spPr>
      </p:pic>
      <p:sp>
        <p:nvSpPr>
          <p:cNvPr id="16" name="Mono negro · nombre"/>
          <p:cNvSpPr txBox="1"/>
          <p:nvPr/>
        </p:nvSpPr>
        <p:spPr>
          <a:xfrm>
            <a:off x="7406640" y="29946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spc="-100" kern="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4700" dirty="0"/>
          </a:p>
        </p:txBody>
      </p:sp>
      <p:sp>
        <p:nvSpPr>
          <p:cNvPr id="17" name="Text 12"/>
          <p:cNvSpPr txBox="1"/>
          <p:nvPr/>
        </p:nvSpPr>
        <p:spPr>
          <a:xfrm>
            <a:off x="6368796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368796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Monocromo negro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68796" y="5742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Impresos de un solo color, sobre fondo claro.</a:t>
            </a:r>
            <a:endParaRPr lang="en-US" sz="1300" dirty="0"/>
          </a:p>
        </p:txBody>
      </p:sp>
      <p:sp>
        <p:nvSpPr>
          <p:cNvPr id="20" name="Campo Monocromo blanco"/>
          <p:cNvSpPr/>
          <p:nvPr/>
        </p:nvSpPr>
        <p:spPr>
          <a:xfrm>
            <a:off x="9141714" y="1828800"/>
            <a:ext cx="3047238" cy="329184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pic>
        <p:nvPicPr>
          <p:cNvPr id="21" name="Mono blanco · pelota" descr="Pelota del logo de Pal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634" y="3063240"/>
            <a:ext cx="685800" cy="685800"/>
          </a:xfrm>
          <a:prstGeom prst="rect">
            <a:avLst/>
          </a:prstGeom>
        </p:spPr>
      </p:pic>
      <p:sp>
        <p:nvSpPr>
          <p:cNvPr id="22" name="Mono blanco · nombre"/>
          <p:cNvSpPr txBox="1"/>
          <p:nvPr/>
        </p:nvSpPr>
        <p:spPr>
          <a:xfrm>
            <a:off x="10453878" y="29946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4700" dirty="0"/>
          </a:p>
        </p:txBody>
      </p:sp>
      <p:sp>
        <p:nvSpPr>
          <p:cNvPr id="23" name="Text 17"/>
          <p:cNvSpPr txBox="1"/>
          <p:nvPr/>
        </p:nvSpPr>
        <p:spPr>
          <a:xfrm>
            <a:off x="9416034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416034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Monocromo blanco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416034" y="5742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solo color sobre fondos de color.</a:t>
            </a:r>
            <a:endParaRPr lang="en-US" sz="1300" dirty="0"/>
          </a:p>
        </p:txBody>
      </p:sp>
      <p:sp>
        <p:nvSpPr>
          <p:cNvPr id="26" name="Filete vertical"/>
          <p:cNvSpPr/>
          <p:nvPr/>
        </p:nvSpPr>
        <p:spPr>
          <a:xfrm>
            <a:off x="3047238" y="1828800"/>
            <a:ext cx="0" cy="3291840"/>
          </a:xfrm>
          <a:prstGeom prst="line">
            <a:avLst/>
          </a:prstGeom>
          <a:noFill/>
          <a:ln w="9525">
            <a:solidFill>
              <a:srgbClr val="CAD6C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 de respeto y tamaño mínimo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Alrededor del logo queda libre, como mínimo, el diámetro de la pelota (x).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PROPUESTA — A CONFIRMAR</a:t>
            </a:r>
            <a:endParaRPr lang="en-US" sz="1000" dirty="0"/>
          </a:p>
        </p:txBody>
      </p:sp>
      <p:sp>
        <p:nvSpPr>
          <p:cNvPr id="6" name="Zona de respeto"/>
          <p:cNvSpPr/>
          <p:nvPr/>
        </p:nvSpPr>
        <p:spPr>
          <a:xfrm>
            <a:off x="5120640" y="1234440"/>
            <a:ext cx="4343400" cy="2606040"/>
          </a:xfrm>
          <a:prstGeom prst="rect">
            <a:avLst/>
          </a:prstGeom>
          <a:ln w="12700">
            <a:solidFill>
              <a:srgbClr val="1F6F57"/>
            </a:solidFill>
            <a:prstDash val="dash"/>
          </a:ln>
        </p:spPr>
      </p:sp>
      <p:sp>
        <p:nvSpPr>
          <p:cNvPr id="7" name="Caja del logo"/>
          <p:cNvSpPr/>
          <p:nvPr/>
        </p:nvSpPr>
        <p:spPr>
          <a:xfrm>
            <a:off x="5989320" y="2103120"/>
            <a:ext cx="2606040" cy="868680"/>
          </a:xfrm>
          <a:prstGeom prst="rect">
            <a:avLst/>
          </a:prstGeom>
          <a:ln w="9525">
            <a:solidFill>
              <a:srgbClr val="CAD6CF"/>
            </a:solidFill>
            <a:prstDash val="solid"/>
          </a:ln>
        </p:spPr>
      </p:sp>
      <p:pic>
        <p:nvPicPr>
          <p:cNvPr id="8" name="Logo respet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103120"/>
            <a:ext cx="868680" cy="868680"/>
          </a:xfrm>
          <a:prstGeom prst="rect">
            <a:avLst/>
          </a:prstGeom>
        </p:spPr>
      </p:pic>
      <p:sp>
        <p:nvSpPr>
          <p:cNvPr id="9" name="Logo respeto · nombre"/>
          <p:cNvSpPr txBox="1"/>
          <p:nvPr/>
        </p:nvSpPr>
        <p:spPr>
          <a:xfrm>
            <a:off x="7014362" y="2016252"/>
            <a:ext cx="2606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5900" dirty="0"/>
          </a:p>
        </p:txBody>
      </p:sp>
      <p:sp>
        <p:nvSpPr>
          <p:cNvPr id="10" name="Filete"/>
          <p:cNvSpPr/>
          <p:nvPr/>
        </p:nvSpPr>
        <p:spPr>
          <a:xfrm>
            <a:off x="5120640" y="1051560"/>
            <a:ext cx="868680" cy="0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11" name="Filete vertical"/>
          <p:cNvSpPr/>
          <p:nvPr/>
        </p:nvSpPr>
        <p:spPr>
          <a:xfrm>
            <a:off x="5120640" y="987552"/>
            <a:ext cx="0" cy="128016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12" name="Filete vertical"/>
          <p:cNvSpPr/>
          <p:nvPr/>
        </p:nvSpPr>
        <p:spPr>
          <a:xfrm>
            <a:off x="5989320" y="987552"/>
            <a:ext cx="0" cy="128016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20640" y="758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1100" dirty="0"/>
          </a:p>
        </p:txBody>
      </p:sp>
      <p:sp>
        <p:nvSpPr>
          <p:cNvPr id="14" name="Filete"/>
          <p:cNvSpPr/>
          <p:nvPr/>
        </p:nvSpPr>
        <p:spPr>
          <a:xfrm>
            <a:off x="8595360" y="1051560"/>
            <a:ext cx="868680" cy="0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15" name="Filete vertical"/>
          <p:cNvSpPr/>
          <p:nvPr/>
        </p:nvSpPr>
        <p:spPr>
          <a:xfrm>
            <a:off x="8595360" y="987552"/>
            <a:ext cx="0" cy="128016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16" name="Filete vertical"/>
          <p:cNvSpPr/>
          <p:nvPr/>
        </p:nvSpPr>
        <p:spPr>
          <a:xfrm>
            <a:off x="9464040" y="987552"/>
            <a:ext cx="0" cy="128016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0" y="758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1100" dirty="0"/>
          </a:p>
        </p:txBody>
      </p:sp>
      <p:sp>
        <p:nvSpPr>
          <p:cNvPr id="18" name="Filete vertical"/>
          <p:cNvSpPr/>
          <p:nvPr/>
        </p:nvSpPr>
        <p:spPr>
          <a:xfrm>
            <a:off x="4937760" y="1234440"/>
            <a:ext cx="0" cy="868680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19" name="Filete"/>
          <p:cNvSpPr/>
          <p:nvPr/>
        </p:nvSpPr>
        <p:spPr>
          <a:xfrm>
            <a:off x="4873752" y="1234440"/>
            <a:ext cx="128016" cy="0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20" name="Filete"/>
          <p:cNvSpPr/>
          <p:nvPr/>
        </p:nvSpPr>
        <p:spPr>
          <a:xfrm>
            <a:off x="4873752" y="2103120"/>
            <a:ext cx="128016" cy="0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80560" y="15590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1100" dirty="0"/>
          </a:p>
        </p:txBody>
      </p:sp>
      <p:sp>
        <p:nvSpPr>
          <p:cNvPr id="22" name="Filete vertical"/>
          <p:cNvSpPr/>
          <p:nvPr/>
        </p:nvSpPr>
        <p:spPr>
          <a:xfrm>
            <a:off x="4937760" y="2971800"/>
            <a:ext cx="0" cy="868680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23" name="Filete"/>
          <p:cNvSpPr/>
          <p:nvPr/>
        </p:nvSpPr>
        <p:spPr>
          <a:xfrm>
            <a:off x="4873752" y="2971800"/>
            <a:ext cx="128016" cy="0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24" name="Filete"/>
          <p:cNvSpPr/>
          <p:nvPr/>
        </p:nvSpPr>
        <p:spPr>
          <a:xfrm>
            <a:off x="4873752" y="3840480"/>
            <a:ext cx="128016" cy="0"/>
          </a:xfrm>
          <a:prstGeom prst="line">
            <a:avLst/>
          </a:prstGeom>
          <a:noFill/>
          <a:ln w="12700">
            <a:solidFill>
              <a:srgbClr val="1F6F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80560" y="32964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</a:t>
            </a:r>
            <a:endParaRPr lang="en-US" sz="1100" dirty="0"/>
          </a:p>
        </p:txBody>
      </p:sp>
      <p:sp>
        <p:nvSpPr>
          <p:cNvPr id="26" name="Filete"/>
          <p:cNvSpPr/>
          <p:nvPr/>
        </p:nvSpPr>
        <p:spPr>
          <a:xfrm>
            <a:off x="4114800" y="4617720"/>
            <a:ext cx="743407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1148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TAMAÑO MÍNIMO</a:t>
            </a:r>
            <a:endParaRPr lang="en-US" sz="1000" dirty="0"/>
          </a:p>
        </p:txBody>
      </p:sp>
      <p:pic>
        <p:nvPicPr>
          <p:cNvPr id="28" name="Mínimo logo · pelota" descr="Pelota del logo de P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257800"/>
            <a:ext cx="301752" cy="301752"/>
          </a:xfrm>
          <a:prstGeom prst="rect">
            <a:avLst/>
          </a:prstGeom>
        </p:spPr>
      </p:pic>
      <p:sp>
        <p:nvSpPr>
          <p:cNvPr id="29" name="Mínimo logo · nombre"/>
          <p:cNvSpPr txBox="1"/>
          <p:nvPr/>
        </p:nvSpPr>
        <p:spPr>
          <a:xfrm>
            <a:off x="4470867" y="5227625"/>
            <a:ext cx="9052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2000" dirty="0"/>
          </a:p>
        </p:txBody>
      </p:sp>
      <p:sp>
        <p:nvSpPr>
          <p:cNvPr id="30" name="Text 26"/>
          <p:cNvSpPr txBox="1"/>
          <p:nvPr/>
        </p:nvSpPr>
        <p:spPr>
          <a:xfrm>
            <a:off x="4114800" y="5806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LOGO · 24 PX DE PELOTA</a:t>
            </a:r>
            <a:endParaRPr lang="en-US" sz="1000" dirty="0"/>
          </a:p>
        </p:txBody>
      </p:sp>
      <p:pic>
        <p:nvPicPr>
          <p:cNvPr id="31" name="Mínimo ícono" descr="Ícono al tamaño mínim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303520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955280" y="5806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ÍCONO · 16 PX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Usos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correctos</a:t>
            </a:r>
            <a:endParaRPr lang="en-US" sz="3600" dirty="0"/>
          </a:p>
        </p:txBody>
      </p:sp>
      <p:sp>
        <p:nvSpPr>
          <p:cNvPr id="4" name="Muestra Sobre blanco"/>
          <p:cNvSpPr/>
          <p:nvPr/>
        </p:nvSpPr>
        <p:spPr>
          <a:xfrm>
            <a:off x="640080" y="17830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pic>
        <p:nvPicPr>
          <p:cNvPr id="5" name="Muestra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208276"/>
            <a:ext cx="566928" cy="566928"/>
          </a:xfrm>
          <a:prstGeom prst="rect">
            <a:avLst/>
          </a:prstGeom>
        </p:spPr>
      </p:pic>
      <p:sp>
        <p:nvSpPr>
          <p:cNvPr id="6" name="Muestra · nombre"/>
          <p:cNvSpPr txBox="1"/>
          <p:nvPr/>
        </p:nvSpPr>
        <p:spPr>
          <a:xfrm>
            <a:off x="2177735" y="2151583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19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blanco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claro.</a:t>
            </a:r>
            <a:endParaRPr lang="en-US" sz="1200" dirty="0"/>
          </a:p>
        </p:txBody>
      </p:sp>
      <p:sp>
        <p:nvSpPr>
          <p:cNvPr id="10" name="Muestra Sobre verde bosque"/>
          <p:cNvSpPr/>
          <p:nvPr/>
        </p:nvSpPr>
        <p:spPr>
          <a:xfrm>
            <a:off x="4297680" y="1783080"/>
            <a:ext cx="3520440" cy="141732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11" name="Muestra · pelota" descr="Pelota del logo de P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208276"/>
            <a:ext cx="566928" cy="566928"/>
          </a:xfrm>
          <a:prstGeom prst="rect">
            <a:avLst/>
          </a:prstGeom>
        </p:spPr>
      </p:pic>
      <p:sp>
        <p:nvSpPr>
          <p:cNvPr id="12" name="Muestra · nombre"/>
          <p:cNvSpPr txBox="1"/>
          <p:nvPr/>
        </p:nvSpPr>
        <p:spPr>
          <a:xfrm>
            <a:off x="5835335" y="2151583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3319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verde bosque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oscuro.</a:t>
            </a:r>
            <a:endParaRPr lang="en-US" sz="1200" dirty="0"/>
          </a:p>
        </p:txBody>
      </p:sp>
      <p:sp>
        <p:nvSpPr>
          <p:cNvPr id="16" name="Muestra Sobre menta suave"/>
          <p:cNvSpPr/>
          <p:nvPr/>
        </p:nvSpPr>
        <p:spPr>
          <a:xfrm>
            <a:off x="7955280" y="1783080"/>
            <a:ext cx="3520440" cy="1417320"/>
          </a:xfrm>
          <a:prstGeom prst="rect">
            <a:avLst/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pic>
        <p:nvPicPr>
          <p:cNvPr id="17" name="Muestra · pelota" descr="Pelota del logo de Pal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208276"/>
            <a:ext cx="566928" cy="566928"/>
          </a:xfrm>
          <a:prstGeom prst="rect">
            <a:avLst/>
          </a:prstGeom>
        </p:spPr>
      </p:pic>
      <p:sp>
        <p:nvSpPr>
          <p:cNvPr id="18" name="Muestra · nombre"/>
          <p:cNvSpPr txBox="1"/>
          <p:nvPr/>
        </p:nvSpPr>
        <p:spPr>
          <a:xfrm>
            <a:off x="9492935" y="2151583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19" name="Text 14"/>
          <p:cNvSpPr txBox="1"/>
          <p:nvPr/>
        </p:nvSpPr>
        <p:spPr>
          <a:xfrm>
            <a:off x="7955280" y="3319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menta suave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claro; el contraste se mantiene.</a:t>
            </a:r>
            <a:endParaRPr lang="en-US" sz="1200" dirty="0"/>
          </a:p>
        </p:txBody>
      </p:sp>
      <p:sp>
        <p:nvSpPr>
          <p:cNvPr id="22" name="Muestra En el tema oscuro"/>
          <p:cNvSpPr/>
          <p:nvPr/>
        </p:nvSpPr>
        <p:spPr>
          <a:xfrm>
            <a:off x="640080" y="4069080"/>
            <a:ext cx="3520440" cy="1417320"/>
          </a:xfrm>
          <a:prstGeom prst="rect">
            <a:avLst/>
          </a:prstGeom>
          <a:solidFill>
            <a:srgbClr val="0B1511"/>
          </a:solidFill>
          <a:ln w="12700">
            <a:solidFill>
              <a:srgbClr val="0B1511"/>
            </a:solidFill>
            <a:prstDash val="solid"/>
          </a:ln>
        </p:spPr>
      </p:sp>
      <p:pic>
        <p:nvPicPr>
          <p:cNvPr id="23" name="Muestra · pelota" descr="Pelota del logo de Pal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4494276"/>
            <a:ext cx="566928" cy="566928"/>
          </a:xfrm>
          <a:prstGeom prst="rect">
            <a:avLst/>
          </a:prstGeom>
        </p:spPr>
      </p:pic>
      <p:sp>
        <p:nvSpPr>
          <p:cNvPr id="24" name="Muestra · nombre"/>
          <p:cNvSpPr txBox="1"/>
          <p:nvPr/>
        </p:nvSpPr>
        <p:spPr>
          <a:xfrm>
            <a:off x="2177735" y="4437583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605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" y="5559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el tema oscuro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097280" y="5852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oscuro sobre el fondo casi negro.</a:t>
            </a:r>
            <a:endParaRPr lang="en-US" sz="1200" dirty="0"/>
          </a:p>
        </p:txBody>
      </p:sp>
      <p:sp>
        <p:nvSpPr>
          <p:cNvPr id="28" name="Muestra Con su espacio de respeto"/>
          <p:cNvSpPr/>
          <p:nvPr/>
        </p:nvSpPr>
        <p:spPr>
          <a:xfrm>
            <a:off x="4297680" y="40690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0" y="4206240"/>
            <a:ext cx="2971800" cy="1143000"/>
          </a:xfrm>
          <a:prstGeom prst="rect">
            <a:avLst/>
          </a:prstGeom>
          <a:ln w="9525">
            <a:solidFill>
              <a:srgbClr val="1F6F57"/>
            </a:solidFill>
            <a:prstDash val="dash"/>
          </a:ln>
        </p:spPr>
      </p:sp>
      <p:pic>
        <p:nvPicPr>
          <p:cNvPr id="30" name="Muestra · pelota" descr="Pelota del logo de Pal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4489704"/>
            <a:ext cx="566928" cy="566928"/>
          </a:xfrm>
          <a:prstGeom prst="rect">
            <a:avLst/>
          </a:prstGeom>
        </p:spPr>
      </p:pic>
      <p:sp>
        <p:nvSpPr>
          <p:cNvPr id="31" name="Muestra · nombre"/>
          <p:cNvSpPr txBox="1"/>
          <p:nvPr/>
        </p:nvSpPr>
        <p:spPr>
          <a:xfrm>
            <a:off x="5835335" y="4433011"/>
            <a:ext cx="1700784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32" name="Text 25"/>
          <p:cNvSpPr txBox="1"/>
          <p:nvPr/>
        </p:nvSpPr>
        <p:spPr>
          <a:xfrm>
            <a:off x="4297680" y="5605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754880" y="5559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su espacio de respeto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4754880" y="5852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textos ni bordes pegados.</a:t>
            </a:r>
            <a:endParaRPr lang="en-US" sz="1200" dirty="0"/>
          </a:p>
        </p:txBody>
      </p:sp>
      <p:sp>
        <p:nvSpPr>
          <p:cNvPr id="35" name="Muestra En proporción"/>
          <p:cNvSpPr/>
          <p:nvPr/>
        </p:nvSpPr>
        <p:spPr>
          <a:xfrm>
            <a:off x="7955280" y="4069080"/>
            <a:ext cx="3520440" cy="1417320"/>
          </a:xfrm>
          <a:prstGeom prst="rect">
            <a:avLst/>
          </a:prstGeom>
          <a:solidFill>
            <a:srgbClr val="F5F8F6"/>
          </a:solidFill>
          <a:ln w="9525">
            <a:solidFill>
              <a:srgbClr val="E2EAE5"/>
            </a:solidFill>
            <a:prstDash val="solid"/>
          </a:ln>
        </p:spPr>
      </p:sp>
      <p:pic>
        <p:nvPicPr>
          <p:cNvPr id="36" name="Muestra · pelota" descr="Pelota del logo de Pal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4594860"/>
            <a:ext cx="365760" cy="365760"/>
          </a:xfrm>
          <a:prstGeom prst="rect">
            <a:avLst/>
          </a:prstGeom>
        </p:spPr>
      </p:pic>
      <p:sp>
        <p:nvSpPr>
          <p:cNvPr id="37" name="Muestra · nombre"/>
          <p:cNvSpPr txBox="1"/>
          <p:nvPr/>
        </p:nvSpPr>
        <p:spPr>
          <a:xfrm>
            <a:off x="9255557" y="455828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-1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2500" dirty="0"/>
          </a:p>
        </p:txBody>
      </p:sp>
      <p:sp>
        <p:nvSpPr>
          <p:cNvPr id="38" name="Text 30"/>
          <p:cNvSpPr txBox="1"/>
          <p:nvPr/>
        </p:nvSpPr>
        <p:spPr>
          <a:xfrm>
            <a:off x="7955280" y="5605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8412480" y="5559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proporción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8412480" y="5852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agranda o achica siempre en bloque.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Usos </a:t>
            </a:r>
            <a:pPr algn="l" indent="0" marL="0">
              <a:buNone/>
            </a:pPr>
            <a:r>
              <a:rPr lang="en-US" sz="36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incorrectos</a:t>
            </a:r>
            <a:endParaRPr lang="en-US" sz="3600" dirty="0"/>
          </a:p>
        </p:txBody>
      </p:sp>
      <p:sp>
        <p:nvSpPr>
          <p:cNvPr id="4" name="Muestra No deformar"/>
          <p:cNvSpPr/>
          <p:nvPr/>
        </p:nvSpPr>
        <p:spPr>
          <a:xfrm>
            <a:off x="640080" y="1783080"/>
            <a:ext cx="3520440" cy="141732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5" name="Image 0" descr="Pelota deform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286000"/>
            <a:ext cx="10972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560320" y="2148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19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deformar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estirar ni aplastar la pelota ni el nombre.</a:t>
            </a:r>
            <a:endParaRPr lang="en-US" sz="1200" dirty="0"/>
          </a:p>
        </p:txBody>
      </p:sp>
      <p:sp>
        <p:nvSpPr>
          <p:cNvPr id="10" name="Muestra No cambiar los colores"/>
          <p:cNvSpPr/>
          <p:nvPr/>
        </p:nvSpPr>
        <p:spPr>
          <a:xfrm>
            <a:off x="4297680" y="17830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pic>
        <p:nvPicPr>
          <p:cNvPr id="11" name="Image 1" descr="Pelota azu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203704"/>
            <a:ext cx="566928" cy="5669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5216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8C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3319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cambiar los colores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las versiones definidas.</a:t>
            </a:r>
            <a:endParaRPr lang="en-US" sz="1200" dirty="0"/>
          </a:p>
        </p:txBody>
      </p:sp>
      <p:sp>
        <p:nvSpPr>
          <p:cNvPr id="16" name="Muestra No usar con poco contraste"/>
          <p:cNvSpPr/>
          <p:nvPr/>
        </p:nvSpPr>
        <p:spPr>
          <a:xfrm>
            <a:off x="7955280" y="1783080"/>
            <a:ext cx="3520440" cy="1417320"/>
          </a:xfrm>
          <a:prstGeom prst="rect">
            <a:avLst/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pic>
        <p:nvPicPr>
          <p:cNvPr id="17" name="Image 2" descr="Pelota con poco contras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203704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50976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19" name="Text 14"/>
          <p:cNvSpPr txBox="1"/>
          <p:nvPr/>
        </p:nvSpPr>
        <p:spPr>
          <a:xfrm>
            <a:off x="7955280" y="3319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usar con poco contraste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 sobre menta suave casi no se lee.</a:t>
            </a:r>
            <a:endParaRPr lang="en-US" sz="1200" dirty="0"/>
          </a:p>
        </p:txBody>
      </p:sp>
      <p:sp>
        <p:nvSpPr>
          <p:cNvPr id="22" name="Muestra No rotar ni inclinar"/>
          <p:cNvSpPr/>
          <p:nvPr/>
        </p:nvSpPr>
        <p:spPr>
          <a:xfrm>
            <a:off x="640080" y="40690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pic>
        <p:nvPicPr>
          <p:cNvPr id="23" name="Image 3" descr="Pelota rota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">
            <a:off x="1417320" y="4526280"/>
            <a:ext cx="566928" cy="56692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 rot="1080000">
            <a:off x="2194560" y="4434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605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" y="5559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rotar ni inclinar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097280" y="5852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logo siempre va horizontal.</a:t>
            </a:r>
            <a:endParaRPr lang="en-US" sz="1200" dirty="0"/>
          </a:p>
        </p:txBody>
      </p:sp>
      <p:sp>
        <p:nvSpPr>
          <p:cNvPr id="28" name="Muestra No sumar sombras ni efectos"/>
          <p:cNvSpPr/>
          <p:nvPr/>
        </p:nvSpPr>
        <p:spPr>
          <a:xfrm>
            <a:off x="4297680" y="40690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pic>
        <p:nvPicPr>
          <p:cNvPr id="29" name="Image 4" descr="Pelota con somb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389120"/>
            <a:ext cx="777240" cy="7772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080760" y="4434840"/>
            <a:ext cx="146304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27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800" dirty="0"/>
          </a:p>
        </p:txBody>
      </p:sp>
      <p:sp>
        <p:nvSpPr>
          <p:cNvPr id="31" name="Text 24"/>
          <p:cNvSpPr txBox="1"/>
          <p:nvPr/>
        </p:nvSpPr>
        <p:spPr>
          <a:xfrm>
            <a:off x="4297680" y="5605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754880" y="5559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sumar sombras ni efectos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4754880" y="5852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brillos, degradés, contornos ni relieves.</a:t>
            </a:r>
            <a:endParaRPr lang="en-US" sz="1200" dirty="0"/>
          </a:p>
        </p:txBody>
      </p:sp>
      <p:sp>
        <p:nvSpPr>
          <p:cNvPr id="34" name="Muestra No cambiar la tipografía"/>
          <p:cNvSpPr/>
          <p:nvPr/>
        </p:nvSpPr>
        <p:spPr>
          <a:xfrm>
            <a:off x="7955280" y="40690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pic>
        <p:nvPicPr>
          <p:cNvPr id="35" name="Image 5" descr="Pelot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4489704"/>
            <a:ext cx="566928" cy="56692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509760" y="4434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F3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Pali</a:t>
            </a:r>
            <a:endParaRPr lang="en-US" sz="3800" dirty="0"/>
          </a:p>
        </p:txBody>
      </p:sp>
      <p:sp>
        <p:nvSpPr>
          <p:cNvPr id="37" name="Text 29"/>
          <p:cNvSpPr txBox="1"/>
          <p:nvPr/>
        </p:nvSpPr>
        <p:spPr>
          <a:xfrm>
            <a:off x="7955280" y="5605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8412480" y="5559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cambiar la tipografía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8412480" y="5852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nombre va siempre en IBM Plex Sans.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0F3D2E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Banda 1F6F57"/>
          <p:cNvSpPr/>
          <p:nvPr/>
        </p:nvSpPr>
        <p:spPr>
          <a:xfrm>
            <a:off x="6583680" y="0"/>
            <a:ext cx="1554480" cy="685800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4" name="Banda A9D6C4"/>
          <p:cNvSpPr/>
          <p:nvPr/>
        </p:nvSpPr>
        <p:spPr>
          <a:xfrm>
            <a:off x="8138160" y="0"/>
            <a:ext cx="1005840" cy="6858000"/>
          </a:xfrm>
          <a:prstGeom prst="rect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5" name="Banda 6BAEE8"/>
          <p:cNvSpPr/>
          <p:nvPr/>
        </p:nvSpPr>
        <p:spPr>
          <a:xfrm>
            <a:off x="9144000" y="0"/>
            <a:ext cx="1005840" cy="6858000"/>
          </a:xfrm>
          <a:prstGeom prst="rect">
            <a:avLst/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6" name="Banda 9C8DDD"/>
          <p:cNvSpPr/>
          <p:nvPr/>
        </p:nvSpPr>
        <p:spPr>
          <a:xfrm>
            <a:off x="10149840" y="0"/>
            <a:ext cx="1005840" cy="6858000"/>
          </a:xfrm>
          <a:prstGeom prst="rect">
            <a:avLst/>
          </a:prstGeom>
          <a:solidFill>
            <a:srgbClr val="9C8DDD"/>
          </a:solidFill>
          <a:ln w="12700">
            <a:solidFill>
              <a:srgbClr val="9C8DDD"/>
            </a:solidFill>
            <a:prstDash val="solid"/>
          </a:ln>
        </p:spPr>
      </p:sp>
      <p:sp>
        <p:nvSpPr>
          <p:cNvPr id="7" name="Banda FFFFFF"/>
          <p:cNvSpPr/>
          <p:nvPr/>
        </p:nvSpPr>
        <p:spPr>
          <a:xfrm>
            <a:off x="11155680" y="0"/>
            <a:ext cx="103601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Numeral"/>
          <p:cNvSpPr txBox="1"/>
          <p:nvPr/>
        </p:nvSpPr>
        <p:spPr>
          <a:xfrm>
            <a:off x="548640" y="32004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0" b="1" spc="-800" kern="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80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640080" y="3886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57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paleta corta y reconocible: verde, blanco y negro verdoso, con azul cielo y lavanda de apoyo y un solo coral.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 </a:t>
            </a:r>
            <a:pPr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primarios</a:t>
            </a:r>
            <a:endParaRPr lang="en-US" sz="3600" dirty="0"/>
          </a:p>
        </p:txBody>
      </p:sp>
      <p:sp>
        <p:nvSpPr>
          <p:cNvPr id="4" name="Primario Verde bosque"/>
          <p:cNvSpPr/>
          <p:nvPr/>
        </p:nvSpPr>
        <p:spPr>
          <a:xfrm>
            <a:off x="0" y="1828800"/>
            <a:ext cx="4846320" cy="50292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3840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bosque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754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#0F3D2E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5029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15 · 61 · 46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5285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--forest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56692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Barra lateral, botón oscuro y turno completo.</a:t>
            </a:r>
            <a:endParaRPr lang="en-US" sz="1300" dirty="0"/>
          </a:p>
        </p:txBody>
      </p:sp>
      <p:sp>
        <p:nvSpPr>
          <p:cNvPr id="11" name="Primario Verde de marca"/>
          <p:cNvSpPr/>
          <p:nvPr/>
        </p:nvSpPr>
        <p:spPr>
          <a:xfrm>
            <a:off x="4846320" y="1828800"/>
            <a:ext cx="3108960" cy="502920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3840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de marca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#1F6F57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31 · 111 · 87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52852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--brand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5669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Acción principal, enlaces y foco.</a:t>
            </a:r>
            <a:endParaRPr lang="en-US" sz="1300" dirty="0"/>
          </a:p>
        </p:txBody>
      </p:sp>
      <p:sp>
        <p:nvSpPr>
          <p:cNvPr id="18" name="Primario Blanco"/>
          <p:cNvSpPr/>
          <p:nvPr/>
        </p:nvSpPr>
        <p:spPr>
          <a:xfrm>
            <a:off x="7955280" y="1828800"/>
            <a:ext cx="23774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Filete vertical"/>
          <p:cNvSpPr/>
          <p:nvPr/>
        </p:nvSpPr>
        <p:spPr>
          <a:xfrm>
            <a:off x="7955280" y="1828800"/>
            <a:ext cx="0" cy="5029200"/>
          </a:xfrm>
          <a:prstGeom prst="line">
            <a:avLst/>
          </a:prstGeom>
          <a:noFill/>
          <a:ln w="9525">
            <a:solidFill>
              <a:srgbClr val="CAD6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#FFFFFF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5029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255 · 255 · 255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52852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--white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5669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 y superficies de trabajo.</a:t>
            </a:r>
            <a:endParaRPr lang="en-US" sz="1300" dirty="0"/>
          </a:p>
        </p:txBody>
      </p:sp>
      <p:sp>
        <p:nvSpPr>
          <p:cNvPr id="26" name="Primario Negro verdoso"/>
          <p:cNvSpPr/>
          <p:nvPr/>
        </p:nvSpPr>
        <p:spPr>
          <a:xfrm>
            <a:off x="10332720" y="1828800"/>
            <a:ext cx="1856232" cy="5029200"/>
          </a:xfrm>
          <a:prstGeom prst="rect">
            <a:avLst/>
          </a:prstGeom>
          <a:solidFill>
            <a:srgbClr val="0D1F18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0704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3840480"/>
            <a:ext cx="1399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Negro verdoso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47548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#0D1F18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5029200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13 · 31 · 24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5285232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--ink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566928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principal.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 secundarios </a:t>
            </a:r>
            <a:pPr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de apoyo</a:t>
            </a:r>
            <a:endParaRPr lang="en-US" sz="3600" dirty="0"/>
          </a:p>
        </p:txBody>
      </p:sp>
      <p:sp>
        <p:nvSpPr>
          <p:cNvPr id="4" name="Franja Menta"/>
          <p:cNvSpPr/>
          <p:nvPr/>
        </p:nvSpPr>
        <p:spPr>
          <a:xfrm>
            <a:off x="0" y="1828800"/>
            <a:ext cx="12191695" cy="868680"/>
          </a:xfrm>
          <a:prstGeom prst="rect">
            <a:avLst/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802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0345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#A9D6C4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2814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169 · 214 · 196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534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--mint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0802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Ítem activo y acentos sobre verde bosque.</a:t>
            </a:r>
            <a:endParaRPr lang="en-US" sz="1200" dirty="0"/>
          </a:p>
        </p:txBody>
      </p:sp>
      <p:sp>
        <p:nvSpPr>
          <p:cNvPr id="10" name="Franja Menta suave"/>
          <p:cNvSpPr/>
          <p:nvPr/>
        </p:nvSpPr>
        <p:spPr>
          <a:xfrm>
            <a:off x="0" y="2697480"/>
            <a:ext cx="12191695" cy="868680"/>
          </a:xfrm>
          <a:prstGeom prst="rect">
            <a:avLst/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9489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 suave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9032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#DFEEE6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501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223 · 238 · 230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30220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--mint-soft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9489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Panel de encabezado de página.</a:t>
            </a:r>
            <a:endParaRPr lang="en-US" sz="1200" dirty="0"/>
          </a:p>
        </p:txBody>
      </p:sp>
      <p:sp>
        <p:nvSpPr>
          <p:cNvPr id="16" name="Franja Verde suave"/>
          <p:cNvSpPr/>
          <p:nvPr/>
        </p:nvSpPr>
        <p:spPr>
          <a:xfrm>
            <a:off x="0" y="3566160"/>
            <a:ext cx="12191695" cy="777240"/>
          </a:xfrm>
          <a:prstGeom prst="rect">
            <a:avLst/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719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suave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7261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#E8F4EE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9730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232 · 244 · 238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8450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--brand-soft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7719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 de “reservado” y chips suaves.</a:t>
            </a:r>
            <a:endParaRPr lang="en-US" sz="1200" dirty="0"/>
          </a:p>
        </p:txBody>
      </p:sp>
      <p:sp>
        <p:nvSpPr>
          <p:cNvPr id="22" name="Franja Crema"/>
          <p:cNvSpPr/>
          <p:nvPr/>
        </p:nvSpPr>
        <p:spPr>
          <a:xfrm>
            <a:off x="0" y="4343400"/>
            <a:ext cx="12191695" cy="685800"/>
          </a:xfrm>
          <a:prstGeom prst="rect">
            <a:avLst/>
          </a:prstGeom>
          <a:solidFill>
            <a:srgbClr val="F6EFE6"/>
          </a:solidFill>
          <a:ln w="12700">
            <a:solidFill>
              <a:srgbClr val="F6EF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5034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Crema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4577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#F6EFE6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47045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246 · 239 · 230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45765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--cream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45034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Superficie cálida reservada, sin uso hoy.</a:t>
            </a:r>
            <a:endParaRPr lang="en-US" sz="1200" dirty="0"/>
          </a:p>
        </p:txBody>
      </p:sp>
      <p:sp>
        <p:nvSpPr>
          <p:cNvPr id="28" name="Franja Coral"/>
          <p:cNvSpPr/>
          <p:nvPr/>
        </p:nvSpPr>
        <p:spPr>
          <a:xfrm>
            <a:off x="0" y="5029200"/>
            <a:ext cx="12191695" cy="777240"/>
          </a:xfrm>
          <a:prstGeom prst="rect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2349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51892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#E5533D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54361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229 · 83 · 61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53080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--coral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52349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cancelar y estados negativos.</a:t>
            </a:r>
            <a:endParaRPr lang="en-US" sz="1200" dirty="0"/>
          </a:p>
        </p:txBody>
      </p:sp>
      <p:sp>
        <p:nvSpPr>
          <p:cNvPr id="34" name="Franja Grises de texto"/>
          <p:cNvSpPr/>
          <p:nvPr/>
        </p:nvSpPr>
        <p:spPr>
          <a:xfrm>
            <a:off x="0" y="5806440"/>
            <a:ext cx="12191695" cy="685800"/>
          </a:xfrm>
          <a:prstGeom prst="rect">
            <a:avLst/>
          </a:prstGeom>
          <a:solidFill>
            <a:srgbClr val="43544D"/>
          </a:solidFill>
          <a:ln w="12700">
            <a:solidFill>
              <a:srgbClr val="43544D"/>
            </a:solidFill>
            <a:prstDash val="solid"/>
          </a:ln>
        </p:spPr>
      </p:sp>
      <p:sp>
        <p:nvSpPr>
          <p:cNvPr id="35" name="Franja mute"/>
          <p:cNvSpPr/>
          <p:nvPr/>
        </p:nvSpPr>
        <p:spPr>
          <a:xfrm>
            <a:off x="7315200" y="5806440"/>
            <a:ext cx="4876495" cy="685800"/>
          </a:xfrm>
          <a:prstGeom prst="rect">
            <a:avLst/>
          </a:prstGeom>
          <a:solidFill>
            <a:srgbClr val="6A7B74"/>
          </a:solidFill>
          <a:ln w="12700">
            <a:solidFill>
              <a:srgbClr val="6A7B7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59664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Grises de texto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59207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#43544D  /  #6A7B74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61676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 67 · 84 · 77  /  106 · 123 · 116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0" y="60396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FEE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--ink-2  /  --mute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52560" y="59664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secundario y de apoyo.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Azul cielo </a:t>
            </a:r>
            <a:pPr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lavanda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92240" y="868680"/>
            <a:ext cx="5056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colores fríos para lo que el verde no cubre: datos, comparaciones, promos y novedades. Ninguno sirve para cancelar ni reemplaza al verde en la acción.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INTERMEDIO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128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Azul cielo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Datos, comparaciones e información.</a:t>
            </a:r>
            <a:endParaRPr lang="en-US" sz="1300" dirty="0"/>
          </a:p>
        </p:txBody>
      </p:sp>
      <p:sp>
        <p:nvSpPr>
          <p:cNvPr id="8" name="Azul cielo 700"/>
          <p:cNvSpPr/>
          <p:nvPr/>
        </p:nvSpPr>
        <p:spPr>
          <a:xfrm>
            <a:off x="3291840" y="1920240"/>
            <a:ext cx="1779971" cy="1920240"/>
          </a:xfrm>
          <a:prstGeom prst="rect">
            <a:avLst/>
          </a:prstGeom>
          <a:solidFill>
            <a:srgbClr val="1B4F8E"/>
          </a:solidFill>
          <a:ln w="12700">
            <a:solidFill>
              <a:srgbClr val="1B4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971800"/>
            <a:ext cx="15056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#1B4F8E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291840"/>
            <a:ext cx="1459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sobre celeste</a:t>
            </a:r>
            <a:endParaRPr lang="en-US" sz="1100" dirty="0"/>
          </a:p>
        </p:txBody>
      </p:sp>
      <p:sp>
        <p:nvSpPr>
          <p:cNvPr id="12" name="Azul cielo 600"/>
          <p:cNvSpPr/>
          <p:nvPr/>
        </p:nvSpPr>
        <p:spPr>
          <a:xfrm>
            <a:off x="5071811" y="1920240"/>
            <a:ext cx="1779971" cy="1920240"/>
          </a:xfrm>
          <a:prstGeom prst="rect">
            <a:avLst/>
          </a:prstGeom>
          <a:solidFill>
            <a:srgbClr val="2F6FC0"/>
          </a:solidFill>
          <a:ln w="12700">
            <a:solidFill>
              <a:srgbClr val="2F6F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4691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54691" y="2971800"/>
            <a:ext cx="15056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#2F6FC0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54691" y="3291840"/>
            <a:ext cx="1459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y líneas · 5,1 : 1</a:t>
            </a:r>
            <a:endParaRPr lang="en-US" sz="1100" dirty="0"/>
          </a:p>
        </p:txBody>
      </p:sp>
      <p:sp>
        <p:nvSpPr>
          <p:cNvPr id="16" name="Azul cielo 400"/>
          <p:cNvSpPr/>
          <p:nvPr/>
        </p:nvSpPr>
        <p:spPr>
          <a:xfrm>
            <a:off x="6851782" y="1920240"/>
            <a:ext cx="1779971" cy="1920240"/>
          </a:xfrm>
          <a:prstGeom prst="rect">
            <a:avLst/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34662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034662" y="2971800"/>
            <a:ext cx="15056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#6BAEE8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34662" y="3291840"/>
            <a:ext cx="1459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Series y relleno</a:t>
            </a:r>
            <a:endParaRPr lang="en-US" sz="1100" dirty="0"/>
          </a:p>
        </p:txBody>
      </p:sp>
      <p:sp>
        <p:nvSpPr>
          <p:cNvPr id="20" name="Azul cielo 100"/>
          <p:cNvSpPr/>
          <p:nvPr/>
        </p:nvSpPr>
        <p:spPr>
          <a:xfrm>
            <a:off x="8631753" y="1920240"/>
            <a:ext cx="1779971" cy="1920240"/>
          </a:xfrm>
          <a:prstGeom prst="rect">
            <a:avLst/>
          </a:prstGeom>
          <a:solidFill>
            <a:srgbClr val="BFDDF7"/>
          </a:solidFill>
          <a:ln w="12700">
            <a:solidFill>
              <a:srgbClr val="BFDD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14633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14633" y="2971800"/>
            <a:ext cx="15056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#BFDDF7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14633" y="3291840"/>
            <a:ext cx="1459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Fondos</a:t>
            </a:r>
            <a:endParaRPr lang="en-US" sz="1100" dirty="0"/>
          </a:p>
        </p:txBody>
      </p:sp>
      <p:sp>
        <p:nvSpPr>
          <p:cNvPr id="24" name="Azul cielo 50"/>
          <p:cNvSpPr/>
          <p:nvPr/>
        </p:nvSpPr>
        <p:spPr>
          <a:xfrm>
            <a:off x="10411724" y="1920240"/>
            <a:ext cx="1779971" cy="1920240"/>
          </a:xfrm>
          <a:prstGeom prst="rect">
            <a:avLst/>
          </a:prstGeom>
          <a:solidFill>
            <a:srgbClr val="E8F2FC"/>
          </a:solidFill>
          <a:ln w="9525">
            <a:solidFill>
              <a:srgbClr val="E2EA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94604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94604" y="2971800"/>
            <a:ext cx="15056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#E8F2FC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94604" y="3291840"/>
            <a:ext cx="1459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Fondos suaves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160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 DETALLE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53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Lavanda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029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Promos, novedades y acentos puntuales.</a:t>
            </a:r>
            <a:endParaRPr lang="en-US" sz="1300" dirty="0"/>
          </a:p>
        </p:txBody>
      </p:sp>
      <p:sp>
        <p:nvSpPr>
          <p:cNvPr id="31" name="Lavanda 700"/>
          <p:cNvSpPr/>
          <p:nvPr/>
        </p:nvSpPr>
        <p:spPr>
          <a:xfrm>
            <a:off x="3291840" y="4160520"/>
            <a:ext cx="2224964" cy="1920240"/>
          </a:xfrm>
          <a:prstGeom prst="rect">
            <a:avLst/>
          </a:prstGeom>
          <a:solidFill>
            <a:srgbClr val="4A3C8C"/>
          </a:solidFill>
          <a:ln w="12700">
            <a:solidFill>
              <a:srgbClr val="4A3C8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74720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5212080"/>
            <a:ext cx="1950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#4A3C8C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5532120"/>
            <a:ext cx="190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· 9,1 : 1</a:t>
            </a:r>
            <a:endParaRPr lang="en-US" sz="1100" dirty="0"/>
          </a:p>
        </p:txBody>
      </p:sp>
      <p:sp>
        <p:nvSpPr>
          <p:cNvPr id="35" name="Lavanda 500"/>
          <p:cNvSpPr/>
          <p:nvPr/>
        </p:nvSpPr>
        <p:spPr>
          <a:xfrm>
            <a:off x="5516804" y="4160520"/>
            <a:ext cx="2224964" cy="1920240"/>
          </a:xfrm>
          <a:prstGeom prst="rect">
            <a:avLst/>
          </a:prstGeom>
          <a:solidFill>
            <a:srgbClr val="9C8DDD"/>
          </a:solidFill>
          <a:ln w="12700">
            <a:solidFill>
              <a:srgbClr val="9C8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99684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500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699684" y="5212080"/>
            <a:ext cx="1950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#9C8DDD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699684" y="5532120"/>
            <a:ext cx="190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Relleno con texto oscuro · 5,9 : 1</a:t>
            </a:r>
            <a:endParaRPr lang="en-US" sz="1100" dirty="0"/>
          </a:p>
        </p:txBody>
      </p:sp>
      <p:sp>
        <p:nvSpPr>
          <p:cNvPr id="39" name="Lavanda 100"/>
          <p:cNvSpPr/>
          <p:nvPr/>
        </p:nvSpPr>
        <p:spPr>
          <a:xfrm>
            <a:off x="7741768" y="4160520"/>
            <a:ext cx="2224964" cy="1920240"/>
          </a:xfrm>
          <a:prstGeom prst="rect">
            <a:avLst/>
          </a:prstGeom>
          <a:solidFill>
            <a:srgbClr val="E4DFF7"/>
          </a:solidFill>
          <a:ln w="12700">
            <a:solidFill>
              <a:srgbClr val="E4DFF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24648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924648" y="5212080"/>
            <a:ext cx="1950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#E4DFF7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924648" y="5532120"/>
            <a:ext cx="190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3C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Fondos</a:t>
            </a:r>
            <a:endParaRPr lang="en-US" sz="1100" dirty="0"/>
          </a:p>
        </p:txBody>
      </p:sp>
      <p:sp>
        <p:nvSpPr>
          <p:cNvPr id="43" name="Lavanda 50"/>
          <p:cNvSpPr/>
          <p:nvPr/>
        </p:nvSpPr>
        <p:spPr>
          <a:xfrm>
            <a:off x="9966731" y="4160520"/>
            <a:ext cx="2224964" cy="1920240"/>
          </a:xfrm>
          <a:prstGeom prst="rect">
            <a:avLst/>
          </a:prstGeom>
          <a:solidFill>
            <a:srgbClr val="F1EEFB"/>
          </a:solidFill>
          <a:ln w="9525">
            <a:solidFill>
              <a:srgbClr val="E2EAE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149611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149611" y="5212080"/>
            <a:ext cx="1950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3C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#F1EEFB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149611" y="5532120"/>
            <a:ext cx="190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3C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Fondos suaves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reparte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color</a:t>
            </a:r>
            <a:endParaRPr lang="en-US" sz="3600" dirty="0"/>
          </a:p>
        </p:txBody>
      </p:sp>
      <p:sp>
        <p:nvSpPr>
          <p:cNvPr id="4" name="Proporción Blanco"/>
          <p:cNvSpPr/>
          <p:nvPr/>
        </p:nvSpPr>
        <p:spPr>
          <a:xfrm>
            <a:off x="640080" y="1965960"/>
            <a:ext cx="44805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3101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BLANCO</a:t>
            </a:r>
            <a:endParaRPr lang="en-US" sz="900" dirty="0"/>
          </a:p>
        </p:txBody>
      </p:sp>
      <p:sp>
        <p:nvSpPr>
          <p:cNvPr id="6" name="Proporción Bosque"/>
          <p:cNvSpPr/>
          <p:nvPr/>
        </p:nvSpPr>
        <p:spPr>
          <a:xfrm>
            <a:off x="5120640" y="1965960"/>
            <a:ext cx="2103120" cy="164592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57800" y="3310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BOSQUE</a:t>
            </a:r>
            <a:endParaRPr lang="en-US" sz="900" dirty="0"/>
          </a:p>
        </p:txBody>
      </p:sp>
      <p:sp>
        <p:nvSpPr>
          <p:cNvPr id="8" name="Proporción Marca"/>
          <p:cNvSpPr/>
          <p:nvPr/>
        </p:nvSpPr>
        <p:spPr>
          <a:xfrm>
            <a:off x="7223760" y="1965960"/>
            <a:ext cx="1280160" cy="164592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60920" y="33101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MARCA</a:t>
            </a:r>
            <a:endParaRPr lang="en-US" sz="900" dirty="0"/>
          </a:p>
        </p:txBody>
      </p:sp>
      <p:sp>
        <p:nvSpPr>
          <p:cNvPr id="10" name="Proporción Menta"/>
          <p:cNvSpPr/>
          <p:nvPr/>
        </p:nvSpPr>
        <p:spPr>
          <a:xfrm>
            <a:off x="8503920" y="1965960"/>
            <a:ext cx="914400" cy="1645920"/>
          </a:xfrm>
          <a:prstGeom prst="rect">
            <a:avLst/>
          </a:prstGeom>
          <a:solidFill>
            <a:srgbClr val="DFEEE6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33101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MENTA</a:t>
            </a:r>
            <a:endParaRPr lang="en-US" sz="900" dirty="0"/>
          </a:p>
        </p:txBody>
      </p:sp>
      <p:sp>
        <p:nvSpPr>
          <p:cNvPr id="12" name="Proporción "/>
          <p:cNvSpPr/>
          <p:nvPr/>
        </p:nvSpPr>
        <p:spPr>
          <a:xfrm>
            <a:off x="9418320" y="1965960"/>
            <a:ext cx="640080" cy="1645920"/>
          </a:xfrm>
          <a:prstGeom prst="rect">
            <a:avLst/>
          </a:prstGeom>
          <a:solidFill>
            <a:srgbClr val="6BAEE8"/>
          </a:solidFill>
          <a:ln w="12700">
            <a:solidFill>
              <a:srgbClr val="6BAEE8"/>
            </a:solidFill>
            <a:prstDash val="solid"/>
          </a:ln>
        </p:spPr>
      </p:sp>
      <p:sp>
        <p:nvSpPr>
          <p:cNvPr id="13" name="Proporción "/>
          <p:cNvSpPr/>
          <p:nvPr/>
        </p:nvSpPr>
        <p:spPr>
          <a:xfrm>
            <a:off x="10058400" y="1965960"/>
            <a:ext cx="457200" cy="1645920"/>
          </a:xfrm>
          <a:prstGeom prst="rect">
            <a:avLst/>
          </a:prstGeom>
          <a:solidFill>
            <a:srgbClr val="9C8DDD"/>
          </a:solidFill>
          <a:ln w="12700">
            <a:solidFill>
              <a:srgbClr val="9C8DDD"/>
            </a:solidFill>
            <a:prstDash val="solid"/>
          </a:ln>
        </p:spPr>
      </p:sp>
      <p:sp>
        <p:nvSpPr>
          <p:cNvPr id="14" name="Proporción "/>
          <p:cNvSpPr/>
          <p:nvPr/>
        </p:nvSpPr>
        <p:spPr>
          <a:xfrm>
            <a:off x="10515600" y="1965960"/>
            <a:ext cx="640080" cy="1645920"/>
          </a:xfrm>
          <a:prstGeom prst="rect">
            <a:avLst/>
          </a:prstGeom>
          <a:solidFill>
            <a:srgbClr val="0D1F18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15" name="Proporción "/>
          <p:cNvSpPr/>
          <p:nvPr/>
        </p:nvSpPr>
        <p:spPr>
          <a:xfrm>
            <a:off x="11155680" y="1965960"/>
            <a:ext cx="393192" cy="1645920"/>
          </a:xfrm>
          <a:prstGeom prst="rect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49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PROPORCIÓN ORIENTATIVA — PROPUESTA</a:t>
            </a:r>
            <a:endParaRPr lang="en-US" sz="1000" dirty="0"/>
          </a:p>
        </p:txBody>
      </p:sp>
      <p:sp>
        <p:nvSpPr>
          <p:cNvPr id="17" name="Filete"/>
          <p:cNvSpPr/>
          <p:nvPr/>
        </p:nvSpPr>
        <p:spPr>
          <a:xfrm>
            <a:off x="640080" y="452628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blanco domina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120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superficies de trabajo son blancas con bordes finos. El color marca estado e identidad.</a:t>
            </a:r>
            <a:endParaRPr lang="en-US" sz="1400" dirty="0"/>
          </a:p>
        </p:txBody>
      </p:sp>
      <p:sp>
        <p:nvSpPr>
          <p:cNvPr id="20" name="Filete"/>
          <p:cNvSpPr/>
          <p:nvPr/>
        </p:nvSpPr>
        <p:spPr>
          <a:xfrm>
            <a:off x="4343400" y="452628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verde ancla y actúa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5120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bosque para la estructura; verde de marca para la acción. Un solo botón primario por vista.</a:t>
            </a:r>
            <a:endParaRPr lang="en-US" sz="1400" dirty="0"/>
          </a:p>
        </p:txBody>
      </p:sp>
      <p:sp>
        <p:nvSpPr>
          <p:cNvPr id="23" name="Filete"/>
          <p:cNvSpPr/>
          <p:nvPr/>
        </p:nvSpPr>
        <p:spPr>
          <a:xfrm>
            <a:off x="8046720" y="4526280"/>
            <a:ext cx="3429000" cy="0"/>
          </a:xfrm>
          <a:prstGeom prst="line">
            <a:avLst/>
          </a:prstGeom>
          <a:noFill/>
          <a:ln w="15875">
            <a:solidFill>
              <a:srgbClr val="E55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coral solo cancela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5120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 usa para decorar ni para una baja de números: una baja va en gris oscuro.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estado</a:t>
            </a:r>
            <a:endParaRPr lang="en-US" sz="3600" dirty="0"/>
          </a:p>
        </p:txBody>
      </p:sp>
      <p:sp>
        <p:nvSpPr>
          <p:cNvPr id="4" name="Estado Libre"/>
          <p:cNvSpPr/>
          <p:nvPr/>
        </p:nvSpPr>
        <p:spPr>
          <a:xfrm>
            <a:off x="640080" y="192024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AD6C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4124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0175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PERSONAS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Borde punteado gris, fondo blanco</a:t>
            </a:r>
            <a:endParaRPr lang="en-US" sz="1300" dirty="0"/>
          </a:p>
        </p:txBody>
      </p:sp>
      <p:sp>
        <p:nvSpPr>
          <p:cNvPr id="9" name="Estado Reservado"/>
          <p:cNvSpPr/>
          <p:nvPr/>
        </p:nvSpPr>
        <p:spPr>
          <a:xfrm>
            <a:off x="2834640" y="192024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E8F4EE"/>
          </a:solidFill>
          <a:ln w="15875">
            <a:solidFill>
              <a:srgbClr val="BCDC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3580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Reservado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30175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A 3 PERSONAS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 verde suave, texto verde</a:t>
            </a:r>
            <a:endParaRPr lang="en-US" sz="1300" dirty="0"/>
          </a:p>
        </p:txBody>
      </p:sp>
      <p:sp>
        <p:nvSpPr>
          <p:cNvPr id="14" name="Estado Completo"/>
          <p:cNvSpPr/>
          <p:nvPr/>
        </p:nvSpPr>
        <p:spPr>
          <a:xfrm>
            <a:off x="5029200" y="192024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036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30175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PERSONAS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Relleno verde bosque, texto blanco</a:t>
            </a:r>
            <a:endParaRPr lang="en-US" sz="1300" dirty="0"/>
          </a:p>
        </p:txBody>
      </p:sp>
      <p:sp>
        <p:nvSpPr>
          <p:cNvPr id="19" name="Estado Cancelado"/>
          <p:cNvSpPr/>
          <p:nvPr/>
        </p:nvSpPr>
        <p:spPr>
          <a:xfrm>
            <a:off x="7223760" y="192024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DEEEA"/>
          </a:solidFill>
          <a:ln w="15875">
            <a:solidFill>
              <a:srgbClr val="F4B9A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2492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Cancelado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24928" y="30175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 GUARDA APARTE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Chip coral</a:t>
            </a:r>
            <a:endParaRPr lang="en-US" sz="1300" dirty="0"/>
          </a:p>
        </p:txBody>
      </p:sp>
      <p:sp>
        <p:nvSpPr>
          <p:cNvPr id="24" name="Estado A confirmar"/>
          <p:cNvSpPr/>
          <p:nvPr/>
        </p:nvSpPr>
        <p:spPr>
          <a:xfrm>
            <a:off x="9418320" y="192024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6A7B74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961948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confirmar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619488" y="30175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DATO NO DEFINIDO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Chip con borde punteado</a:t>
            </a:r>
            <a:endParaRPr lang="en-US" sz="1300" dirty="0"/>
          </a:p>
        </p:txBody>
      </p:sp>
      <p:sp>
        <p:nvSpPr>
          <p:cNvPr id="29" name="Filete"/>
          <p:cNvSpPr/>
          <p:nvPr/>
        </p:nvSpPr>
        <p:spPr>
          <a:xfrm>
            <a:off x="640080" y="5074920"/>
            <a:ext cx="1090879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5212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estados nunca dependen solo del color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523036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estado lleva su nombre escrito y cambia además el relleno o el borde, para que se entienda sin distinguir colores.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Combinaciones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contraste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MUESTRA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COMBINACIÓN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783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CONTRASTE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NIVEL WCAG</a:t>
            </a:r>
            <a:endParaRPr lang="en-US" sz="1000" dirty="0"/>
          </a:p>
        </p:txBody>
      </p:sp>
      <p:sp>
        <p:nvSpPr>
          <p:cNvPr id="8" name="Filete"/>
          <p:cNvSpPr/>
          <p:nvPr/>
        </p:nvSpPr>
        <p:spPr>
          <a:xfrm>
            <a:off x="640080" y="2084832"/>
            <a:ext cx="77724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9" name="Muestra 1"/>
          <p:cNvSpPr/>
          <p:nvPr/>
        </p:nvSpPr>
        <p:spPr>
          <a:xfrm>
            <a:off x="640080" y="2139696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39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1396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Negro verdoso sobre blanco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2128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17,1 : 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2128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AAA</a:t>
            </a:r>
            <a:endParaRPr lang="en-US" sz="1000" dirty="0"/>
          </a:p>
        </p:txBody>
      </p:sp>
      <p:sp>
        <p:nvSpPr>
          <p:cNvPr id="14" name="Filete"/>
          <p:cNvSpPr/>
          <p:nvPr/>
        </p:nvSpPr>
        <p:spPr>
          <a:xfrm>
            <a:off x="640080" y="2560320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5" name="Muestra 2"/>
          <p:cNvSpPr/>
          <p:nvPr/>
        </p:nvSpPr>
        <p:spPr>
          <a:xfrm>
            <a:off x="640080" y="2615184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615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615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 secundario sobre blanco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6883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8,0 : 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6883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AAA</a:t>
            </a:r>
            <a:endParaRPr lang="en-US" sz="1000" dirty="0"/>
          </a:p>
        </p:txBody>
      </p:sp>
      <p:sp>
        <p:nvSpPr>
          <p:cNvPr id="20" name="Filete"/>
          <p:cNvSpPr/>
          <p:nvPr/>
        </p:nvSpPr>
        <p:spPr>
          <a:xfrm>
            <a:off x="640080" y="3035808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1" name="Muestra 3"/>
          <p:cNvSpPr/>
          <p:nvPr/>
        </p:nvSpPr>
        <p:spPr>
          <a:xfrm>
            <a:off x="640080" y="3090672"/>
            <a:ext cx="1645920" cy="3657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090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3090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 sobre verde bosque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1638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12,2 : 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1638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AAA</a:t>
            </a:r>
            <a:endParaRPr lang="en-US" sz="1000" dirty="0"/>
          </a:p>
        </p:txBody>
      </p:sp>
      <p:sp>
        <p:nvSpPr>
          <p:cNvPr id="26" name="Filete"/>
          <p:cNvSpPr/>
          <p:nvPr/>
        </p:nvSpPr>
        <p:spPr>
          <a:xfrm>
            <a:off x="640080" y="3511296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7" name="Muestra 4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46888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 sobre verde bosque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6393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7,6 : 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6393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AAA</a:t>
            </a:r>
            <a:endParaRPr lang="en-US" sz="1000" dirty="0"/>
          </a:p>
        </p:txBody>
      </p:sp>
      <p:sp>
        <p:nvSpPr>
          <p:cNvPr id="32" name="Filete"/>
          <p:cNvSpPr/>
          <p:nvPr/>
        </p:nvSpPr>
        <p:spPr>
          <a:xfrm>
            <a:off x="640080" y="3986784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33" name="Muestra 5"/>
          <p:cNvSpPr/>
          <p:nvPr/>
        </p:nvSpPr>
        <p:spPr>
          <a:xfrm>
            <a:off x="640080" y="4041648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041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468880" y="4041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de marca sobre blanco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6,1 : 1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4114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1000" dirty="0"/>
          </a:p>
        </p:txBody>
      </p:sp>
      <p:sp>
        <p:nvSpPr>
          <p:cNvPr id="38" name="Filete"/>
          <p:cNvSpPr/>
          <p:nvPr/>
        </p:nvSpPr>
        <p:spPr>
          <a:xfrm>
            <a:off x="640080" y="4462272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39" name="Muestra 6"/>
          <p:cNvSpPr/>
          <p:nvPr/>
        </p:nvSpPr>
        <p:spPr>
          <a:xfrm>
            <a:off x="640080" y="4517136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45171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2468880" y="45171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Azul cielo 600 sobre blanco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0" y="4590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5,1 : 1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45902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1000" dirty="0"/>
          </a:p>
        </p:txBody>
      </p:sp>
      <p:sp>
        <p:nvSpPr>
          <p:cNvPr id="44" name="Filete"/>
          <p:cNvSpPr/>
          <p:nvPr/>
        </p:nvSpPr>
        <p:spPr>
          <a:xfrm>
            <a:off x="640080" y="4937760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45" name="Muestra 7"/>
          <p:cNvSpPr/>
          <p:nvPr/>
        </p:nvSpPr>
        <p:spPr>
          <a:xfrm>
            <a:off x="640080" y="4992624"/>
            <a:ext cx="1645920" cy="365760"/>
          </a:xfrm>
          <a:prstGeom prst="rect">
            <a:avLst/>
          </a:prstGeom>
          <a:solidFill>
            <a:srgbClr val="9C8DDD"/>
          </a:solidFill>
          <a:ln w="12700">
            <a:solidFill>
              <a:srgbClr val="9C8D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4992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2468880" y="49926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oscuro sobre lavanda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0" y="50657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5,9 : 1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949440" y="50657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1000" dirty="0"/>
          </a:p>
        </p:txBody>
      </p:sp>
      <p:sp>
        <p:nvSpPr>
          <p:cNvPr id="50" name="Filete"/>
          <p:cNvSpPr/>
          <p:nvPr/>
        </p:nvSpPr>
        <p:spPr>
          <a:xfrm>
            <a:off x="640080" y="5413248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1" name="Muestra 8"/>
          <p:cNvSpPr/>
          <p:nvPr/>
        </p:nvSpPr>
        <p:spPr>
          <a:xfrm>
            <a:off x="640080" y="5468112"/>
            <a:ext cx="1645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7240" y="5468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2468880" y="5468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 de apoyo sobre blanco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0" y="55412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4,47 : 1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949440" y="55412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JUSTO</a:t>
            </a:r>
            <a:endParaRPr lang="en-US" sz="1000" dirty="0"/>
          </a:p>
        </p:txBody>
      </p:sp>
      <p:sp>
        <p:nvSpPr>
          <p:cNvPr id="56" name="Filete"/>
          <p:cNvSpPr/>
          <p:nvPr/>
        </p:nvSpPr>
        <p:spPr>
          <a:xfrm>
            <a:off x="640080" y="5888736"/>
            <a:ext cx="777240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7" name="Muestra 9"/>
          <p:cNvSpPr/>
          <p:nvPr/>
        </p:nvSpPr>
        <p:spPr>
          <a:xfrm>
            <a:off x="640080" y="5943600"/>
            <a:ext cx="1645920" cy="365760"/>
          </a:xfrm>
          <a:prstGeom prst="rect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7240" y="5943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  Pali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2468880" y="5943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 sobre coral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0" y="6016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3,7 : 1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949440" y="6016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SOLO TEXTO GRANDE</a:t>
            </a:r>
            <a:endParaRPr lang="en-US" sz="1000" dirty="0"/>
          </a:p>
        </p:txBody>
      </p:sp>
      <p:sp>
        <p:nvSpPr>
          <p:cNvPr id="62" name="Filete"/>
          <p:cNvSpPr/>
          <p:nvPr/>
        </p:nvSpPr>
        <p:spPr>
          <a:xfrm>
            <a:off x="640080" y="6364224"/>
            <a:ext cx="77724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86968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REVISAR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8869680" y="2103120"/>
            <a:ext cx="26791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 de apoyo. </a:t>
            </a:r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Queda en 4,47 : 1, apenas debajo del 4,5 que pide AA. Conviene oscurecerlo un poco.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Coral. </a:t>
            </a:r>
            <a:pPr indent="0" marL="0">
              <a:buNone/>
            </a:pPr>
            <a:r>
              <a:rPr lang="en-US" sz="13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botón de cancelar con texto blanco llega a 3,7 : 1: sirve para texto grande. En texto chico, pasar a un coral más oscuro.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Paleta del </a:t>
            </a:r>
            <a:pPr algn="l" indent="0" marL="0">
              <a:buNone/>
            </a:pPr>
            <a:r>
              <a:rPr lang="en-US" sz="3600" b="1" dirty="0">
                <a:solidFill>
                  <a:srgbClr val="3FAE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tema oscuro</a:t>
            </a:r>
            <a:endParaRPr lang="en-US" sz="3600" dirty="0"/>
          </a:p>
        </p:txBody>
      </p:sp>
      <p:pic>
        <p:nvPicPr>
          <p:cNvPr id="4" name="Tema oscuro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868680"/>
            <a:ext cx="502920" cy="502920"/>
          </a:xfrm>
          <a:prstGeom prst="rect">
            <a:avLst/>
          </a:prstGeom>
        </p:spPr>
      </p:pic>
      <p:sp>
        <p:nvSpPr>
          <p:cNvPr id="5" name="Tema oscuro · nombre"/>
          <p:cNvSpPr txBox="1"/>
          <p:nvPr/>
        </p:nvSpPr>
        <p:spPr>
          <a:xfrm>
            <a:off x="10011766" y="81838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5C8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cambian los tokens: ningún componente tiene colores propios. El verde de marca se aclara y el texto pasa a casi blanco para sostener el contraste.</a:t>
            </a:r>
            <a:endParaRPr lang="en-US" sz="1600" dirty="0"/>
          </a:p>
        </p:txBody>
      </p:sp>
      <p:sp>
        <p:nvSpPr>
          <p:cNvPr id="7" name="Oscuro Fondo"/>
          <p:cNvSpPr/>
          <p:nvPr/>
        </p:nvSpPr>
        <p:spPr>
          <a:xfrm>
            <a:off x="0" y="3657600"/>
            <a:ext cx="1354633" cy="3200400"/>
          </a:xfrm>
          <a:prstGeom prst="rect">
            <a:avLst/>
          </a:prstGeom>
          <a:solidFill>
            <a:srgbClr val="0B1511"/>
          </a:solidFill>
          <a:ln w="9525">
            <a:solidFill>
              <a:srgbClr val="345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288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82880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Fondo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82880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#0B1511</a:t>
            </a:r>
            <a:endParaRPr lang="en-US" sz="900" dirty="0"/>
          </a:p>
        </p:txBody>
      </p:sp>
      <p:sp>
        <p:nvSpPr>
          <p:cNvPr id="11" name="Oscuro Superficie"/>
          <p:cNvSpPr/>
          <p:nvPr/>
        </p:nvSpPr>
        <p:spPr>
          <a:xfrm>
            <a:off x="1354633" y="3657600"/>
            <a:ext cx="1354633" cy="3200400"/>
          </a:xfrm>
          <a:prstGeom prst="rect">
            <a:avLst/>
          </a:prstGeom>
          <a:solidFill>
            <a:srgbClr val="12221B"/>
          </a:solidFill>
          <a:ln w="12700">
            <a:solidFill>
              <a:srgbClr val="12221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37513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537513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Superficie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37513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#12221B</a:t>
            </a:r>
            <a:endParaRPr lang="en-US" sz="900" dirty="0"/>
          </a:p>
        </p:txBody>
      </p:sp>
      <p:sp>
        <p:nvSpPr>
          <p:cNvPr id="15" name="Oscuro Suave"/>
          <p:cNvSpPr/>
          <p:nvPr/>
        </p:nvSpPr>
        <p:spPr>
          <a:xfrm>
            <a:off x="2709266" y="3657600"/>
            <a:ext cx="1354633" cy="3200400"/>
          </a:xfrm>
          <a:prstGeom prst="rect">
            <a:avLst/>
          </a:prstGeom>
          <a:solidFill>
            <a:srgbClr val="16271F"/>
          </a:solidFill>
          <a:ln w="12700">
            <a:solidFill>
              <a:srgbClr val="16271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92146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892146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Suave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892146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#16271F</a:t>
            </a:r>
            <a:endParaRPr lang="en-US" sz="900" dirty="0"/>
          </a:p>
        </p:txBody>
      </p:sp>
      <p:sp>
        <p:nvSpPr>
          <p:cNvPr id="19" name="Oscuro Línea"/>
          <p:cNvSpPr/>
          <p:nvPr/>
        </p:nvSpPr>
        <p:spPr>
          <a:xfrm>
            <a:off x="4063898" y="3657600"/>
            <a:ext cx="1354633" cy="3200400"/>
          </a:xfrm>
          <a:prstGeom prst="rect">
            <a:avLst/>
          </a:prstGeom>
          <a:solidFill>
            <a:srgbClr val="233A2F"/>
          </a:solidFill>
          <a:ln w="12700">
            <a:solidFill>
              <a:srgbClr val="233A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46778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246778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F2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Línea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246778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9F2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#233A2F</a:t>
            </a:r>
            <a:endParaRPr lang="en-US" sz="900" dirty="0"/>
          </a:p>
        </p:txBody>
      </p:sp>
      <p:sp>
        <p:nvSpPr>
          <p:cNvPr id="23" name="Oscuro Texto"/>
          <p:cNvSpPr/>
          <p:nvPr/>
        </p:nvSpPr>
        <p:spPr>
          <a:xfrm>
            <a:off x="5418531" y="3657600"/>
            <a:ext cx="1354633" cy="3200400"/>
          </a:xfrm>
          <a:prstGeom prst="rect">
            <a:avLst/>
          </a:prstGeom>
          <a:solidFill>
            <a:srgbClr val="E9F2ED"/>
          </a:solidFill>
          <a:ln w="12700">
            <a:solidFill>
              <a:srgbClr val="E9F2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01411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601411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01411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#E9F2ED</a:t>
            </a:r>
            <a:endParaRPr lang="en-US" sz="900" dirty="0"/>
          </a:p>
        </p:txBody>
      </p:sp>
      <p:sp>
        <p:nvSpPr>
          <p:cNvPr id="27" name="Oscuro Texto 2"/>
          <p:cNvSpPr/>
          <p:nvPr/>
        </p:nvSpPr>
        <p:spPr>
          <a:xfrm>
            <a:off x="6773164" y="3657600"/>
            <a:ext cx="1354633" cy="3200400"/>
          </a:xfrm>
          <a:prstGeom prst="rect">
            <a:avLst/>
          </a:prstGeom>
          <a:solidFill>
            <a:srgbClr val="B5C8BF"/>
          </a:solidFill>
          <a:ln w="12700">
            <a:solidFill>
              <a:srgbClr val="B5C8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56044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956044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2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956044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#B5C8BF</a:t>
            </a:r>
            <a:endParaRPr lang="en-US" sz="900" dirty="0"/>
          </a:p>
        </p:txBody>
      </p:sp>
      <p:sp>
        <p:nvSpPr>
          <p:cNvPr id="31" name="Oscuro Marca"/>
          <p:cNvSpPr/>
          <p:nvPr/>
        </p:nvSpPr>
        <p:spPr>
          <a:xfrm>
            <a:off x="8127797" y="3657600"/>
            <a:ext cx="1354633" cy="3200400"/>
          </a:xfrm>
          <a:prstGeom prst="rect">
            <a:avLst/>
          </a:prstGeom>
          <a:solidFill>
            <a:srgbClr val="3FAE87"/>
          </a:solidFill>
          <a:ln w="12700">
            <a:solidFill>
              <a:srgbClr val="3FAE8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10677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310677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Marca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310677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#3FAE87</a:t>
            </a:r>
            <a:endParaRPr lang="en-US" sz="900" dirty="0"/>
          </a:p>
        </p:txBody>
      </p:sp>
      <p:sp>
        <p:nvSpPr>
          <p:cNvPr id="35" name="Oscuro Relleno"/>
          <p:cNvSpPr/>
          <p:nvPr/>
        </p:nvSpPr>
        <p:spPr>
          <a:xfrm>
            <a:off x="9482430" y="3657600"/>
            <a:ext cx="1354633" cy="320040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6531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9665310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Relleno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665310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#1F6F57</a:t>
            </a:r>
            <a:endParaRPr lang="en-US" sz="900" dirty="0"/>
          </a:p>
        </p:txBody>
      </p:sp>
      <p:sp>
        <p:nvSpPr>
          <p:cNvPr id="39" name="Oscuro Coral"/>
          <p:cNvSpPr/>
          <p:nvPr/>
        </p:nvSpPr>
        <p:spPr>
          <a:xfrm>
            <a:off x="10837062" y="3657600"/>
            <a:ext cx="1354633" cy="3200400"/>
          </a:xfrm>
          <a:prstGeom prst="rect">
            <a:avLst/>
          </a:prstGeom>
          <a:solidFill>
            <a:srgbClr val="F0705B"/>
          </a:solidFill>
          <a:ln w="12700">
            <a:solidFill>
              <a:srgbClr val="F0705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19942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1019942" y="5577840"/>
            <a:ext cx="10803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1019942" y="5943600"/>
            <a:ext cx="1080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#F0705B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6A09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eral"/>
          <p:cNvSpPr txBox="1"/>
          <p:nvPr/>
        </p:nvSpPr>
        <p:spPr>
          <a:xfrm>
            <a:off x="548640" y="320040"/>
            <a:ext cx="9144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0" b="1" spc="-800" kern="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2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3886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Tipografía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257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familias de IBM Plex: una para leer y otra para los datos.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TIPOGRAFÍA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0" b="1" spc="-1000" kern="0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</a:t>
            </a:r>
            <a:endParaRPr lang="en-US" sz="300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Texto, títulos, botones y formularios.</a:t>
            </a:r>
            <a:endParaRPr lang="en-US" sz="1600" dirty="0"/>
          </a:p>
        </p:txBody>
      </p:sp>
      <p:sp>
        <p:nvSpPr>
          <p:cNvPr id="6" name="Filete"/>
          <p:cNvSpPr/>
          <p:nvPr/>
        </p:nvSpPr>
        <p:spPr>
          <a:xfrm>
            <a:off x="6766560" y="2514600"/>
            <a:ext cx="475488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 · Reservá un turno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2715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REGULAR 400</a:t>
            </a:r>
            <a:endParaRPr lang="en-US" sz="900" dirty="0"/>
          </a:p>
        </p:txBody>
      </p:sp>
      <p:sp>
        <p:nvSpPr>
          <p:cNvPr id="9" name="Filete"/>
          <p:cNvSpPr/>
          <p:nvPr/>
        </p:nvSpPr>
        <p:spPr>
          <a:xfrm>
            <a:off x="6766560" y="3081528"/>
            <a:ext cx="475488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3172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 · Reservá un turno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2826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 500</a:t>
            </a:r>
            <a:endParaRPr lang="en-US" sz="900" dirty="0"/>
          </a:p>
        </p:txBody>
      </p:sp>
      <p:sp>
        <p:nvSpPr>
          <p:cNvPr id="12" name="Filete"/>
          <p:cNvSpPr/>
          <p:nvPr/>
        </p:nvSpPr>
        <p:spPr>
          <a:xfrm>
            <a:off x="6766560" y="3648456"/>
            <a:ext cx="475488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37398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 · Reservá un turno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38496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SEMIBOLD 600</a:t>
            </a:r>
            <a:endParaRPr lang="en-US" sz="900" dirty="0"/>
          </a:p>
        </p:txBody>
      </p:sp>
      <p:sp>
        <p:nvSpPr>
          <p:cNvPr id="15" name="Filete"/>
          <p:cNvSpPr/>
          <p:nvPr/>
        </p:nvSpPr>
        <p:spPr>
          <a:xfrm>
            <a:off x="6766560" y="4215384"/>
            <a:ext cx="475488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4434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ABCDEFGHIJKLMNÑOPQRSTUVWXYZ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abcdefghijklmnñopqrstuvwxyz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0123456789  $ % ( ) ¿ ? ¡ !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436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 CARGA DESDE GOOGLE FONTS. SIN CONEXIÓN SE USA LA FUENTE DEL SISTEMA.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TIPOGRAFÍA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Mono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0" b="1" spc="-10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300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1783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y etiquetas: horarios, importes y teléfonos.</a:t>
            </a:r>
            <a:endParaRPr lang="en-US" sz="1600" dirty="0"/>
          </a:p>
        </p:txBody>
      </p:sp>
      <p:sp>
        <p:nvSpPr>
          <p:cNvPr id="6" name="Filete"/>
          <p:cNvSpPr/>
          <p:nvPr/>
        </p:nvSpPr>
        <p:spPr>
          <a:xfrm>
            <a:off x="6766560" y="2697480"/>
            <a:ext cx="47548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19:30 – 21:00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2898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REGULAR 400</a:t>
            </a:r>
            <a:endParaRPr lang="en-US" sz="900" dirty="0"/>
          </a:p>
        </p:txBody>
      </p:sp>
      <p:sp>
        <p:nvSpPr>
          <p:cNvPr id="9" name="Filete"/>
          <p:cNvSpPr/>
          <p:nvPr/>
        </p:nvSpPr>
        <p:spPr>
          <a:xfrm>
            <a:off x="6766560" y="3264408"/>
            <a:ext cx="4754880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3355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19:30 – 21:00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4655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 500</a:t>
            </a:r>
            <a:endParaRPr lang="en-US" sz="900" dirty="0"/>
          </a:p>
        </p:txBody>
      </p:sp>
      <p:sp>
        <p:nvSpPr>
          <p:cNvPr id="12" name="Filete"/>
          <p:cNvSpPr/>
          <p:nvPr/>
        </p:nvSpPr>
        <p:spPr>
          <a:xfrm>
            <a:off x="6766560" y="3831336"/>
            <a:ext cx="4754880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4069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$ 1.372.000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2284-363702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CANCHA 1 · 4 DE 4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D6C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TIPOGRAFÍA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Jerarquía tipográfica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Seis roles y una cifra destacada. Cada tamaño tiene una sola función.</a:t>
            </a:r>
            <a:endParaRPr lang="en-US" sz="1500" dirty="0"/>
          </a:p>
        </p:txBody>
      </p:sp>
      <p:sp>
        <p:nvSpPr>
          <p:cNvPr id="5" name="Filete"/>
          <p:cNvSpPr/>
          <p:nvPr/>
        </p:nvSpPr>
        <p:spPr>
          <a:xfrm>
            <a:off x="4114800" y="868680"/>
            <a:ext cx="743407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0" y="978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Título de página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252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 PX · 600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868680"/>
            <a:ext cx="5056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Cuánto entró</a:t>
            </a:r>
            <a:endParaRPr lang="en-US" sz="4200" dirty="0"/>
          </a:p>
        </p:txBody>
      </p:sp>
      <p:sp>
        <p:nvSpPr>
          <p:cNvPr id="9" name="Filete"/>
          <p:cNvSpPr/>
          <p:nvPr/>
        </p:nvSpPr>
        <p:spPr>
          <a:xfrm>
            <a:off x="4114800" y="182880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Título de sección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PX · 600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82880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Reservas del día</a:t>
            </a:r>
            <a:endParaRPr lang="en-US" sz="2800" dirty="0"/>
          </a:p>
        </p:txBody>
      </p:sp>
      <p:sp>
        <p:nvSpPr>
          <p:cNvPr id="13" name="Filete"/>
          <p:cNvSpPr/>
          <p:nvPr/>
        </p:nvSpPr>
        <p:spPr>
          <a:xfrm>
            <a:off x="4114800" y="256032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Subtítulo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944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15,5 PX · 600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56032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Cancha 1 · Turno completo</a:t>
            </a:r>
            <a:endParaRPr lang="en-US" sz="1550" dirty="0"/>
          </a:p>
        </p:txBody>
      </p:sp>
      <p:sp>
        <p:nvSpPr>
          <p:cNvPr id="17" name="Filete"/>
          <p:cNvSpPr/>
          <p:nvPr/>
        </p:nvSpPr>
        <p:spPr>
          <a:xfrm>
            <a:off x="4114800" y="315468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base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3538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14,5 PX · 400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15468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Tocá un turno libre para reservarlo.</a:t>
            </a:r>
            <a:endParaRPr lang="en-US" sz="1450" dirty="0"/>
          </a:p>
        </p:txBody>
      </p:sp>
      <p:sp>
        <p:nvSpPr>
          <p:cNvPr id="21" name="Filete"/>
          <p:cNvSpPr/>
          <p:nvPr/>
        </p:nvSpPr>
        <p:spPr>
          <a:xfrm>
            <a:off x="4114800" y="374904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de apoyo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133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12,5 PX · 400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74904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importes son una estimación.</a:t>
            </a:r>
            <a:endParaRPr lang="en-US" sz="1250" dirty="0"/>
          </a:p>
        </p:txBody>
      </p:sp>
      <p:sp>
        <p:nvSpPr>
          <p:cNvPr id="25" name="Filete"/>
          <p:cNvSpPr/>
          <p:nvPr/>
        </p:nvSpPr>
        <p:spPr>
          <a:xfrm>
            <a:off x="4114800" y="434340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0" y="4453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Etiqueta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727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10,5 PX · MONO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343400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BUSCADOR ÚNICO</a:t>
            </a:r>
            <a:endParaRPr lang="en-US" sz="1100" dirty="0"/>
          </a:p>
        </p:txBody>
      </p:sp>
      <p:sp>
        <p:nvSpPr>
          <p:cNvPr id="29" name="Filete"/>
          <p:cNvSpPr/>
          <p:nvPr/>
        </p:nvSpPr>
        <p:spPr>
          <a:xfrm>
            <a:off x="4114800" y="4892040"/>
            <a:ext cx="7434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0" y="5001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Cifra destacada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5276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 PX · 600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892040"/>
            <a:ext cx="5056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$ 1.372.000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eral"/>
          <p:cNvSpPr txBox="1"/>
          <p:nvPr/>
        </p:nvSpPr>
        <p:spPr>
          <a:xfrm>
            <a:off x="548640" y="320040"/>
            <a:ext cx="9144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0" b="1" spc="-800" kern="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2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3886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257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Forma, espacio, voz y cómo se ve la marca cuando trabaja en el producto.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SISTEMA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Forma, espacio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movimiento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ESQUINAS</a:t>
            </a:r>
            <a:endParaRPr lang="en-US" sz="1000" dirty="0"/>
          </a:p>
        </p:txBody>
      </p:sp>
      <p:sp>
        <p:nvSpPr>
          <p:cNvPr id="5" name="Radio 8"/>
          <p:cNvSpPr/>
          <p:nvPr/>
        </p:nvSpPr>
        <p:spPr>
          <a:xfrm>
            <a:off x="640080" y="2148840"/>
            <a:ext cx="12344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PX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Controles</a:t>
            </a:r>
            <a:endParaRPr lang="en-US" sz="1200" dirty="0"/>
          </a:p>
        </p:txBody>
      </p:sp>
      <p:sp>
        <p:nvSpPr>
          <p:cNvPr id="8" name="Radio 12"/>
          <p:cNvSpPr/>
          <p:nvPr/>
        </p:nvSpPr>
        <p:spPr>
          <a:xfrm>
            <a:off x="2057400" y="2148840"/>
            <a:ext cx="123444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148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PX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Cards, turnos, modal</a:t>
            </a:r>
            <a:endParaRPr lang="en-US" sz="1200" dirty="0"/>
          </a:p>
        </p:txBody>
      </p:sp>
      <p:sp>
        <p:nvSpPr>
          <p:cNvPr id="11" name="Radio 20"/>
          <p:cNvSpPr/>
          <p:nvPr/>
        </p:nvSpPr>
        <p:spPr>
          <a:xfrm>
            <a:off x="3474720" y="2148840"/>
            <a:ext cx="123444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148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PX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Panel de encabezado</a:t>
            </a:r>
            <a:endParaRPr lang="en-US" sz="1200" dirty="0"/>
          </a:p>
        </p:txBody>
      </p:sp>
      <p:sp>
        <p:nvSpPr>
          <p:cNvPr id="14" name="Radio ∞"/>
          <p:cNvSpPr/>
          <p:nvPr/>
        </p:nvSpPr>
        <p:spPr>
          <a:xfrm>
            <a:off x="4892040" y="2148840"/>
            <a:ext cx="1234440" cy="9144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2700">
            <a:solidFill>
              <a:srgbClr val="0D1F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2148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F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PÍLDORA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Chips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ESPACIADO · MÚLTIPLOS DE 4 PX</a:t>
            </a:r>
            <a:endParaRPr lang="en-US" sz="1000" dirty="0"/>
          </a:p>
        </p:txBody>
      </p:sp>
      <p:sp>
        <p:nvSpPr>
          <p:cNvPr id="18" name="Espacio 4"/>
          <p:cNvSpPr/>
          <p:nvPr/>
        </p:nvSpPr>
        <p:spPr>
          <a:xfrm>
            <a:off x="6492240" y="2975458"/>
            <a:ext cx="91440" cy="87782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154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Espacio 8"/>
          <p:cNvSpPr/>
          <p:nvPr/>
        </p:nvSpPr>
        <p:spPr>
          <a:xfrm>
            <a:off x="6858000" y="2887675"/>
            <a:ext cx="175565" cy="175565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3154680"/>
            <a:ext cx="54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Espacio 12"/>
          <p:cNvSpPr/>
          <p:nvPr/>
        </p:nvSpPr>
        <p:spPr>
          <a:xfrm>
            <a:off x="7307885" y="2799893"/>
            <a:ext cx="263347" cy="263347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25005" y="3154680"/>
            <a:ext cx="629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sp>
        <p:nvSpPr>
          <p:cNvPr id="24" name="Espacio 16"/>
          <p:cNvSpPr/>
          <p:nvPr/>
        </p:nvSpPr>
        <p:spPr>
          <a:xfrm>
            <a:off x="7845552" y="2712110"/>
            <a:ext cx="351130" cy="351130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62672" y="3154680"/>
            <a:ext cx="716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900" dirty="0"/>
          </a:p>
        </p:txBody>
      </p:sp>
      <p:sp>
        <p:nvSpPr>
          <p:cNvPr id="26" name="Espacio 24"/>
          <p:cNvSpPr/>
          <p:nvPr/>
        </p:nvSpPr>
        <p:spPr>
          <a:xfrm>
            <a:off x="8471002" y="2536546"/>
            <a:ext cx="526694" cy="526694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88122" y="3154680"/>
            <a:ext cx="892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</a:t>
            </a:r>
            <a:endParaRPr lang="en-US" sz="900" dirty="0"/>
          </a:p>
        </p:txBody>
      </p:sp>
      <p:sp>
        <p:nvSpPr>
          <p:cNvPr id="28" name="Espacio 32"/>
          <p:cNvSpPr/>
          <p:nvPr/>
        </p:nvSpPr>
        <p:spPr>
          <a:xfrm>
            <a:off x="9272016" y="2360981"/>
            <a:ext cx="702259" cy="702259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89136" y="3154680"/>
            <a:ext cx="1068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</a:t>
            </a:r>
            <a:endParaRPr lang="en-US" sz="900" dirty="0"/>
          </a:p>
        </p:txBody>
      </p:sp>
      <p:sp>
        <p:nvSpPr>
          <p:cNvPr id="30" name="Espacio 48"/>
          <p:cNvSpPr/>
          <p:nvPr/>
        </p:nvSpPr>
        <p:spPr>
          <a:xfrm>
            <a:off x="10248595" y="2009851"/>
            <a:ext cx="1053389" cy="1053389"/>
          </a:xfrm>
          <a:prstGeom prst="rect">
            <a:avLst/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65715" y="3154680"/>
            <a:ext cx="1419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</a:t>
            </a:r>
            <a:endParaRPr lang="en-US" sz="900" dirty="0"/>
          </a:p>
        </p:txBody>
      </p:sp>
      <p:sp>
        <p:nvSpPr>
          <p:cNvPr id="32" name="Filete"/>
          <p:cNvSpPr/>
          <p:nvPr/>
        </p:nvSpPr>
        <p:spPr>
          <a:xfrm>
            <a:off x="640080" y="429768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Sombra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sola, solo en modal y listas flotantes. El resto se separa con bordes finos.</a:t>
            </a:r>
            <a:endParaRPr lang="en-US" sz="1400" dirty="0"/>
          </a:p>
        </p:txBody>
      </p:sp>
      <p:sp>
        <p:nvSpPr>
          <p:cNvPr id="36" name="Filete"/>
          <p:cNvSpPr/>
          <p:nvPr/>
        </p:nvSpPr>
        <p:spPr>
          <a:xfrm>
            <a:off x="4343400" y="429768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4340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34340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Movimiento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434340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150 ms al pasar el mouse. Sin animaciones decorativas; se respeta “reducir movimiento”.</a:t>
            </a:r>
            <a:endParaRPr lang="en-US" sz="1400" dirty="0"/>
          </a:p>
        </p:txBody>
      </p:sp>
      <p:sp>
        <p:nvSpPr>
          <p:cNvPr id="40" name="Filete"/>
          <p:cNvSpPr/>
          <p:nvPr/>
        </p:nvSpPr>
        <p:spPr>
          <a:xfrm>
            <a:off x="8046720" y="429768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4672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Cambio de tema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cambio claro/oscuro se revela como una onda circular desde el clic.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SISTEMA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Tono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voz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Directo y amigable, sin perder la cordialidad. Español de Argentina, con voseo, frases cortas y sin formalismos ni tecnicismos.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ASÍ SÍ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ASÍ NO</a:t>
            </a:r>
            <a:endParaRPr lang="en-US" sz="1000" dirty="0"/>
          </a:p>
        </p:txBody>
      </p:sp>
      <p:sp>
        <p:nvSpPr>
          <p:cNvPr id="7" name="Filete vertical"/>
          <p:cNvSpPr/>
          <p:nvPr/>
        </p:nvSpPr>
        <p:spPr>
          <a:xfrm>
            <a:off x="6080760" y="2240280"/>
            <a:ext cx="0" cy="4023360"/>
          </a:xfrm>
          <a:prstGeom prst="line">
            <a:avLst/>
          </a:prstGeom>
          <a:noFill/>
          <a:ln w="9525">
            <a:solidFill>
              <a:srgbClr val="CAD6CF"/>
            </a:solidFill>
            <a:prstDash val="solid"/>
          </a:ln>
        </p:spPr>
      </p:sp>
      <p:sp>
        <p:nvSpPr>
          <p:cNvPr id="8" name="Filete"/>
          <p:cNvSpPr/>
          <p:nvPr/>
        </p:nvSpPr>
        <p:spPr>
          <a:xfrm>
            <a:off x="640080" y="2606040"/>
            <a:ext cx="512064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9" name="Filete"/>
          <p:cNvSpPr/>
          <p:nvPr/>
        </p:nvSpPr>
        <p:spPr>
          <a:xfrm>
            <a:off x="6400800" y="2606040"/>
            <a:ext cx="514807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7157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Tocá un turno libre para reservarlo.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7157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Clickee sobre el slot disponible para efectuar la reserva.</a:t>
            </a:r>
            <a:endParaRPr lang="en-US" sz="2000" dirty="0"/>
          </a:p>
        </p:txBody>
      </p:sp>
      <p:sp>
        <p:nvSpPr>
          <p:cNvPr id="12" name="Filete"/>
          <p:cNvSpPr/>
          <p:nvPr/>
        </p:nvSpPr>
        <p:spPr>
          <a:xfrm>
            <a:off x="640080" y="3520440"/>
            <a:ext cx="51206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3" name="Filete"/>
          <p:cNvSpPr/>
          <p:nvPr/>
        </p:nvSpPr>
        <p:spPr>
          <a:xfrm>
            <a:off x="6400800" y="3520440"/>
            <a:ext cx="5148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6301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Falta completar el campo Teléfono: es obligatorio.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6301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de validación: campo requerido (400).</a:t>
            </a:r>
            <a:endParaRPr lang="en-US" sz="2000" dirty="0"/>
          </a:p>
        </p:txBody>
      </p:sp>
      <p:sp>
        <p:nvSpPr>
          <p:cNvPr id="16" name="Filete"/>
          <p:cNvSpPr/>
          <p:nvPr/>
        </p:nvSpPr>
        <p:spPr>
          <a:xfrm>
            <a:off x="640080" y="4434840"/>
            <a:ext cx="51206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7" name="Filete"/>
          <p:cNvSpPr/>
          <p:nvPr/>
        </p:nvSpPr>
        <p:spPr>
          <a:xfrm>
            <a:off x="6400800" y="4434840"/>
            <a:ext cx="5148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5445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Elegí una categoría.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5445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Seleccione una opción del dropdown.</a:t>
            </a:r>
            <a:endParaRPr lang="en-US" sz="2000" dirty="0"/>
          </a:p>
        </p:txBody>
      </p:sp>
      <p:sp>
        <p:nvSpPr>
          <p:cNvPr id="20" name="Filete"/>
          <p:cNvSpPr/>
          <p:nvPr/>
        </p:nvSpPr>
        <p:spPr>
          <a:xfrm>
            <a:off x="640080" y="5349240"/>
            <a:ext cx="5120640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1" name="Filete"/>
          <p:cNvSpPr/>
          <p:nvPr/>
        </p:nvSpPr>
        <p:spPr>
          <a:xfrm>
            <a:off x="6400800" y="5349240"/>
            <a:ext cx="514807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4589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pudimos cargar los ingresos. Intentá de nuevo.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4589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rgbClr val="6A7B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Ocurrió una excepción inesperada.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SISTEMA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protagonista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 el club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misión de Pali es que el club compita bien con el resto. Por eso la marca Pali trabaja detrás: el jugador nunca la ve.</a:t>
            </a:r>
            <a:endParaRPr lang="en-US" sz="1600" dirty="0"/>
          </a:p>
        </p:txBody>
      </p:sp>
      <p:sp>
        <p:nvSpPr>
          <p:cNvPr id="5" name="Filete"/>
          <p:cNvSpPr/>
          <p:nvPr/>
        </p:nvSpPr>
        <p:spPr>
          <a:xfrm>
            <a:off x="640080" y="283464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JUGADOR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DEFINIDO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ve Pali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77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chatbot habla con la identidad del club. No hay publicidad de Pali en los mensajes.</a:t>
            </a:r>
            <a:endParaRPr lang="en-US" sz="1500" dirty="0"/>
          </a:p>
        </p:txBody>
      </p:sp>
      <p:sp>
        <p:nvSpPr>
          <p:cNvPr id="10" name="Filete"/>
          <p:cNvSpPr/>
          <p:nvPr/>
        </p:nvSpPr>
        <p:spPr>
          <a:xfrm>
            <a:off x="4343400" y="283464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CHATBOT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CONFIRMAR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configurable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3977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Responde con una base común y cada club puede personalizar sus respuestas.</a:t>
            </a:r>
            <a:endParaRPr lang="en-US" sz="1500" dirty="0"/>
          </a:p>
        </p:txBody>
      </p:sp>
      <p:sp>
        <p:nvSpPr>
          <p:cNvPr id="15" name="Filete"/>
          <p:cNvSpPr/>
          <p:nvPr/>
        </p:nvSpPr>
        <p:spPr>
          <a:xfrm>
            <a:off x="8046720" y="2834640"/>
            <a:ext cx="3429000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ADMINISTRADOR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E55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DEFINIR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Backoffice de Pali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977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Lleva la marca Pali. La identidad del club (nombre, logo) tendría más presencia, con un diseño tipo marca blanca.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436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A7B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AÚN NO SE DEFINIÓ CÓMO SE VE LA IDENTIDAD DEL CLUB DENTRO DEL BACKOFFICE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SISTEMA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marca </a:t>
            </a:r>
            <a:pPr algn="l" indent="0" marL="0">
              <a:buNone/>
            </a:pPr>
            <a:r>
              <a:rPr lang="en-US" sz="36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el producto</a:t>
            </a:r>
            <a:endParaRPr lang="en-US" sz="3600" dirty="0"/>
          </a:p>
        </p:txBody>
      </p:sp>
      <p:sp>
        <p:nvSpPr>
          <p:cNvPr id="4" name="Marco de pantalla"/>
          <p:cNvSpPr/>
          <p:nvPr/>
        </p:nvSpPr>
        <p:spPr>
          <a:xfrm>
            <a:off x="640080" y="1783080"/>
            <a:ext cx="768096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5" name="Barra lateral"/>
          <p:cNvSpPr/>
          <p:nvPr/>
        </p:nvSpPr>
        <p:spPr>
          <a:xfrm>
            <a:off x="640080" y="1783080"/>
            <a:ext cx="2011680" cy="4343400"/>
          </a:xfrm>
          <a:prstGeom prst="roundRect">
            <a:avLst>
              <a:gd name="adj" fmla="val 2727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pic>
        <p:nvPicPr>
          <p:cNvPr id="6" name="Barra lateral · pelota" descr="Pelota del logo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57400"/>
            <a:ext cx="310896" cy="310896"/>
          </a:xfrm>
          <a:prstGeom prst="rect">
            <a:avLst/>
          </a:prstGeom>
        </p:spPr>
      </p:pic>
      <p:sp>
        <p:nvSpPr>
          <p:cNvPr id="7" name="Barra lateral · nombre"/>
          <p:cNvSpPr txBox="1"/>
          <p:nvPr/>
        </p:nvSpPr>
        <p:spPr>
          <a:xfrm>
            <a:off x="1262969" y="2026310"/>
            <a:ext cx="93268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Pali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249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7249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Cobros</a:t>
            </a:r>
            <a:endParaRPr lang="en-US" sz="1300" dirty="0"/>
          </a:p>
        </p:txBody>
      </p:sp>
      <p:sp>
        <p:nvSpPr>
          <p:cNvPr id="10" name="Ítem activo"/>
          <p:cNvSpPr/>
          <p:nvPr/>
        </p:nvSpPr>
        <p:spPr>
          <a:xfrm>
            <a:off x="777240" y="3154680"/>
            <a:ext cx="1737360" cy="384048"/>
          </a:xfrm>
          <a:prstGeom prst="roundRect">
            <a:avLst>
              <a:gd name="adj" fmla="val 16667"/>
            </a:avLst>
          </a:prstGeom>
          <a:solidFill>
            <a:srgbClr val="A9D6C4"/>
          </a:solidFill>
          <a:ln w="12700">
            <a:solidFill>
              <a:srgbClr val="A9D6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31821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1821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6393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6393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0965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0965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5537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5537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Configuración</a:t>
            </a:r>
            <a:endParaRPr lang="en-US" sz="1300" dirty="0"/>
          </a:p>
        </p:txBody>
      </p:sp>
      <p:sp>
        <p:nvSpPr>
          <p:cNvPr id="19" name="Encabezado de página"/>
          <p:cNvSpPr/>
          <p:nvPr/>
        </p:nvSpPr>
        <p:spPr>
          <a:xfrm>
            <a:off x="2880360" y="2057400"/>
            <a:ext cx="5212080" cy="1051560"/>
          </a:xfrm>
          <a:prstGeom prst="roundRect">
            <a:avLst>
              <a:gd name="adj" fmla="val 12174"/>
            </a:avLst>
          </a:prstGeom>
          <a:solidFill>
            <a:srgbClr val="DFEEE6"/>
          </a:solidFill>
          <a:ln w="12700">
            <a:solidFill>
              <a:srgbClr val="DFEE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15468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BACKOFFICE · AGENDA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154680" y="2468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Reservá un turno en </a:t>
            </a:r>
            <a:pPr indent="0" marL="0">
              <a:buNone/>
            </a:pPr>
            <a:r>
              <a:rPr lang="en-US" sz="2400" b="1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clics</a:t>
            </a:r>
            <a:endParaRPr lang="en-US" sz="2400" dirty="0"/>
          </a:p>
        </p:txBody>
      </p:sp>
      <p:sp>
        <p:nvSpPr>
          <p:cNvPr id="22" name="Turno Libre"/>
          <p:cNvSpPr/>
          <p:nvPr/>
        </p:nvSpPr>
        <p:spPr>
          <a:xfrm>
            <a:off x="2880360" y="33832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CAD6CF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301752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354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LIBRE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01752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de 4 personas</a:t>
            </a:r>
            <a:endParaRPr lang="en-US" sz="1200" dirty="0"/>
          </a:p>
        </p:txBody>
      </p:sp>
      <p:sp>
        <p:nvSpPr>
          <p:cNvPr id="25" name="Turno Reservado"/>
          <p:cNvSpPr/>
          <p:nvPr/>
        </p:nvSpPr>
        <p:spPr>
          <a:xfrm>
            <a:off x="4663440" y="33832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E8F4EE"/>
          </a:solidFill>
          <a:ln w="15875">
            <a:solidFill>
              <a:srgbClr val="BCDCC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0060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RESERVADO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48006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6F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de 4 personas</a:t>
            </a:r>
            <a:endParaRPr lang="en-US" sz="1200" dirty="0"/>
          </a:p>
        </p:txBody>
      </p:sp>
      <p:sp>
        <p:nvSpPr>
          <p:cNvPr id="28" name="Turno Completo"/>
          <p:cNvSpPr/>
          <p:nvPr/>
        </p:nvSpPr>
        <p:spPr>
          <a:xfrm>
            <a:off x="6446520" y="33832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D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de 4 personas</a:t>
            </a:r>
            <a:endParaRPr lang="en-US" sz="1200" dirty="0"/>
          </a:p>
        </p:txBody>
      </p:sp>
      <p:sp>
        <p:nvSpPr>
          <p:cNvPr id="31" name="Botón Reservar"/>
          <p:cNvSpPr/>
          <p:nvPr/>
        </p:nvSpPr>
        <p:spPr>
          <a:xfrm>
            <a:off x="2880360" y="47091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F6F57"/>
          </a:solidFill>
          <a:ln w="12700">
            <a:solidFill>
              <a:srgbClr val="1F6F5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880360" y="4709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Reservar</a:t>
            </a:r>
            <a:endParaRPr lang="en-US" sz="1100" dirty="0"/>
          </a:p>
        </p:txBody>
      </p:sp>
      <p:sp>
        <p:nvSpPr>
          <p:cNvPr id="33" name="Botón Aceptar"/>
          <p:cNvSpPr/>
          <p:nvPr/>
        </p:nvSpPr>
        <p:spPr>
          <a:xfrm>
            <a:off x="4206240" y="47091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206240" y="4709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Aceptar</a:t>
            </a:r>
            <a:endParaRPr lang="en-US" sz="1100" dirty="0"/>
          </a:p>
        </p:txBody>
      </p:sp>
      <p:sp>
        <p:nvSpPr>
          <p:cNvPr id="35" name="Botón Cancelar"/>
          <p:cNvSpPr/>
          <p:nvPr/>
        </p:nvSpPr>
        <p:spPr>
          <a:xfrm>
            <a:off x="5532120" y="47091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AD6C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532120" y="4709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Cancelar</a:t>
            </a:r>
            <a:endParaRPr lang="en-US" sz="1100" dirty="0"/>
          </a:p>
        </p:txBody>
      </p:sp>
      <p:sp>
        <p:nvSpPr>
          <p:cNvPr id="37" name="Botón Cancelar turno"/>
          <p:cNvSpPr/>
          <p:nvPr/>
        </p:nvSpPr>
        <p:spPr>
          <a:xfrm>
            <a:off x="6858000" y="47091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DEEEA"/>
          </a:solidFill>
          <a:ln w="9525">
            <a:solidFill>
              <a:srgbClr val="F4B9A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0" y="4709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5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Cancelar turno</a:t>
            </a:r>
            <a:endParaRPr lang="en-US" sz="1100" dirty="0"/>
          </a:p>
        </p:txBody>
      </p:sp>
      <p:sp>
        <p:nvSpPr>
          <p:cNvPr id="39" name="Filete"/>
          <p:cNvSpPr/>
          <p:nvPr/>
        </p:nvSpPr>
        <p:spPr>
          <a:xfrm>
            <a:off x="8778240" y="1783080"/>
            <a:ext cx="2770632" cy="0"/>
          </a:xfrm>
          <a:prstGeom prst="line">
            <a:avLst/>
          </a:prstGeom>
          <a:noFill/>
          <a:ln w="15875">
            <a:solidFill>
              <a:srgbClr val="0D1F1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78240" y="18928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932688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 en oscuro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932688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la barra lateral verde bosque.</a:t>
            </a:r>
            <a:endParaRPr lang="en-US" sz="1200" dirty="0"/>
          </a:p>
        </p:txBody>
      </p:sp>
      <p:sp>
        <p:nvSpPr>
          <p:cNvPr id="43" name="Filete"/>
          <p:cNvSpPr/>
          <p:nvPr/>
        </p:nvSpPr>
        <p:spPr>
          <a:xfrm>
            <a:off x="8778240" y="2880360"/>
            <a:ext cx="277063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78240" y="2990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932688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 de marca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932688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en la acción principal. Un botón primario por vista.</a:t>
            </a:r>
            <a:endParaRPr lang="en-US" sz="1200" dirty="0"/>
          </a:p>
        </p:txBody>
      </p:sp>
      <p:sp>
        <p:nvSpPr>
          <p:cNvPr id="47" name="Filete"/>
          <p:cNvSpPr/>
          <p:nvPr/>
        </p:nvSpPr>
        <p:spPr>
          <a:xfrm>
            <a:off x="8778240" y="3977640"/>
            <a:ext cx="277063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778240" y="40873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32688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Coral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9326880" y="4389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Aparece únicamente al cancelar.</a:t>
            </a:r>
            <a:endParaRPr lang="en-US" sz="1200" dirty="0"/>
          </a:p>
        </p:txBody>
      </p:sp>
      <p:sp>
        <p:nvSpPr>
          <p:cNvPr id="51" name="Filete"/>
          <p:cNvSpPr/>
          <p:nvPr/>
        </p:nvSpPr>
        <p:spPr>
          <a:xfrm>
            <a:off x="8778240" y="5074920"/>
            <a:ext cx="2770632" cy="0"/>
          </a:xfrm>
          <a:prstGeom prst="line">
            <a:avLst/>
          </a:prstGeom>
          <a:noFill/>
          <a:ln w="9525">
            <a:solidFill>
              <a:srgbClr val="E2EAE5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78240" y="5184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932688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Estados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9326880" y="5486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54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Nombre escrito más relleno o borde distinto.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37376"/>
            <a:ext cx="85039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B7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elota" descr="Pelota de Pa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6517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Recursos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próximos pasos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172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PALI — MANUAL DE MARCA · VERSIÓN 1.0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868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DÓNDE ESTÁ TODO</a:t>
            </a:r>
            <a:endParaRPr lang="en-US" sz="1000" dirty="0"/>
          </a:p>
        </p:txBody>
      </p:sp>
      <p:sp>
        <p:nvSpPr>
          <p:cNvPr id="6" name="Filete"/>
          <p:cNvSpPr/>
          <p:nvPr/>
        </p:nvSpPr>
        <p:spPr>
          <a:xfrm>
            <a:off x="6035040" y="1188720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0" y="12984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Diseño/logo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Ícono y logo completo en SVG: claro, oscuro, negro y blanco.</a:t>
            </a:r>
            <a:endParaRPr lang="en-US" sz="1300" dirty="0"/>
          </a:p>
        </p:txBody>
      </p:sp>
      <p:sp>
        <p:nvSpPr>
          <p:cNvPr id="9" name="Filete"/>
          <p:cNvSpPr/>
          <p:nvPr/>
        </p:nvSpPr>
        <p:spPr>
          <a:xfrm>
            <a:off x="6035040" y="1965960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0756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mockup/css/tokens.css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Colores, tipografía y espaciado como variables.</a:t>
            </a:r>
            <a:endParaRPr lang="en-US" sz="1300" dirty="0"/>
          </a:p>
        </p:txBody>
      </p:sp>
      <p:sp>
        <p:nvSpPr>
          <p:cNvPr id="12" name="Filete"/>
          <p:cNvSpPr/>
          <p:nvPr/>
        </p:nvSpPr>
        <p:spPr>
          <a:xfrm>
            <a:off x="6035040" y="2743200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2852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Diseño/DESIGN-SYSTEM.md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Componentes, patrones y reglas de pantalla.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DEFINIR</a:t>
            </a:r>
            <a:endParaRPr lang="en-US" sz="1000" dirty="0"/>
          </a:p>
        </p:txBody>
      </p:sp>
      <p:sp>
        <p:nvSpPr>
          <p:cNvPr id="16" name="Filete"/>
          <p:cNvSpPr/>
          <p:nvPr/>
        </p:nvSpPr>
        <p:spPr>
          <a:xfrm>
            <a:off x="6035040" y="4160520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42428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 el logo claro (pelota verde) y las medidas de respeto y tamaño mínimo.</a:t>
            </a:r>
            <a:endParaRPr lang="en-US" sz="1300" dirty="0"/>
          </a:p>
        </p:txBody>
      </p:sp>
      <p:sp>
        <p:nvSpPr>
          <p:cNvPr id="19" name="Filete"/>
          <p:cNvSpPr/>
          <p:nvPr/>
        </p:nvSpPr>
        <p:spPr>
          <a:xfrm>
            <a:off x="6035040" y="4690872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350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47731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Corregir el contraste del gris de apoyo y del coral.</a:t>
            </a:r>
            <a:endParaRPr lang="en-US" sz="1300" dirty="0"/>
          </a:p>
        </p:txBody>
      </p:sp>
      <p:sp>
        <p:nvSpPr>
          <p:cNvPr id="22" name="Filete"/>
          <p:cNvSpPr/>
          <p:nvPr/>
        </p:nvSpPr>
        <p:spPr>
          <a:xfrm>
            <a:off x="6035040" y="5221224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5376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5303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Versión impresa (CMYK) y uso en redes.</a:t>
            </a:r>
            <a:endParaRPr lang="en-US" sz="1300" dirty="0"/>
          </a:p>
        </p:txBody>
      </p:sp>
      <p:sp>
        <p:nvSpPr>
          <p:cNvPr id="25" name="Filete"/>
          <p:cNvSpPr/>
          <p:nvPr/>
        </p:nvSpPr>
        <p:spPr>
          <a:xfrm>
            <a:off x="6035040" y="5751576"/>
            <a:ext cx="5513832" cy="0"/>
          </a:xfrm>
          <a:prstGeom prst="line">
            <a:avLst/>
          </a:prstGeom>
          <a:noFill/>
          <a:ln w="9525">
            <a:solidFill>
              <a:srgbClr val="34503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35040" y="59070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D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0" y="58338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Identidad del club en el backoffice y logo para otros deportes.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li">
  <a:themeElements>
    <a:clrScheme name="Pali">
      <a:dk1>
        <a:srgbClr val="0D1F18"/>
      </a:dk1>
      <a:lt1>
        <a:srgbClr val="FFFFFF"/>
      </a:lt1>
      <a:dk2>
        <a:srgbClr val="0F3D2E"/>
      </a:dk2>
      <a:lt2>
        <a:srgbClr val="F5F8F6"/>
      </a:lt2>
      <a:accent1>
        <a:srgbClr val="1F6F57"/>
      </a:accent1>
      <a:accent2>
        <a:srgbClr val="A9D6C4"/>
      </a:accent2>
      <a:accent3>
        <a:srgbClr val="DFEEE6"/>
      </a:accent3>
      <a:accent4>
        <a:srgbClr val="E5533D"/>
      </a:accent4>
      <a:accent5>
        <a:srgbClr val="43544D"/>
      </a:accent5>
      <a:accent6>
        <a:srgbClr val="6A7B74"/>
      </a:accent6>
      <a:hlink>
        <a:srgbClr val="1F6F57"/>
      </a:hlink>
      <a:folHlink>
        <a:srgbClr val="43544D"/>
      </a:folHlink>
    </a:clrScheme>
    <a:fontScheme name="Pali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Pali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marca · Pali</dc:title>
  <dc:subject>PptxGenJS Presentation</dc:subject>
  <dc:creator>Pali</dc:creator>
  <cp:lastModifiedBy>Pali</cp:lastModifiedBy>
  <cp:revision>1</cp:revision>
  <dcterms:created xsi:type="dcterms:W3CDTF">2026-10-11T01:32:37Z</dcterms:created>
  <dcterms:modified xsi:type="dcterms:W3CDTF">2026-10-11T01:32:37Z</dcterms:modified>
</cp:coreProperties>
</file>