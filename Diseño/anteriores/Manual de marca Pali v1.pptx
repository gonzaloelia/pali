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arca" id="{09a5d030-b53a-73df-b258-3b4a07431d33}">
          <p14:sldIdLst>
            <p14:sldId id="256"/>
            <p14:sldId id="257"/>
            <p14:sldId id="258"/>
          </p14:sldIdLst>
        </p14:section>
        <p14:section name="Logo" id="{593f7347-79f1-b2a3-7b1b-86be185d3ceb}">
          <p14:sldIdLst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Color" id="{56d2e93e-6363-d019-83e0-df900843f4f2}">
          <p14:sldIdLst>
            <p14:sldId id="265"/>
            <p14:sldId id="266"/>
            <p14:sldId id="267"/>
            <p14:sldId id="268"/>
            <p14:sldId id="269"/>
            <p14:sldId id="270"/>
          </p14:sldIdLst>
        </p14:section>
        <p14:section name="Tipografía" id="{11e55ba4-e7ed-151a-4c00-53af08a12406}">
          <p14:sldIdLst>
            <p14:sldId id="271"/>
            <p14:sldId id="272"/>
          </p14:sldIdLst>
        </p14:section>
        <p14:section name="Forma y voz" id="{4396574d-23ee-88ac-0ae9-641dff630a9e}">
          <p14:sldIdLst>
            <p14:sldId id="273"/>
            <p14:sldId id="274"/>
            <p14:sldId id="275"/>
          </p14:sldIdLst>
        </p14:section>
        <p14:section name="Cierre" id="{34049fe5-005a-0bfe-380b-b1bfb09fb2ee}">
          <p14:sldIdLst>
            <p14:sldId id="27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48840"/>
            <a:ext cx="5852160" cy="2103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TOP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731520"/>
            <a:ext cx="105156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B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Pali · Manual de marca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A7B74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A7B74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1.png"/><Relationship Id="rId4" Type="http://schemas.openxmlformats.org/officeDocument/2006/relationships/image" Target="../media/image-8-2.png"/><Relationship Id="rId5" Type="http://schemas.openxmlformats.org/officeDocument/2006/relationships/image" Target="../media/image-8-1.png"/><Relationship Id="rId6" Type="http://schemas.openxmlformats.org/officeDocument/2006/relationships/image" Target="../media/image-8-1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4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ortada · pelota" descr="Pelota del logo de Pal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685800"/>
            <a:ext cx="502920" cy="502920"/>
          </a:xfrm>
          <a:prstGeom prst="rect">
            <a:avLst/>
          </a:prstGeom>
        </p:spPr>
      </p:pic>
      <p:sp>
        <p:nvSpPr>
          <p:cNvPr id="3" name="Portada · nombre"/>
          <p:cNvSpPr txBox="1"/>
          <p:nvPr/>
        </p:nvSpPr>
        <p:spPr>
          <a:xfrm>
            <a:off x="1324966" y="635508"/>
            <a:ext cx="1508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Pali</a:t>
            </a:r>
            <a:endParaRPr lang="en-US" sz="34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731520" y="2148840"/>
            <a:ext cx="5852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Manual de marca</a:t>
            </a:r>
            <a:endParaRPr lang="en-US" sz="54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443484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A9D6C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Backoffice y chatbot de WhatsApp para alquilar canchas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608076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D6C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Versión 1.0 · Octubre 2026 · Borrador para validar</a:t>
            </a:r>
            <a:endParaRPr lang="en-US" sz="1200" dirty="0"/>
          </a:p>
        </p:txBody>
      </p:sp>
      <p:pic>
        <p:nvPicPr>
          <p:cNvPr id="7" name="Pelota grande" descr="Pelota de la marca Pali, ilustración grand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1005840"/>
            <a:ext cx="475488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 · LA MARCA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Qué es Pali y </a:t>
            </a:r>
            <a:pPr algn="l" indent="0" marL="0">
              <a:buNone/>
            </a:pPr>
            <a:r>
              <a:rPr lang="en-US" sz="3200" b="1" dirty="0">
                <a:solidFill>
                  <a:srgbClr val="1F6F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cómo se siente</a:t>
            </a:r>
            <a:endParaRPr lang="en-US" sz="3200" dirty="0"/>
          </a:p>
        </p:txBody>
      </p:sp>
      <p:sp>
        <p:nvSpPr>
          <p:cNvPr id="4" name="Tarjeta Qué es"/>
          <p:cNvSpPr/>
          <p:nvPr/>
        </p:nvSpPr>
        <p:spPr>
          <a:xfrm>
            <a:off x="548640" y="1691640"/>
            <a:ext cx="3566160" cy="4023360"/>
          </a:xfrm>
          <a:prstGeom prst="roundRect">
            <a:avLst>
              <a:gd name="adj" fmla="val 3077"/>
            </a:avLst>
          </a:prstGeom>
          <a:solidFill>
            <a:srgbClr val="F5F8F6"/>
          </a:solidFill>
          <a:ln w="12700">
            <a:solidFill>
              <a:srgbClr val="E2EAE5"/>
            </a:solidFill>
            <a:prstDash val="solid"/>
          </a:ln>
        </p:spPr>
      </p:sp>
      <p:sp>
        <p:nvSpPr>
          <p:cNvPr id="5" name="Círculo 01"/>
          <p:cNvSpPr/>
          <p:nvPr/>
        </p:nvSpPr>
        <p:spPr>
          <a:xfrm>
            <a:off x="868680" y="2011680"/>
            <a:ext cx="685800" cy="685800"/>
          </a:xfrm>
          <a:prstGeom prst="ellipse">
            <a:avLst/>
          </a:prstGeom>
          <a:solidFill>
            <a:srgbClr val="E8F4EE"/>
          </a:solidFill>
          <a:ln w="12700">
            <a:solidFill>
              <a:srgbClr val="E8F4E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011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0175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Qué es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611880"/>
            <a:ext cx="2926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 backoffice para que los clubes administren sus canchas y un chatbot de WhatsApp para que los jugadores las alquilen.</a:t>
            </a:r>
            <a:endParaRPr lang="en-US" sz="1600" dirty="0"/>
          </a:p>
        </p:txBody>
      </p:sp>
      <p:sp>
        <p:nvSpPr>
          <p:cNvPr id="9" name="Tarjeta Para quién"/>
          <p:cNvSpPr/>
          <p:nvPr/>
        </p:nvSpPr>
        <p:spPr>
          <a:xfrm>
            <a:off x="4297680" y="1691640"/>
            <a:ext cx="3566160" cy="4023360"/>
          </a:xfrm>
          <a:prstGeom prst="roundRect">
            <a:avLst>
              <a:gd name="adj" fmla="val 3077"/>
            </a:avLst>
          </a:prstGeom>
          <a:solidFill>
            <a:srgbClr val="F5F8F6"/>
          </a:solidFill>
          <a:ln w="12700">
            <a:solidFill>
              <a:srgbClr val="E2EAE5"/>
            </a:solidFill>
            <a:prstDash val="solid"/>
          </a:ln>
        </p:spPr>
      </p:sp>
      <p:sp>
        <p:nvSpPr>
          <p:cNvPr id="10" name="Círculo 02"/>
          <p:cNvSpPr/>
          <p:nvPr/>
        </p:nvSpPr>
        <p:spPr>
          <a:xfrm>
            <a:off x="4617720" y="2011680"/>
            <a:ext cx="685800" cy="685800"/>
          </a:xfrm>
          <a:prstGeom prst="ellipse">
            <a:avLst/>
          </a:prstGeom>
          <a:solidFill>
            <a:srgbClr val="E8F4EE"/>
          </a:solidFill>
          <a:ln w="12700">
            <a:solidFill>
              <a:srgbClr val="E8F4E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17720" y="2011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30175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Para quién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3611880"/>
            <a:ext cx="2926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Para administradores de clubes que hoy anotan todo a mano. Arranca con paddle y está pensado para sumar otros deportes y clubes.</a:t>
            </a:r>
            <a:endParaRPr lang="en-US" sz="1600" dirty="0"/>
          </a:p>
        </p:txBody>
      </p:sp>
      <p:sp>
        <p:nvSpPr>
          <p:cNvPr id="14" name="Tarjeta Cómo se siente"/>
          <p:cNvSpPr/>
          <p:nvPr/>
        </p:nvSpPr>
        <p:spPr>
          <a:xfrm>
            <a:off x="8046720" y="1691640"/>
            <a:ext cx="3566160" cy="4023360"/>
          </a:xfrm>
          <a:prstGeom prst="roundRect">
            <a:avLst>
              <a:gd name="adj" fmla="val 3077"/>
            </a:avLst>
          </a:prstGeom>
          <a:solidFill>
            <a:srgbClr val="F5F8F6"/>
          </a:solidFill>
          <a:ln w="12700">
            <a:solidFill>
              <a:srgbClr val="E2EAE5"/>
            </a:solidFill>
            <a:prstDash val="solid"/>
          </a:ln>
        </p:spPr>
      </p:sp>
      <p:sp>
        <p:nvSpPr>
          <p:cNvPr id="15" name="Círculo 03"/>
          <p:cNvSpPr/>
          <p:nvPr/>
        </p:nvSpPr>
        <p:spPr>
          <a:xfrm>
            <a:off x="8366760" y="2011680"/>
            <a:ext cx="685800" cy="685800"/>
          </a:xfrm>
          <a:prstGeom prst="ellipse">
            <a:avLst/>
          </a:prstGeom>
          <a:solidFill>
            <a:srgbClr val="0F3D2E"/>
          </a:solidFill>
          <a:ln w="12700">
            <a:solidFill>
              <a:srgbClr val="0F3D2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66760" y="2011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9D6C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366760" y="30175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Cómo se siente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8366760" y="3611880"/>
            <a:ext cx="2926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Rápida y clara: pocos clics, superficies blancas para trabajar y un verde con carácter que remite al tenis y al paddle.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A7B74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 · LA MARCA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Ocho principios </a:t>
            </a:r>
            <a:pPr algn="l" indent="0" marL="0">
              <a:buNone/>
            </a:pPr>
            <a:r>
              <a:rPr lang="en-US" sz="3200" b="1" dirty="0">
                <a:solidFill>
                  <a:srgbClr val="1F6F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 diseño</a:t>
            </a:r>
            <a:endParaRPr lang="en-US" sz="3200" dirty="0"/>
          </a:p>
        </p:txBody>
      </p:sp>
      <p:sp>
        <p:nvSpPr>
          <p:cNvPr id="4" name="Principio 1"/>
          <p:cNvSpPr/>
          <p:nvPr/>
        </p:nvSpPr>
        <p:spPr>
          <a:xfrm>
            <a:off x="548640" y="1691640"/>
            <a:ext cx="2651760" cy="2103120"/>
          </a:xfrm>
          <a:prstGeom prst="roundRect">
            <a:avLst>
              <a:gd name="adj" fmla="val 4348"/>
            </a:avLst>
          </a:prstGeom>
          <a:solidFill>
            <a:srgbClr val="F5F8F6"/>
          </a:solidFill>
          <a:ln w="12700">
            <a:solidFill>
              <a:srgbClr val="E2EA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8928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2402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Pocos clics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88036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Reservar un turno debe costar menos que anotarlo a mano.</a:t>
            </a:r>
            <a:endParaRPr lang="en-US" sz="1400" dirty="0"/>
          </a:p>
        </p:txBody>
      </p:sp>
      <p:sp>
        <p:nvSpPr>
          <p:cNvPr id="8" name="Principio 2"/>
          <p:cNvSpPr/>
          <p:nvPr/>
        </p:nvSpPr>
        <p:spPr>
          <a:xfrm>
            <a:off x="3355848" y="1691640"/>
            <a:ext cx="2651760" cy="2103120"/>
          </a:xfrm>
          <a:prstGeom prst="roundRect">
            <a:avLst>
              <a:gd name="adj" fmla="val 4348"/>
            </a:avLst>
          </a:prstGeom>
          <a:solidFill>
            <a:srgbClr val="F5F8F6"/>
          </a:solidFill>
          <a:ln w="12700">
            <a:solidFill>
              <a:srgbClr val="E2EA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84448" y="18928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584448" y="22402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Verde con carácter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584448" y="288036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 verde ancla la interfaz y marca la acción.</a:t>
            </a:r>
            <a:endParaRPr lang="en-US" sz="1400" dirty="0"/>
          </a:p>
        </p:txBody>
      </p:sp>
      <p:sp>
        <p:nvSpPr>
          <p:cNvPr id="12" name="Principio 3"/>
          <p:cNvSpPr/>
          <p:nvPr/>
        </p:nvSpPr>
        <p:spPr>
          <a:xfrm>
            <a:off x="6163056" y="1691640"/>
            <a:ext cx="2651760" cy="2103120"/>
          </a:xfrm>
          <a:prstGeom prst="roundRect">
            <a:avLst>
              <a:gd name="adj" fmla="val 4348"/>
            </a:avLst>
          </a:prstGeom>
          <a:solidFill>
            <a:srgbClr val="F5F8F6"/>
          </a:solidFill>
          <a:ln w="12700">
            <a:solidFill>
              <a:srgbClr val="E2EAE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91656" y="18928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391656" y="22402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Blanco para trabajar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391656" y="288036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Agenda, tablas y formularios van sobre blanco.</a:t>
            </a:r>
            <a:endParaRPr lang="en-US" sz="1400" dirty="0"/>
          </a:p>
        </p:txBody>
      </p:sp>
      <p:sp>
        <p:nvSpPr>
          <p:cNvPr id="16" name="Principio 4"/>
          <p:cNvSpPr/>
          <p:nvPr/>
        </p:nvSpPr>
        <p:spPr>
          <a:xfrm>
            <a:off x="8970264" y="1691640"/>
            <a:ext cx="2651760" cy="2103120"/>
          </a:xfrm>
          <a:prstGeom prst="roundRect">
            <a:avLst>
              <a:gd name="adj" fmla="val 4348"/>
            </a:avLst>
          </a:prstGeom>
          <a:solidFill>
            <a:srgbClr val="F5F8F6"/>
          </a:solidFill>
          <a:ln w="12700">
            <a:solidFill>
              <a:srgbClr val="E2EAE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98864" y="18928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9198864" y="22402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 negro es el texto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9198864" y="288036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 negro verdoso para texto y énfasis.</a:t>
            </a:r>
            <a:endParaRPr lang="en-US" sz="1400" dirty="0"/>
          </a:p>
        </p:txBody>
      </p:sp>
      <p:sp>
        <p:nvSpPr>
          <p:cNvPr id="20" name="Principio 5"/>
          <p:cNvSpPr/>
          <p:nvPr/>
        </p:nvSpPr>
        <p:spPr>
          <a:xfrm>
            <a:off x="548640" y="3977640"/>
            <a:ext cx="2651760" cy="2103120"/>
          </a:xfrm>
          <a:prstGeom prst="roundRect">
            <a:avLst>
              <a:gd name="adj" fmla="val 4348"/>
            </a:avLst>
          </a:prstGeom>
          <a:solidFill>
            <a:srgbClr val="FDEEEA"/>
          </a:solidFill>
          <a:ln w="12700">
            <a:solidFill>
              <a:srgbClr val="F4B9A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41788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5533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45262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 coral solo cancela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516636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 el único color cálido y solo para acciones destructivas.</a:t>
            </a:r>
            <a:endParaRPr lang="en-US" sz="1400" dirty="0"/>
          </a:p>
        </p:txBody>
      </p:sp>
      <p:sp>
        <p:nvSpPr>
          <p:cNvPr id="24" name="Principio 6"/>
          <p:cNvSpPr/>
          <p:nvPr/>
        </p:nvSpPr>
        <p:spPr>
          <a:xfrm>
            <a:off x="3355848" y="3977640"/>
            <a:ext cx="2651760" cy="2103120"/>
          </a:xfrm>
          <a:prstGeom prst="roundRect">
            <a:avLst>
              <a:gd name="adj" fmla="val 4348"/>
            </a:avLst>
          </a:prstGeom>
          <a:solidFill>
            <a:srgbClr val="F5F8F6"/>
          </a:solidFill>
          <a:ln w="12700">
            <a:solidFill>
              <a:srgbClr val="E2EAE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584448" y="41788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3584448" y="45262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Datos en mono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3584448" y="516636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Horarios, importes y teléfonos se alinean y se leen rápido.</a:t>
            </a:r>
            <a:endParaRPr lang="en-US" sz="1400" dirty="0"/>
          </a:p>
        </p:txBody>
      </p:sp>
      <p:sp>
        <p:nvSpPr>
          <p:cNvPr id="28" name="Principio 7"/>
          <p:cNvSpPr/>
          <p:nvPr/>
        </p:nvSpPr>
        <p:spPr>
          <a:xfrm>
            <a:off x="6163056" y="3977640"/>
            <a:ext cx="2651760" cy="2103120"/>
          </a:xfrm>
          <a:prstGeom prst="roundRect">
            <a:avLst>
              <a:gd name="adj" fmla="val 4348"/>
            </a:avLst>
          </a:prstGeom>
          <a:solidFill>
            <a:srgbClr val="F5F8F6"/>
          </a:solidFill>
          <a:ln w="12700">
            <a:solidFill>
              <a:srgbClr val="E2EAE5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391656" y="41788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391656" y="45262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Obligatorio se marca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6391656" y="516636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Asterisco verde en lo obligatorio; lo opcional no lleva nada.</a:t>
            </a:r>
            <a:endParaRPr lang="en-US" sz="1400" dirty="0"/>
          </a:p>
        </p:txBody>
      </p:sp>
      <p:sp>
        <p:nvSpPr>
          <p:cNvPr id="32" name="Principio 8"/>
          <p:cNvSpPr/>
          <p:nvPr/>
        </p:nvSpPr>
        <p:spPr>
          <a:xfrm>
            <a:off x="8970264" y="3977640"/>
            <a:ext cx="2651760" cy="2103120"/>
          </a:xfrm>
          <a:prstGeom prst="roundRect">
            <a:avLst>
              <a:gd name="adj" fmla="val 4348"/>
            </a:avLst>
          </a:prstGeom>
          <a:solidFill>
            <a:srgbClr val="F5F8F6"/>
          </a:solidFill>
          <a:ln w="12700">
            <a:solidFill>
              <a:srgbClr val="E2EAE5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198864" y="41788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9198864" y="45262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Números de un vistazo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9198864" y="516636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Cifras alineadas y siempre con su variación.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A7B74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 · LOGO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 logo: </a:t>
            </a:r>
            <a:pPr algn="l" indent="0" marL="0">
              <a:buNone/>
            </a:pPr>
            <a:r>
              <a:rPr lang="en-US" sz="3200" b="1" dirty="0">
                <a:solidFill>
                  <a:srgbClr val="1F6F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pelota y nombre</a:t>
            </a:r>
            <a:endParaRPr lang="en-US" sz="3200" dirty="0"/>
          </a:p>
        </p:txBody>
      </p:sp>
      <p:sp>
        <p:nvSpPr>
          <p:cNvPr id="4" name="Panel logo"/>
          <p:cNvSpPr/>
          <p:nvPr/>
        </p:nvSpPr>
        <p:spPr>
          <a:xfrm>
            <a:off x="548640" y="1691640"/>
            <a:ext cx="6309360" cy="429768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CAD6CF"/>
            </a:solidFill>
            <a:prstDash val="solid"/>
          </a:ln>
        </p:spPr>
      </p:sp>
      <p:pic>
        <p:nvPicPr>
          <p:cNvPr id="5" name="Logo claro · pelota" descr="Pelota del logo de Pal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2880360"/>
            <a:ext cx="1737360" cy="1737360"/>
          </a:xfrm>
          <a:prstGeom prst="rect">
            <a:avLst/>
          </a:prstGeom>
        </p:spPr>
      </p:pic>
      <p:sp>
        <p:nvSpPr>
          <p:cNvPr id="6" name="Logo claro · nombre"/>
          <p:cNvSpPr txBox="1"/>
          <p:nvPr/>
        </p:nvSpPr>
        <p:spPr>
          <a:xfrm>
            <a:off x="3284525" y="2706624"/>
            <a:ext cx="5212080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0" b="1" spc="-100" kern="0" dirty="0">
                <a:solidFill>
                  <a:srgbClr val="0F3D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Pali</a:t>
            </a:r>
            <a:endParaRPr lang="en-US" sz="11800" dirty="0"/>
          </a:p>
        </p:txBody>
      </p:sp>
      <p:sp>
        <p:nvSpPr>
          <p:cNvPr id="7" name="Marcador 1"/>
          <p:cNvSpPr/>
          <p:nvPr/>
        </p:nvSpPr>
        <p:spPr>
          <a:xfrm>
            <a:off x="1005840" y="2331720"/>
            <a:ext cx="365760" cy="365760"/>
          </a:xfrm>
          <a:prstGeom prst="ellipse">
            <a:avLst/>
          </a:prstGeom>
          <a:solidFill>
            <a:srgbClr val="0F3D2E"/>
          </a:solidFill>
          <a:ln w="12700">
            <a:solidFill>
              <a:srgbClr val="0F3D2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005840" y="2331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Marcador 2"/>
          <p:cNvSpPr/>
          <p:nvPr/>
        </p:nvSpPr>
        <p:spPr>
          <a:xfrm>
            <a:off x="3611880" y="2331720"/>
            <a:ext cx="365760" cy="365760"/>
          </a:xfrm>
          <a:prstGeom prst="ellipse">
            <a:avLst/>
          </a:prstGeom>
          <a:solidFill>
            <a:srgbClr val="0F3D2E"/>
          </a:solidFill>
          <a:ln w="12700">
            <a:solidFill>
              <a:srgbClr val="0F3D2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611880" y="2331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005840" y="5257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A7B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Logo completo = pelota + nombre</a:t>
            </a:r>
            <a:endParaRPr lang="en-US" sz="1200" dirty="0"/>
          </a:p>
        </p:txBody>
      </p:sp>
      <p:sp>
        <p:nvSpPr>
          <p:cNvPr id="12" name="Número 1"/>
          <p:cNvSpPr/>
          <p:nvPr/>
        </p:nvSpPr>
        <p:spPr>
          <a:xfrm>
            <a:off x="7315200" y="1691640"/>
            <a:ext cx="411480" cy="411480"/>
          </a:xfrm>
          <a:prstGeom prst="ellipse">
            <a:avLst/>
          </a:prstGeom>
          <a:solidFill>
            <a:srgbClr val="0F3D2E"/>
          </a:solidFill>
          <a:ln w="12700">
            <a:solidFill>
              <a:srgbClr val="0F3D2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315200" y="1691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7955280" y="167335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 pelota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7955280" y="214884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 círculo con la costura de una pelota de tenis y paddle. Identifica a Pali, sobre todo en tamaños chicos.</a:t>
            </a:r>
            <a:endParaRPr lang="en-US" sz="1400" dirty="0"/>
          </a:p>
        </p:txBody>
      </p:sp>
      <p:sp>
        <p:nvSpPr>
          <p:cNvPr id="16" name="Número 2"/>
          <p:cNvSpPr/>
          <p:nvPr/>
        </p:nvSpPr>
        <p:spPr>
          <a:xfrm>
            <a:off x="7315200" y="3520440"/>
            <a:ext cx="411480" cy="411480"/>
          </a:xfrm>
          <a:prstGeom prst="ellipse">
            <a:avLst/>
          </a:prstGeom>
          <a:solidFill>
            <a:srgbClr val="0F3D2E"/>
          </a:solidFill>
          <a:ln w="12700">
            <a:solidFill>
              <a:srgbClr val="0F3D2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315200" y="3520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7955280" y="350215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 nombre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7955280" y="397764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“Pali” en IBM Plex Sans semibold, con el espaciado ajustado en −2 %. La P va en mayúscula y el resto en minúscula.</a:t>
            </a:r>
            <a:endParaRPr lang="en-US" sz="1400" dirty="0"/>
          </a:p>
        </p:txBody>
      </p:sp>
      <p:sp>
        <p:nvSpPr>
          <p:cNvPr id="20" name="Nota separar"/>
          <p:cNvSpPr/>
          <p:nvPr/>
        </p:nvSpPr>
        <p:spPr>
          <a:xfrm>
            <a:off x="7315200" y="5120640"/>
            <a:ext cx="4297680" cy="868680"/>
          </a:xfrm>
          <a:prstGeom prst="roundRect">
            <a:avLst>
              <a:gd name="adj" fmla="val 10526"/>
            </a:avLst>
          </a:prstGeom>
          <a:solidFill>
            <a:srgbClr val="E8F4EE"/>
          </a:solidFill>
          <a:ln w="12700">
            <a:solidFill>
              <a:srgbClr val="BCDCCB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498080" y="521208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3D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 pelota puede usarse sola (ícono). El nombre no se usa sin la pelota.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A7B74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 · LOGO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Logo en </a:t>
            </a:r>
            <a:pPr algn="l" indent="0" marL="0">
              <a:buNone/>
            </a:pPr>
            <a:r>
              <a:rPr lang="en-US" sz="3200" b="1" dirty="0">
                <a:solidFill>
                  <a:srgbClr val="1F6F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claro y en oscuro</a:t>
            </a:r>
            <a:endParaRPr lang="en-US" sz="3200" dirty="0"/>
          </a:p>
        </p:txBody>
      </p:sp>
      <p:sp>
        <p:nvSpPr>
          <p:cNvPr id="4" name="Panel claro"/>
          <p:cNvSpPr/>
          <p:nvPr/>
        </p:nvSpPr>
        <p:spPr>
          <a:xfrm>
            <a:off x="548640" y="1691640"/>
            <a:ext cx="544068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CAD6CF"/>
            </a:solidFill>
            <a:prstDash val="solid"/>
          </a:ln>
        </p:spPr>
      </p:sp>
      <p:pic>
        <p:nvPicPr>
          <p:cNvPr id="5" name="Logo claro · pelota" descr="Pelota del logo de Pal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2926080"/>
            <a:ext cx="1188720" cy="1188720"/>
          </a:xfrm>
          <a:prstGeom prst="rect">
            <a:avLst/>
          </a:prstGeom>
        </p:spPr>
      </p:pic>
      <p:sp>
        <p:nvSpPr>
          <p:cNvPr id="6" name="Logo claro · nombre"/>
          <p:cNvSpPr txBox="1"/>
          <p:nvPr/>
        </p:nvSpPr>
        <p:spPr>
          <a:xfrm>
            <a:off x="2820010" y="2807208"/>
            <a:ext cx="356616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100" b="1" spc="-100" kern="0" dirty="0">
                <a:solidFill>
                  <a:srgbClr val="0F3D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Pali</a:t>
            </a:r>
            <a:endParaRPr lang="en-US" sz="8100" dirty="0"/>
          </a:p>
        </p:txBody>
      </p:sp>
      <p:sp>
        <p:nvSpPr>
          <p:cNvPr id="7" name="Panel oscuro"/>
          <p:cNvSpPr/>
          <p:nvPr/>
        </p:nvSpPr>
        <p:spPr>
          <a:xfrm>
            <a:off x="6199632" y="1691640"/>
            <a:ext cx="5440680" cy="3566160"/>
          </a:xfrm>
          <a:prstGeom prst="roundRect">
            <a:avLst>
              <a:gd name="adj" fmla="val 3077"/>
            </a:avLst>
          </a:prstGeom>
          <a:solidFill>
            <a:srgbClr val="0F3D2E"/>
          </a:solidFill>
          <a:ln w="12700">
            <a:solidFill>
              <a:srgbClr val="0F3D2E"/>
            </a:solidFill>
            <a:prstDash val="solid"/>
          </a:ln>
        </p:spPr>
      </p:sp>
      <p:pic>
        <p:nvPicPr>
          <p:cNvPr id="8" name="Logo oscuro · pelota" descr="Pelota del logo de Pali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8312" y="2926080"/>
            <a:ext cx="1188720" cy="1188720"/>
          </a:xfrm>
          <a:prstGeom prst="rect">
            <a:avLst/>
          </a:prstGeom>
        </p:spPr>
      </p:pic>
      <p:sp>
        <p:nvSpPr>
          <p:cNvPr id="9" name="Logo oscuro · nombre"/>
          <p:cNvSpPr txBox="1"/>
          <p:nvPr/>
        </p:nvSpPr>
        <p:spPr>
          <a:xfrm>
            <a:off x="8471002" y="2807208"/>
            <a:ext cx="356616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100" b="1" spc="-100" kern="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Pali</a:t>
            </a:r>
            <a:endParaRPr lang="en-US" sz="81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544068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Logo en claro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5779008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Para fondos blancos o claros. Pelota verde de marca con costura blanca y nombre en verde bosque.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6199632" y="544068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Logo en oscuro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6199632" y="5779008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Para verde bosque y tema oscuro. Pelota menta con costura verde bosque y nombre en blanco.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A7B74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 · LOGO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Otras </a:t>
            </a:r>
            <a:pPr algn="l" indent="0" marL="0">
              <a:buNone/>
            </a:pPr>
            <a:r>
              <a:rPr lang="en-US" sz="3200" b="1" dirty="0">
                <a:solidFill>
                  <a:srgbClr val="1F6F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versiones</a:t>
            </a:r>
            <a:endParaRPr lang="en-US" sz="3200" dirty="0"/>
          </a:p>
        </p:txBody>
      </p:sp>
      <p:sp>
        <p:nvSpPr>
          <p:cNvPr id="4" name="Fondo Ícono · fondo claro"/>
          <p:cNvSpPr/>
          <p:nvPr/>
        </p:nvSpPr>
        <p:spPr>
          <a:xfrm>
            <a:off x="548640" y="1691640"/>
            <a:ext cx="2651760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2700">
            <a:solidFill>
              <a:srgbClr val="CAD6CF"/>
            </a:solidFill>
            <a:prstDash val="solid"/>
          </a:ln>
        </p:spPr>
      </p:sp>
      <p:pic>
        <p:nvPicPr>
          <p:cNvPr id="5" name="Ícono claro" descr="Ícono clar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2331720"/>
            <a:ext cx="1097280" cy="10972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44348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Ícono · fondo claro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8006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Favicon, avatar y app sobre fondo claro.</a:t>
            </a:r>
            <a:endParaRPr lang="en-US" sz="1400" dirty="0"/>
          </a:p>
        </p:txBody>
      </p:sp>
      <p:sp>
        <p:nvSpPr>
          <p:cNvPr id="8" name="Fondo Ícono · fondo oscuro"/>
          <p:cNvSpPr/>
          <p:nvPr/>
        </p:nvSpPr>
        <p:spPr>
          <a:xfrm>
            <a:off x="3355848" y="1691640"/>
            <a:ext cx="2651760" cy="2514600"/>
          </a:xfrm>
          <a:prstGeom prst="roundRect">
            <a:avLst>
              <a:gd name="adj" fmla="val 4364"/>
            </a:avLst>
          </a:prstGeom>
          <a:solidFill>
            <a:srgbClr val="0F3D2E"/>
          </a:solidFill>
          <a:ln w="12700">
            <a:solidFill>
              <a:srgbClr val="0F3D2E"/>
            </a:solidFill>
            <a:prstDash val="solid"/>
          </a:ln>
        </p:spPr>
      </p:sp>
      <p:pic>
        <p:nvPicPr>
          <p:cNvPr id="9" name="Ícono oscuro" descr="Ícono oscur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3088" y="2331720"/>
            <a:ext cx="1097280" cy="109728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3355848" y="44348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Ícono · fondo oscuro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3355848" y="48006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Favicon, avatar y app sobre fondo oscuro.</a:t>
            </a:r>
            <a:endParaRPr lang="en-US" sz="1400" dirty="0"/>
          </a:p>
        </p:txBody>
      </p:sp>
      <p:sp>
        <p:nvSpPr>
          <p:cNvPr id="12" name="Fondo Monocromo negro"/>
          <p:cNvSpPr/>
          <p:nvPr/>
        </p:nvSpPr>
        <p:spPr>
          <a:xfrm>
            <a:off x="6163056" y="1691640"/>
            <a:ext cx="2651760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2700">
            <a:solidFill>
              <a:srgbClr val="CAD6CF"/>
            </a:solidFill>
            <a:prstDash val="solid"/>
          </a:ln>
        </p:spPr>
      </p:sp>
      <p:pic>
        <p:nvPicPr>
          <p:cNvPr id="13" name="Mono negro · pelota" descr="Pelota del logo de Pali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0256" y="2514600"/>
            <a:ext cx="548640" cy="548640"/>
          </a:xfrm>
          <a:prstGeom prst="rect">
            <a:avLst/>
          </a:prstGeom>
        </p:spPr>
      </p:pic>
      <p:sp>
        <p:nvSpPr>
          <p:cNvPr id="14" name="Mono negro · nombre"/>
          <p:cNvSpPr txBox="1"/>
          <p:nvPr/>
        </p:nvSpPr>
        <p:spPr>
          <a:xfrm>
            <a:off x="7267651" y="2459736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spc="-100" kern="0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Pali</a:t>
            </a:r>
            <a:endParaRPr lang="en-US" sz="3700" dirty="0"/>
          </a:p>
        </p:txBody>
      </p:sp>
      <p:sp>
        <p:nvSpPr>
          <p:cNvPr id="15" name="Text 10"/>
          <p:cNvSpPr txBox="1"/>
          <p:nvPr/>
        </p:nvSpPr>
        <p:spPr>
          <a:xfrm>
            <a:off x="6163056" y="44348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Monocromo negro</a:t>
            </a:r>
            <a:endParaRPr lang="en-US" sz="1600" dirty="0"/>
          </a:p>
        </p:txBody>
      </p:sp>
      <p:sp>
        <p:nvSpPr>
          <p:cNvPr id="16" name="Text 11"/>
          <p:cNvSpPr txBox="1"/>
          <p:nvPr/>
        </p:nvSpPr>
        <p:spPr>
          <a:xfrm>
            <a:off x="6163056" y="48006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Impresos de un solo color, sobre fondo claro.</a:t>
            </a:r>
            <a:endParaRPr lang="en-US" sz="1400" dirty="0"/>
          </a:p>
        </p:txBody>
      </p:sp>
      <p:sp>
        <p:nvSpPr>
          <p:cNvPr id="17" name="Fondo Monocromo blanco"/>
          <p:cNvSpPr/>
          <p:nvPr/>
        </p:nvSpPr>
        <p:spPr>
          <a:xfrm>
            <a:off x="8970264" y="1691640"/>
            <a:ext cx="2651760" cy="2514600"/>
          </a:xfrm>
          <a:prstGeom prst="roundRect">
            <a:avLst>
              <a:gd name="adj" fmla="val 4364"/>
            </a:avLst>
          </a:prstGeom>
          <a:solidFill>
            <a:srgbClr val="1F6F57"/>
          </a:solidFill>
          <a:ln w="12700">
            <a:solidFill>
              <a:srgbClr val="1F6F57"/>
            </a:solidFill>
            <a:prstDash val="solid"/>
          </a:ln>
        </p:spPr>
      </p:sp>
      <p:pic>
        <p:nvPicPr>
          <p:cNvPr id="18" name="Mono blanco · pelota" descr="Pelota del logo de Pali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7464" y="2514600"/>
            <a:ext cx="548640" cy="548640"/>
          </a:xfrm>
          <a:prstGeom prst="rect">
            <a:avLst/>
          </a:prstGeom>
        </p:spPr>
      </p:pic>
      <p:sp>
        <p:nvSpPr>
          <p:cNvPr id="19" name="Mono blanco · nombre"/>
          <p:cNvSpPr txBox="1"/>
          <p:nvPr/>
        </p:nvSpPr>
        <p:spPr>
          <a:xfrm>
            <a:off x="10074859" y="2459736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spc="-100" kern="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Pali</a:t>
            </a:r>
            <a:endParaRPr lang="en-US" sz="3700" dirty="0"/>
          </a:p>
        </p:txBody>
      </p:sp>
      <p:sp>
        <p:nvSpPr>
          <p:cNvPr id="20" name="Text 14"/>
          <p:cNvSpPr txBox="1"/>
          <p:nvPr/>
        </p:nvSpPr>
        <p:spPr>
          <a:xfrm>
            <a:off x="8970264" y="44348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Monocromo blanco</a:t>
            </a:r>
            <a:endParaRPr lang="en-US" sz="1600" dirty="0"/>
          </a:p>
        </p:txBody>
      </p:sp>
      <p:sp>
        <p:nvSpPr>
          <p:cNvPr id="21" name="Text 15"/>
          <p:cNvSpPr txBox="1"/>
          <p:nvPr/>
        </p:nvSpPr>
        <p:spPr>
          <a:xfrm>
            <a:off x="8970264" y="48006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 solo color sobre fondos de color o fotos oscuras.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548640" y="58521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A7B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Archivos: carpeta Diseño/logo (SVG). Ícono y logo completo en las cuatro versiones.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A7B74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 · LOGO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Espacio de respeto </a:t>
            </a:r>
            <a:pPr algn="l" indent="0" marL="0">
              <a:buNone/>
            </a:pPr>
            <a:r>
              <a:rPr lang="en-US" sz="3200" b="1" dirty="0">
                <a:solidFill>
                  <a:srgbClr val="1F6F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 tamaño mínimo</a:t>
            </a:r>
            <a:endParaRPr lang="en-US" sz="3200" dirty="0"/>
          </a:p>
        </p:txBody>
      </p:sp>
      <p:sp>
        <p:nvSpPr>
          <p:cNvPr id="4" name="Zona de respeto"/>
          <p:cNvSpPr/>
          <p:nvPr/>
        </p:nvSpPr>
        <p:spPr>
          <a:xfrm>
            <a:off x="822960" y="1874520"/>
            <a:ext cx="5029200" cy="2880360"/>
          </a:xfrm>
          <a:prstGeom prst="rect">
            <a:avLst/>
          </a:prstGeom>
          <a:solidFill>
            <a:srgbClr val="FFFFFF"/>
          </a:solidFill>
          <a:ln w="15875">
            <a:solidFill>
              <a:srgbClr val="1F6F57"/>
            </a:solidFill>
            <a:prstDash val="dash"/>
          </a:ln>
        </p:spPr>
      </p:sp>
      <p:sp>
        <p:nvSpPr>
          <p:cNvPr id="5" name="Unidad x izquierda"/>
          <p:cNvSpPr/>
          <p:nvPr/>
        </p:nvSpPr>
        <p:spPr>
          <a:xfrm>
            <a:off x="822960" y="2834640"/>
            <a:ext cx="960120" cy="960120"/>
          </a:xfrm>
          <a:prstGeom prst="rect">
            <a:avLst/>
          </a:prstGeom>
          <a:solidFill>
            <a:srgbClr val="E8F4EE"/>
          </a:solidFill>
          <a:ln w="12700">
            <a:solidFill>
              <a:srgbClr val="E8F4EE"/>
            </a:solidFill>
            <a:prstDash val="solid"/>
          </a:ln>
        </p:spPr>
      </p:sp>
      <p:sp>
        <p:nvSpPr>
          <p:cNvPr id="6" name="Unidad x arriba"/>
          <p:cNvSpPr/>
          <p:nvPr/>
        </p:nvSpPr>
        <p:spPr>
          <a:xfrm>
            <a:off x="1783080" y="1874520"/>
            <a:ext cx="960120" cy="960120"/>
          </a:xfrm>
          <a:prstGeom prst="rect">
            <a:avLst/>
          </a:prstGeom>
          <a:solidFill>
            <a:srgbClr val="E8F4EE"/>
          </a:solidFill>
          <a:ln w="12700">
            <a:solidFill>
              <a:srgbClr val="E8F4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83464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x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783080" y="187452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x</a:t>
            </a:r>
            <a:endParaRPr lang="en-US" sz="2000" dirty="0"/>
          </a:p>
        </p:txBody>
      </p:sp>
      <p:sp>
        <p:nvSpPr>
          <p:cNvPr id="9" name="Unidad x derecha"/>
          <p:cNvSpPr/>
          <p:nvPr/>
        </p:nvSpPr>
        <p:spPr>
          <a:xfrm>
            <a:off x="4892040" y="2834640"/>
            <a:ext cx="960120" cy="960120"/>
          </a:xfrm>
          <a:prstGeom prst="rect">
            <a:avLst/>
          </a:prstGeom>
          <a:solidFill>
            <a:srgbClr val="E8F4EE"/>
          </a:solidFill>
          <a:ln w="12700">
            <a:solidFill>
              <a:srgbClr val="E8F4EE"/>
            </a:solidFill>
            <a:prstDash val="solid"/>
          </a:ln>
        </p:spPr>
      </p:sp>
      <p:sp>
        <p:nvSpPr>
          <p:cNvPr id="10" name="Unidad x abajo"/>
          <p:cNvSpPr/>
          <p:nvPr/>
        </p:nvSpPr>
        <p:spPr>
          <a:xfrm>
            <a:off x="1783080" y="3794760"/>
            <a:ext cx="960120" cy="960120"/>
          </a:xfrm>
          <a:prstGeom prst="rect">
            <a:avLst/>
          </a:prstGeom>
          <a:solidFill>
            <a:srgbClr val="E8F4EE"/>
          </a:solidFill>
          <a:ln w="12700">
            <a:solidFill>
              <a:srgbClr val="E8F4E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92040" y="283464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x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783080" y="37947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x</a:t>
            </a:r>
            <a:endParaRPr lang="en-US" sz="2000" dirty="0"/>
          </a:p>
        </p:txBody>
      </p:sp>
      <p:pic>
        <p:nvPicPr>
          <p:cNvPr id="13" name="Logo respeto · pelota" descr="Pelota del logo de Pal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3080" y="2834640"/>
            <a:ext cx="960120" cy="960120"/>
          </a:xfrm>
          <a:prstGeom prst="rect">
            <a:avLst/>
          </a:prstGeom>
        </p:spPr>
      </p:pic>
      <p:sp>
        <p:nvSpPr>
          <p:cNvPr id="14" name="Logo respeto · nombre"/>
          <p:cNvSpPr txBox="1"/>
          <p:nvPr/>
        </p:nvSpPr>
        <p:spPr>
          <a:xfrm>
            <a:off x="2916022" y="2738628"/>
            <a:ext cx="288036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0" b="1" spc="-100" kern="0" dirty="0">
                <a:solidFill>
                  <a:srgbClr val="0F3D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Pali</a:t>
            </a:r>
            <a:endParaRPr lang="en-US" sz="6500" dirty="0"/>
          </a:p>
        </p:txBody>
      </p:sp>
      <p:sp>
        <p:nvSpPr>
          <p:cNvPr id="15" name="Tarjeta respeto"/>
          <p:cNvSpPr/>
          <p:nvPr/>
        </p:nvSpPr>
        <p:spPr>
          <a:xfrm>
            <a:off x="6675120" y="1828800"/>
            <a:ext cx="4937760" cy="1463040"/>
          </a:xfrm>
          <a:prstGeom prst="roundRect">
            <a:avLst>
              <a:gd name="adj" fmla="val 6250"/>
            </a:avLst>
          </a:prstGeom>
          <a:solidFill>
            <a:srgbClr val="F5F8F6"/>
          </a:solidFill>
          <a:ln w="12700">
            <a:solidFill>
              <a:srgbClr val="E2EAE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903720" y="1965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Espacio de respeto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6903720" y="237744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Dejá libre, alrededor del logo, al menos el diámetro de la pelota (x).</a:t>
            </a:r>
            <a:endParaRPr lang="en-US" sz="1400" dirty="0"/>
          </a:p>
        </p:txBody>
      </p:sp>
      <p:sp>
        <p:nvSpPr>
          <p:cNvPr id="18" name="Tarjeta tamaño mínimo"/>
          <p:cNvSpPr/>
          <p:nvPr/>
        </p:nvSpPr>
        <p:spPr>
          <a:xfrm>
            <a:off x="6675120" y="3520440"/>
            <a:ext cx="4937760" cy="1508760"/>
          </a:xfrm>
          <a:prstGeom prst="roundRect">
            <a:avLst>
              <a:gd name="adj" fmla="val 6061"/>
            </a:avLst>
          </a:prstGeom>
          <a:solidFill>
            <a:srgbClr val="F5F8F6"/>
          </a:solidFill>
          <a:ln w="12700">
            <a:solidFill>
              <a:srgbClr val="E2EAE5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903720" y="3657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Tamaño mínimo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6903720" y="406908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Logo completo: 24 px de alto de pelota en pantalla. Ícono solo: 16 px.</a:t>
            </a:r>
            <a:endParaRPr lang="en-US" sz="1400" dirty="0"/>
          </a:p>
        </p:txBody>
      </p:sp>
      <p:sp>
        <p:nvSpPr>
          <p:cNvPr id="21" name="Etiqueta propuesta"/>
          <p:cNvSpPr/>
          <p:nvPr/>
        </p:nvSpPr>
        <p:spPr>
          <a:xfrm>
            <a:off x="6675120" y="5257800"/>
            <a:ext cx="292608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6A7B74"/>
            </a:solidFill>
            <a:prstDash val="dash"/>
          </a:ln>
        </p:spPr>
      </p:sp>
      <p:sp>
        <p:nvSpPr>
          <p:cNvPr id="22" name="Text 19"/>
          <p:cNvSpPr txBox="1"/>
          <p:nvPr/>
        </p:nvSpPr>
        <p:spPr>
          <a:xfrm>
            <a:off x="6675120" y="52578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3544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Propuesta · a confirmar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A7B74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 · LOGO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Usos </a:t>
            </a:r>
            <a:pPr algn="l" indent="0" marL="0">
              <a:buNone/>
            </a:pPr>
            <a:r>
              <a:rPr lang="en-US" sz="3200" b="1" dirty="0">
                <a:solidFill>
                  <a:srgbClr val="1F6F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correctos</a:t>
            </a:r>
            <a:endParaRPr lang="en-US" sz="3200" dirty="0"/>
          </a:p>
        </p:txBody>
      </p:sp>
      <p:sp>
        <p:nvSpPr>
          <p:cNvPr id="4" name="Fondo Sobre blanco"/>
          <p:cNvSpPr/>
          <p:nvPr/>
        </p:nvSpPr>
        <p:spPr>
          <a:xfrm>
            <a:off x="548640" y="1645920"/>
            <a:ext cx="356616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CAD6CF"/>
            </a:solidFill>
            <a:prstDash val="solid"/>
          </a:ln>
        </p:spPr>
      </p:sp>
      <p:pic>
        <p:nvPicPr>
          <p:cNvPr id="5" name="Sobre blanco · pelota" descr="Pelota del logo de Pal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2011680"/>
            <a:ext cx="566928" cy="566928"/>
          </a:xfrm>
          <a:prstGeom prst="rect">
            <a:avLst/>
          </a:prstGeom>
        </p:spPr>
      </p:pic>
      <p:sp>
        <p:nvSpPr>
          <p:cNvPr id="6" name="Sobre blanco · nombre"/>
          <p:cNvSpPr txBox="1"/>
          <p:nvPr/>
        </p:nvSpPr>
        <p:spPr>
          <a:xfrm>
            <a:off x="2086295" y="1954987"/>
            <a:ext cx="1700784" cy="680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spc="-100" kern="0" dirty="0">
                <a:solidFill>
                  <a:srgbClr val="0F3D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Pali</a:t>
            </a:r>
            <a:endParaRPr lang="en-US" sz="3800" dirty="0"/>
          </a:p>
        </p:txBody>
      </p:sp>
      <p:sp>
        <p:nvSpPr>
          <p:cNvPr id="7" name="Marca correcta"/>
          <p:cNvSpPr/>
          <p:nvPr/>
        </p:nvSpPr>
        <p:spPr>
          <a:xfrm>
            <a:off x="3657600" y="1719072"/>
            <a:ext cx="347472" cy="347472"/>
          </a:xfrm>
          <a:prstGeom prst="ellipse">
            <a:avLst/>
          </a:prstGeom>
          <a:solidFill>
            <a:srgbClr val="1F6F57"/>
          </a:solidFill>
          <a:ln w="12700">
            <a:solidFill>
              <a:srgbClr val="1F6F5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657600" y="17190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✓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30632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Sobre blanco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340156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Logo en claro.</a:t>
            </a:r>
            <a:endParaRPr lang="en-US" sz="1400" dirty="0"/>
          </a:p>
        </p:txBody>
      </p:sp>
      <p:sp>
        <p:nvSpPr>
          <p:cNvPr id="11" name="Fondo Sobre verde bosque"/>
          <p:cNvSpPr/>
          <p:nvPr/>
        </p:nvSpPr>
        <p:spPr>
          <a:xfrm>
            <a:off x="4297680" y="1645920"/>
            <a:ext cx="3566160" cy="1325880"/>
          </a:xfrm>
          <a:prstGeom prst="roundRect">
            <a:avLst>
              <a:gd name="adj" fmla="val 6897"/>
            </a:avLst>
          </a:prstGeom>
          <a:solidFill>
            <a:srgbClr val="0F3D2E"/>
          </a:solidFill>
          <a:ln w="12700">
            <a:solidFill>
              <a:srgbClr val="0F3D2E"/>
            </a:solidFill>
            <a:prstDash val="solid"/>
          </a:ln>
        </p:spPr>
      </p:sp>
      <p:pic>
        <p:nvPicPr>
          <p:cNvPr id="12" name="Sobre verde bosque · pelota" descr="Pelota del logo de Pali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360" y="2011680"/>
            <a:ext cx="566928" cy="566928"/>
          </a:xfrm>
          <a:prstGeom prst="rect">
            <a:avLst/>
          </a:prstGeom>
        </p:spPr>
      </p:pic>
      <p:sp>
        <p:nvSpPr>
          <p:cNvPr id="13" name="Sobre verde bosque · nombre"/>
          <p:cNvSpPr txBox="1"/>
          <p:nvPr/>
        </p:nvSpPr>
        <p:spPr>
          <a:xfrm>
            <a:off x="5835335" y="1954987"/>
            <a:ext cx="1700784" cy="680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spc="-100" kern="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Pali</a:t>
            </a:r>
            <a:endParaRPr lang="en-US" sz="3800" dirty="0"/>
          </a:p>
        </p:txBody>
      </p:sp>
      <p:sp>
        <p:nvSpPr>
          <p:cNvPr id="14" name="Marca correcta"/>
          <p:cNvSpPr/>
          <p:nvPr/>
        </p:nvSpPr>
        <p:spPr>
          <a:xfrm>
            <a:off x="7406640" y="1719072"/>
            <a:ext cx="347472" cy="347472"/>
          </a:xfrm>
          <a:prstGeom prst="ellipse">
            <a:avLst/>
          </a:prstGeom>
          <a:solidFill>
            <a:srgbClr val="1F6F57"/>
          </a:solidFill>
          <a:ln w="12700">
            <a:solidFill>
              <a:srgbClr val="1F6F57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406640" y="17190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✓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4297680" y="30632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Sobre verde bosque</a:t>
            </a:r>
            <a:endParaRPr lang="en-US" sz="1600" dirty="0"/>
          </a:p>
        </p:txBody>
      </p:sp>
      <p:sp>
        <p:nvSpPr>
          <p:cNvPr id="17" name="Text 13"/>
          <p:cNvSpPr txBox="1"/>
          <p:nvPr/>
        </p:nvSpPr>
        <p:spPr>
          <a:xfrm>
            <a:off x="4297680" y="340156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Logo en oscuro.</a:t>
            </a:r>
            <a:endParaRPr lang="en-US" sz="1400" dirty="0"/>
          </a:p>
        </p:txBody>
      </p:sp>
      <p:sp>
        <p:nvSpPr>
          <p:cNvPr id="18" name="Fondo Sobre menta suave"/>
          <p:cNvSpPr/>
          <p:nvPr/>
        </p:nvSpPr>
        <p:spPr>
          <a:xfrm>
            <a:off x="8046720" y="1645920"/>
            <a:ext cx="3566160" cy="1325880"/>
          </a:xfrm>
          <a:prstGeom prst="roundRect">
            <a:avLst>
              <a:gd name="adj" fmla="val 6897"/>
            </a:avLst>
          </a:prstGeom>
          <a:solidFill>
            <a:srgbClr val="DFEEE6"/>
          </a:solidFill>
          <a:ln w="12700">
            <a:solidFill>
              <a:srgbClr val="DFEEE6"/>
            </a:solidFill>
            <a:prstDash val="solid"/>
          </a:ln>
        </p:spPr>
      </p:sp>
      <p:pic>
        <p:nvPicPr>
          <p:cNvPr id="19" name="Sobre menta suave · pelota" descr="Pelota del logo de Pali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0" y="2011680"/>
            <a:ext cx="566928" cy="566928"/>
          </a:xfrm>
          <a:prstGeom prst="rect">
            <a:avLst/>
          </a:prstGeom>
        </p:spPr>
      </p:pic>
      <p:sp>
        <p:nvSpPr>
          <p:cNvPr id="20" name="Sobre menta suave · nombre"/>
          <p:cNvSpPr txBox="1"/>
          <p:nvPr/>
        </p:nvSpPr>
        <p:spPr>
          <a:xfrm>
            <a:off x="9584375" y="1954987"/>
            <a:ext cx="1700784" cy="680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spc="-100" kern="0" dirty="0">
                <a:solidFill>
                  <a:srgbClr val="0F3D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Pali</a:t>
            </a:r>
            <a:endParaRPr lang="en-US" sz="3800" dirty="0"/>
          </a:p>
        </p:txBody>
      </p:sp>
      <p:sp>
        <p:nvSpPr>
          <p:cNvPr id="21" name="Marca correcta"/>
          <p:cNvSpPr/>
          <p:nvPr/>
        </p:nvSpPr>
        <p:spPr>
          <a:xfrm>
            <a:off x="11155680" y="1719072"/>
            <a:ext cx="347472" cy="347472"/>
          </a:xfrm>
          <a:prstGeom prst="ellipse">
            <a:avLst/>
          </a:prstGeom>
          <a:solidFill>
            <a:srgbClr val="1F6F57"/>
          </a:solidFill>
          <a:ln w="12700">
            <a:solidFill>
              <a:srgbClr val="1F6F57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11155680" y="17190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✓</a:t>
            </a:r>
            <a:endParaRPr lang="en-US" sz="1400" dirty="0"/>
          </a:p>
        </p:txBody>
      </p:sp>
      <p:sp>
        <p:nvSpPr>
          <p:cNvPr id="23" name="Text 18"/>
          <p:cNvSpPr txBox="1"/>
          <p:nvPr/>
        </p:nvSpPr>
        <p:spPr>
          <a:xfrm>
            <a:off x="8046720" y="30632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Sobre menta suave</a:t>
            </a:r>
            <a:endParaRPr lang="en-US" sz="1600" dirty="0"/>
          </a:p>
        </p:txBody>
      </p:sp>
      <p:sp>
        <p:nvSpPr>
          <p:cNvPr id="24" name="Text 19"/>
          <p:cNvSpPr txBox="1"/>
          <p:nvPr/>
        </p:nvSpPr>
        <p:spPr>
          <a:xfrm>
            <a:off x="8046720" y="340156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Logo en claro; el contraste se mantiene.</a:t>
            </a:r>
            <a:endParaRPr lang="en-US" sz="1400" dirty="0"/>
          </a:p>
        </p:txBody>
      </p:sp>
      <p:sp>
        <p:nvSpPr>
          <p:cNvPr id="25" name="Fondo En el tema oscuro"/>
          <p:cNvSpPr/>
          <p:nvPr/>
        </p:nvSpPr>
        <p:spPr>
          <a:xfrm>
            <a:off x="548640" y="3977640"/>
            <a:ext cx="3566160" cy="1325880"/>
          </a:xfrm>
          <a:prstGeom prst="roundRect">
            <a:avLst>
              <a:gd name="adj" fmla="val 6897"/>
            </a:avLst>
          </a:prstGeom>
          <a:solidFill>
            <a:srgbClr val="0B1511"/>
          </a:solidFill>
          <a:ln w="12700">
            <a:solidFill>
              <a:srgbClr val="0B1511"/>
            </a:solidFill>
            <a:prstDash val="solid"/>
          </a:ln>
        </p:spPr>
      </p:sp>
      <p:pic>
        <p:nvPicPr>
          <p:cNvPr id="26" name="En el tema oscuro · pelota" descr="Pelota del logo de Pali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7320" y="4343400"/>
            <a:ext cx="566928" cy="566928"/>
          </a:xfrm>
          <a:prstGeom prst="rect">
            <a:avLst/>
          </a:prstGeom>
        </p:spPr>
      </p:pic>
      <p:sp>
        <p:nvSpPr>
          <p:cNvPr id="27" name="En el tema oscuro · nombre"/>
          <p:cNvSpPr txBox="1"/>
          <p:nvPr/>
        </p:nvSpPr>
        <p:spPr>
          <a:xfrm>
            <a:off x="2086295" y="4286707"/>
            <a:ext cx="1700784" cy="680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spc="-100" kern="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Pali</a:t>
            </a:r>
            <a:endParaRPr lang="en-US" sz="3800" dirty="0"/>
          </a:p>
        </p:txBody>
      </p:sp>
      <p:sp>
        <p:nvSpPr>
          <p:cNvPr id="28" name="Marca correcta"/>
          <p:cNvSpPr/>
          <p:nvPr/>
        </p:nvSpPr>
        <p:spPr>
          <a:xfrm>
            <a:off x="3657600" y="4050792"/>
            <a:ext cx="347472" cy="347472"/>
          </a:xfrm>
          <a:prstGeom prst="ellipse">
            <a:avLst/>
          </a:prstGeom>
          <a:solidFill>
            <a:srgbClr val="1F6F57"/>
          </a:solidFill>
          <a:ln w="12700">
            <a:solidFill>
              <a:srgbClr val="1F6F57"/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3657600" y="40507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✓</a:t>
            </a:r>
            <a:endParaRPr lang="en-US" sz="1400" dirty="0"/>
          </a:p>
        </p:txBody>
      </p:sp>
      <p:sp>
        <p:nvSpPr>
          <p:cNvPr id="30" name="Text 24"/>
          <p:cNvSpPr txBox="1"/>
          <p:nvPr/>
        </p:nvSpPr>
        <p:spPr>
          <a:xfrm>
            <a:off x="548640" y="53949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 el tema oscuro</a:t>
            </a:r>
            <a:endParaRPr lang="en-US" sz="1600" dirty="0"/>
          </a:p>
        </p:txBody>
      </p:sp>
      <p:sp>
        <p:nvSpPr>
          <p:cNvPr id="31" name="Text 25"/>
          <p:cNvSpPr txBox="1"/>
          <p:nvPr/>
        </p:nvSpPr>
        <p:spPr>
          <a:xfrm>
            <a:off x="548640" y="573328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Logo en oscuro sobre el fondo casi negro.</a:t>
            </a:r>
            <a:endParaRPr lang="en-US" sz="1400" dirty="0"/>
          </a:p>
        </p:txBody>
      </p:sp>
      <p:sp>
        <p:nvSpPr>
          <p:cNvPr id="32" name="Fondo Con su espacio de respeto"/>
          <p:cNvSpPr/>
          <p:nvPr/>
        </p:nvSpPr>
        <p:spPr>
          <a:xfrm>
            <a:off x="4297680" y="3977640"/>
            <a:ext cx="356616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CAD6CF"/>
            </a:solidFill>
            <a:prstDash val="solid"/>
          </a:ln>
        </p:spPr>
      </p:sp>
      <p:sp>
        <p:nvSpPr>
          <p:cNvPr id="33" name="Respeto"/>
          <p:cNvSpPr/>
          <p:nvPr/>
        </p:nvSpPr>
        <p:spPr>
          <a:xfrm>
            <a:off x="4572000" y="4087368"/>
            <a:ext cx="3017520" cy="1106424"/>
          </a:xfrm>
          <a:prstGeom prst="rect">
            <a:avLst/>
          </a:prstGeom>
          <a:ln w="12700">
            <a:solidFill>
              <a:srgbClr val="1F6F57"/>
            </a:solidFill>
            <a:prstDash val="dash"/>
          </a:ln>
        </p:spPr>
      </p:sp>
      <p:pic>
        <p:nvPicPr>
          <p:cNvPr id="34" name="Con su espacio de respeto · pelota" descr="Pelota del logo de Pali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4920" y="4343400"/>
            <a:ext cx="566928" cy="566928"/>
          </a:xfrm>
          <a:prstGeom prst="rect">
            <a:avLst/>
          </a:prstGeom>
        </p:spPr>
      </p:pic>
      <p:sp>
        <p:nvSpPr>
          <p:cNvPr id="35" name="Con su espacio de respeto · nombre"/>
          <p:cNvSpPr txBox="1"/>
          <p:nvPr/>
        </p:nvSpPr>
        <p:spPr>
          <a:xfrm>
            <a:off x="5743895" y="4286707"/>
            <a:ext cx="1700784" cy="680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spc="-100" kern="0" dirty="0">
                <a:solidFill>
                  <a:srgbClr val="0F3D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Pali</a:t>
            </a:r>
            <a:endParaRPr lang="en-US" sz="3800" dirty="0"/>
          </a:p>
        </p:txBody>
      </p:sp>
      <p:sp>
        <p:nvSpPr>
          <p:cNvPr id="36" name="Marca correcta"/>
          <p:cNvSpPr/>
          <p:nvPr/>
        </p:nvSpPr>
        <p:spPr>
          <a:xfrm>
            <a:off x="7406640" y="4050792"/>
            <a:ext cx="347472" cy="347472"/>
          </a:xfrm>
          <a:prstGeom prst="ellipse">
            <a:avLst/>
          </a:prstGeom>
          <a:solidFill>
            <a:srgbClr val="1F6F57"/>
          </a:solidFill>
          <a:ln w="12700">
            <a:solidFill>
              <a:srgbClr val="1F6F57"/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7406640" y="40507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✓</a:t>
            </a:r>
            <a:endParaRPr lang="en-US" sz="1400" dirty="0"/>
          </a:p>
        </p:txBody>
      </p:sp>
      <p:sp>
        <p:nvSpPr>
          <p:cNvPr id="38" name="Text 31"/>
          <p:cNvSpPr txBox="1"/>
          <p:nvPr/>
        </p:nvSpPr>
        <p:spPr>
          <a:xfrm>
            <a:off x="4297680" y="53949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 su espacio de respeto</a:t>
            </a:r>
            <a:endParaRPr lang="en-US" sz="1600" dirty="0"/>
          </a:p>
        </p:txBody>
      </p:sp>
      <p:sp>
        <p:nvSpPr>
          <p:cNvPr id="39" name="Text 32"/>
          <p:cNvSpPr txBox="1"/>
          <p:nvPr/>
        </p:nvSpPr>
        <p:spPr>
          <a:xfrm>
            <a:off x="4297680" y="573328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Sin textos ni bordes pegados.</a:t>
            </a:r>
            <a:endParaRPr lang="en-US" sz="1400" dirty="0"/>
          </a:p>
        </p:txBody>
      </p:sp>
      <p:sp>
        <p:nvSpPr>
          <p:cNvPr id="40" name="Fondo Proporcional"/>
          <p:cNvSpPr/>
          <p:nvPr/>
        </p:nvSpPr>
        <p:spPr>
          <a:xfrm>
            <a:off x="8046720" y="3977640"/>
            <a:ext cx="3566160" cy="1325880"/>
          </a:xfrm>
          <a:prstGeom prst="roundRect">
            <a:avLst>
              <a:gd name="adj" fmla="val 6897"/>
            </a:avLst>
          </a:prstGeom>
          <a:solidFill>
            <a:srgbClr val="F5F8F6"/>
          </a:solidFill>
          <a:ln w="12700">
            <a:solidFill>
              <a:srgbClr val="E2EAE5"/>
            </a:solidFill>
            <a:prstDash val="solid"/>
          </a:ln>
        </p:spPr>
      </p:sp>
      <p:pic>
        <p:nvPicPr>
          <p:cNvPr id="41" name="Proporcional · pelota" descr="Pelota del logo de Pali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15400" y="4343400"/>
            <a:ext cx="457200" cy="457200"/>
          </a:xfrm>
          <a:prstGeom prst="rect">
            <a:avLst/>
          </a:prstGeom>
        </p:spPr>
      </p:pic>
      <p:sp>
        <p:nvSpPr>
          <p:cNvPr id="42" name="Proporcional · nombre"/>
          <p:cNvSpPr txBox="1"/>
          <p:nvPr/>
        </p:nvSpPr>
        <p:spPr>
          <a:xfrm>
            <a:off x="9454896" y="42976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spc="-100" kern="0" dirty="0">
                <a:solidFill>
                  <a:srgbClr val="0F3D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Pali</a:t>
            </a:r>
            <a:endParaRPr lang="en-US" sz="3100" dirty="0"/>
          </a:p>
        </p:txBody>
      </p:sp>
      <p:sp>
        <p:nvSpPr>
          <p:cNvPr id="43" name="Marca correcta"/>
          <p:cNvSpPr/>
          <p:nvPr/>
        </p:nvSpPr>
        <p:spPr>
          <a:xfrm>
            <a:off x="11155680" y="4050792"/>
            <a:ext cx="347472" cy="347472"/>
          </a:xfrm>
          <a:prstGeom prst="ellipse">
            <a:avLst/>
          </a:prstGeom>
          <a:solidFill>
            <a:srgbClr val="1F6F57"/>
          </a:solidFill>
          <a:ln w="12700">
            <a:solidFill>
              <a:srgbClr val="1F6F57"/>
            </a:solidFill>
            <a:prstDash val="solid"/>
          </a:ln>
        </p:spPr>
      </p:sp>
      <p:sp>
        <p:nvSpPr>
          <p:cNvPr id="44" name="Text 36"/>
          <p:cNvSpPr txBox="1"/>
          <p:nvPr/>
        </p:nvSpPr>
        <p:spPr>
          <a:xfrm>
            <a:off x="11155680" y="40507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✓</a:t>
            </a:r>
            <a:endParaRPr lang="en-US" sz="1400" dirty="0"/>
          </a:p>
        </p:txBody>
      </p:sp>
      <p:sp>
        <p:nvSpPr>
          <p:cNvPr id="45" name="Text 37"/>
          <p:cNvSpPr txBox="1"/>
          <p:nvPr/>
        </p:nvSpPr>
        <p:spPr>
          <a:xfrm>
            <a:off x="8046720" y="53949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Proporcional</a:t>
            </a:r>
            <a:endParaRPr lang="en-US" sz="1600" dirty="0"/>
          </a:p>
        </p:txBody>
      </p:sp>
      <p:sp>
        <p:nvSpPr>
          <p:cNvPr id="46" name="Text 38"/>
          <p:cNvSpPr txBox="1"/>
          <p:nvPr/>
        </p:nvSpPr>
        <p:spPr>
          <a:xfrm>
            <a:off x="8046720" y="573328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Siempre se agranda o achica en bloque.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A7B74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 · LOGO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Usos </a:t>
            </a:r>
            <a:pPr algn="l" indent="0" marL="0">
              <a:buNone/>
            </a:pPr>
            <a:r>
              <a:rPr lang="en-US" sz="3200" b="1" dirty="0">
                <a:solidFill>
                  <a:srgbClr val="1F6F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incorrectos</a:t>
            </a:r>
            <a:endParaRPr lang="en-US" sz="3200" dirty="0"/>
          </a:p>
        </p:txBody>
      </p:sp>
      <p:sp>
        <p:nvSpPr>
          <p:cNvPr id="4" name="Fondo incorrecto 1"/>
          <p:cNvSpPr/>
          <p:nvPr/>
        </p:nvSpPr>
        <p:spPr>
          <a:xfrm>
            <a:off x="548640" y="1645920"/>
            <a:ext cx="3566160" cy="1325880"/>
          </a:xfrm>
          <a:prstGeom prst="roundRect">
            <a:avLst>
              <a:gd name="adj" fmla="val 6897"/>
            </a:avLst>
          </a:prstGeom>
          <a:solidFill>
            <a:srgbClr val="0F3D2E"/>
          </a:solidFill>
          <a:ln w="12700">
            <a:solidFill>
              <a:srgbClr val="0F3D2E"/>
            </a:solidFill>
            <a:prstDash val="solid"/>
          </a:ln>
        </p:spPr>
      </p:sp>
      <p:sp>
        <p:nvSpPr>
          <p:cNvPr id="5" name="Marca incorrecta"/>
          <p:cNvSpPr/>
          <p:nvPr/>
        </p:nvSpPr>
        <p:spPr>
          <a:xfrm>
            <a:off x="3657600" y="1719072"/>
            <a:ext cx="347472" cy="347472"/>
          </a:xfrm>
          <a:prstGeom prst="ellipse">
            <a:avLst/>
          </a:prstGeom>
          <a:solidFill>
            <a:srgbClr val="E5533D"/>
          </a:solidFill>
          <a:ln w="12700">
            <a:solidFill>
              <a:srgbClr val="E553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657600" y="17190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✕</a:t>
            </a:r>
            <a:endParaRPr lang="en-US" sz="1400" dirty="0"/>
          </a:p>
        </p:txBody>
      </p:sp>
      <p:pic>
        <p:nvPicPr>
          <p:cNvPr id="7" name="Pelota deformada" descr="Pelota deformad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2103120"/>
            <a:ext cx="1005840" cy="41148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2377440" y="196596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spc="600" kern="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Pali</a:t>
            </a:r>
            <a:endParaRPr lang="en-US" sz="36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30632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deformar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340156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estirar ni aplastar la pelota ni el nombre.</a:t>
            </a:r>
            <a:endParaRPr lang="en-US" sz="1400" dirty="0"/>
          </a:p>
        </p:txBody>
      </p:sp>
      <p:sp>
        <p:nvSpPr>
          <p:cNvPr id="11" name="Fondo incorrecto 2"/>
          <p:cNvSpPr/>
          <p:nvPr/>
        </p:nvSpPr>
        <p:spPr>
          <a:xfrm>
            <a:off x="4297680" y="1645920"/>
            <a:ext cx="356616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CAD6CF"/>
            </a:solidFill>
            <a:prstDash val="solid"/>
          </a:ln>
        </p:spPr>
      </p:sp>
      <p:sp>
        <p:nvSpPr>
          <p:cNvPr id="12" name="Marca incorrecta"/>
          <p:cNvSpPr/>
          <p:nvPr/>
        </p:nvSpPr>
        <p:spPr>
          <a:xfrm>
            <a:off x="7406640" y="1719072"/>
            <a:ext cx="347472" cy="347472"/>
          </a:xfrm>
          <a:prstGeom prst="ellipse">
            <a:avLst/>
          </a:prstGeom>
          <a:solidFill>
            <a:srgbClr val="E5533D"/>
          </a:solidFill>
          <a:ln w="12700">
            <a:solidFill>
              <a:srgbClr val="E5533D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406640" y="17190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✕</a:t>
            </a:r>
            <a:endParaRPr lang="en-US" sz="1400" dirty="0"/>
          </a:p>
        </p:txBody>
      </p:sp>
      <p:pic>
        <p:nvPicPr>
          <p:cNvPr id="14" name="Pelota azul" descr="Pelota en azu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360" y="2011680"/>
            <a:ext cx="566928" cy="566928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852160" y="1920240"/>
            <a:ext cx="1645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F6FD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Pali</a:t>
            </a:r>
            <a:endParaRPr lang="en-US" sz="3800" dirty="0"/>
          </a:p>
        </p:txBody>
      </p:sp>
      <p:sp>
        <p:nvSpPr>
          <p:cNvPr id="16" name="Text 12"/>
          <p:cNvSpPr txBox="1"/>
          <p:nvPr/>
        </p:nvSpPr>
        <p:spPr>
          <a:xfrm>
            <a:off x="4297680" y="30632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cambiar los colores</a:t>
            </a:r>
            <a:endParaRPr lang="en-US" sz="1600" dirty="0"/>
          </a:p>
        </p:txBody>
      </p:sp>
      <p:sp>
        <p:nvSpPr>
          <p:cNvPr id="17" name="Text 13"/>
          <p:cNvSpPr txBox="1"/>
          <p:nvPr/>
        </p:nvSpPr>
        <p:spPr>
          <a:xfrm>
            <a:off x="4297680" y="340156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Solo las versiones definidas. Nada de azules ni de coral.</a:t>
            </a:r>
            <a:endParaRPr lang="en-US" sz="1400" dirty="0"/>
          </a:p>
        </p:txBody>
      </p:sp>
      <p:sp>
        <p:nvSpPr>
          <p:cNvPr id="18" name="Fondo incorrecto 3"/>
          <p:cNvSpPr/>
          <p:nvPr/>
        </p:nvSpPr>
        <p:spPr>
          <a:xfrm>
            <a:off x="8046720" y="1645920"/>
            <a:ext cx="3566160" cy="1325880"/>
          </a:xfrm>
          <a:prstGeom prst="roundRect">
            <a:avLst>
              <a:gd name="adj" fmla="val 6897"/>
            </a:avLst>
          </a:prstGeom>
          <a:solidFill>
            <a:srgbClr val="DFEEE6"/>
          </a:solidFill>
          <a:ln w="12700">
            <a:solidFill>
              <a:srgbClr val="DFEEE6"/>
            </a:solidFill>
            <a:prstDash val="solid"/>
          </a:ln>
        </p:spPr>
      </p:sp>
      <p:sp>
        <p:nvSpPr>
          <p:cNvPr id="19" name="Marca incorrecta"/>
          <p:cNvSpPr/>
          <p:nvPr/>
        </p:nvSpPr>
        <p:spPr>
          <a:xfrm>
            <a:off x="11155680" y="1719072"/>
            <a:ext cx="347472" cy="347472"/>
          </a:xfrm>
          <a:prstGeom prst="ellipse">
            <a:avLst/>
          </a:prstGeom>
          <a:solidFill>
            <a:srgbClr val="E5533D"/>
          </a:solidFill>
          <a:ln w="12700">
            <a:solidFill>
              <a:srgbClr val="E5533D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11155680" y="17190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✕</a:t>
            </a:r>
            <a:endParaRPr lang="en-US" sz="1400" dirty="0"/>
          </a:p>
        </p:txBody>
      </p:sp>
      <p:pic>
        <p:nvPicPr>
          <p:cNvPr id="21" name="Pelota bajo contraste" descr="Pelota con poco contrast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0" y="2011680"/>
            <a:ext cx="566928" cy="566928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9601200" y="1920240"/>
            <a:ext cx="1645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A9D6C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Pali</a:t>
            </a:r>
            <a:endParaRPr lang="en-US" sz="3800" dirty="0"/>
          </a:p>
        </p:txBody>
      </p:sp>
      <p:sp>
        <p:nvSpPr>
          <p:cNvPr id="23" name="Text 18"/>
          <p:cNvSpPr txBox="1"/>
          <p:nvPr/>
        </p:nvSpPr>
        <p:spPr>
          <a:xfrm>
            <a:off x="8046720" y="30632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usar con poco contraste</a:t>
            </a:r>
            <a:endParaRPr lang="en-US" sz="1600" dirty="0"/>
          </a:p>
        </p:txBody>
      </p:sp>
      <p:sp>
        <p:nvSpPr>
          <p:cNvPr id="24" name="Text 19"/>
          <p:cNvSpPr txBox="1"/>
          <p:nvPr/>
        </p:nvSpPr>
        <p:spPr>
          <a:xfrm>
            <a:off x="8046720" y="340156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Menta sobre menta suave casi no se lee.</a:t>
            </a:r>
            <a:endParaRPr lang="en-US" sz="1400" dirty="0"/>
          </a:p>
        </p:txBody>
      </p:sp>
      <p:sp>
        <p:nvSpPr>
          <p:cNvPr id="25" name="Fondo incorrecto 4"/>
          <p:cNvSpPr/>
          <p:nvPr/>
        </p:nvSpPr>
        <p:spPr>
          <a:xfrm>
            <a:off x="548640" y="3977640"/>
            <a:ext cx="356616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CAD6CF"/>
            </a:solidFill>
            <a:prstDash val="solid"/>
          </a:ln>
        </p:spPr>
      </p:sp>
      <p:sp>
        <p:nvSpPr>
          <p:cNvPr id="26" name="Marca incorrecta"/>
          <p:cNvSpPr/>
          <p:nvPr/>
        </p:nvSpPr>
        <p:spPr>
          <a:xfrm>
            <a:off x="3657600" y="4050792"/>
            <a:ext cx="347472" cy="347472"/>
          </a:xfrm>
          <a:prstGeom prst="ellipse">
            <a:avLst/>
          </a:prstGeom>
          <a:solidFill>
            <a:srgbClr val="E5533D"/>
          </a:solidFill>
          <a:ln w="12700">
            <a:solidFill>
              <a:srgbClr val="E5533D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3657600" y="40507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✕</a:t>
            </a:r>
            <a:endParaRPr lang="en-US" sz="1400" dirty="0"/>
          </a:p>
        </p:txBody>
      </p:sp>
      <p:pic>
        <p:nvPicPr>
          <p:cNvPr id="28" name="Pelota rotada" descr="Pelota rotada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">
            <a:off x="1325880" y="4361688"/>
            <a:ext cx="566928" cy="566928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 rot="1080000">
            <a:off x="2103120" y="4251960"/>
            <a:ext cx="1645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3D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Pali</a:t>
            </a:r>
            <a:endParaRPr lang="en-US" sz="3800" dirty="0"/>
          </a:p>
        </p:txBody>
      </p:sp>
      <p:sp>
        <p:nvSpPr>
          <p:cNvPr id="30" name="Text 24"/>
          <p:cNvSpPr txBox="1"/>
          <p:nvPr/>
        </p:nvSpPr>
        <p:spPr>
          <a:xfrm>
            <a:off x="548640" y="53949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rotar ni inclinar</a:t>
            </a:r>
            <a:endParaRPr lang="en-US" sz="1600" dirty="0"/>
          </a:p>
        </p:txBody>
      </p:sp>
      <p:sp>
        <p:nvSpPr>
          <p:cNvPr id="31" name="Text 25"/>
          <p:cNvSpPr txBox="1"/>
          <p:nvPr/>
        </p:nvSpPr>
        <p:spPr>
          <a:xfrm>
            <a:off x="548640" y="573328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 logo siempre va horizontal.</a:t>
            </a:r>
            <a:endParaRPr lang="en-US" sz="1400" dirty="0"/>
          </a:p>
        </p:txBody>
      </p:sp>
      <p:sp>
        <p:nvSpPr>
          <p:cNvPr id="32" name="Fondo incorrecto 5"/>
          <p:cNvSpPr/>
          <p:nvPr/>
        </p:nvSpPr>
        <p:spPr>
          <a:xfrm>
            <a:off x="4297680" y="3977640"/>
            <a:ext cx="356616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CAD6CF"/>
            </a:solidFill>
            <a:prstDash val="solid"/>
          </a:ln>
        </p:spPr>
      </p:sp>
      <p:sp>
        <p:nvSpPr>
          <p:cNvPr id="33" name="Marca incorrecta"/>
          <p:cNvSpPr/>
          <p:nvPr/>
        </p:nvSpPr>
        <p:spPr>
          <a:xfrm>
            <a:off x="7406640" y="4050792"/>
            <a:ext cx="347472" cy="347472"/>
          </a:xfrm>
          <a:prstGeom prst="ellipse">
            <a:avLst/>
          </a:prstGeom>
          <a:solidFill>
            <a:srgbClr val="E5533D"/>
          </a:solidFill>
          <a:ln w="12700">
            <a:solidFill>
              <a:srgbClr val="E5533D"/>
            </a:solidFill>
            <a:prstDash val="solid"/>
          </a:ln>
        </p:spPr>
      </p:sp>
      <p:sp>
        <p:nvSpPr>
          <p:cNvPr id="34" name="Text 28"/>
          <p:cNvSpPr txBox="1"/>
          <p:nvPr/>
        </p:nvSpPr>
        <p:spPr>
          <a:xfrm>
            <a:off x="7406640" y="40507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✕</a:t>
            </a:r>
            <a:endParaRPr lang="en-US" sz="1400" dirty="0"/>
          </a:p>
        </p:txBody>
      </p:sp>
      <p:pic>
        <p:nvPicPr>
          <p:cNvPr id="35" name="Pelota con sombra" descr="Pelota con sombra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0640" y="4251960"/>
            <a:ext cx="777240" cy="777240"/>
          </a:xfrm>
          <a:prstGeom prst="rect">
            <a:avLst/>
          </a:prstGeom>
        </p:spPr>
      </p:pic>
      <p:sp>
        <p:nvSpPr>
          <p:cNvPr id="36" name="Text 29"/>
          <p:cNvSpPr txBox="1"/>
          <p:nvPr/>
        </p:nvSpPr>
        <p:spPr>
          <a:xfrm>
            <a:off x="6080760" y="4251960"/>
            <a:ext cx="1463040" cy="749808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38100" dir="2700000">
              <a:srgbClr val="000000">
                <a:alpha val="5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3D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Pali</a:t>
            </a:r>
            <a:endParaRPr lang="en-US" sz="3800" dirty="0"/>
          </a:p>
        </p:txBody>
      </p:sp>
      <p:sp>
        <p:nvSpPr>
          <p:cNvPr id="37" name="Text 30"/>
          <p:cNvSpPr txBox="1"/>
          <p:nvPr/>
        </p:nvSpPr>
        <p:spPr>
          <a:xfrm>
            <a:off x="4297680" y="53949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sumar sombras ni efectos</a:t>
            </a:r>
            <a:endParaRPr lang="en-US" sz="1600" dirty="0"/>
          </a:p>
        </p:txBody>
      </p:sp>
      <p:sp>
        <p:nvSpPr>
          <p:cNvPr id="38" name="Text 31"/>
          <p:cNvSpPr txBox="1"/>
          <p:nvPr/>
        </p:nvSpPr>
        <p:spPr>
          <a:xfrm>
            <a:off x="4297680" y="573328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Sin brillos, degradés, contornos ni relieves.</a:t>
            </a:r>
            <a:endParaRPr lang="en-US" sz="1400" dirty="0"/>
          </a:p>
        </p:txBody>
      </p:sp>
      <p:sp>
        <p:nvSpPr>
          <p:cNvPr id="39" name="Fondo incorrecto 6"/>
          <p:cNvSpPr/>
          <p:nvPr/>
        </p:nvSpPr>
        <p:spPr>
          <a:xfrm>
            <a:off x="8046720" y="3977640"/>
            <a:ext cx="356616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CAD6CF"/>
            </a:solidFill>
            <a:prstDash val="solid"/>
          </a:ln>
        </p:spPr>
      </p:sp>
      <p:sp>
        <p:nvSpPr>
          <p:cNvPr id="40" name="Marca incorrecta"/>
          <p:cNvSpPr/>
          <p:nvPr/>
        </p:nvSpPr>
        <p:spPr>
          <a:xfrm>
            <a:off x="11155680" y="4050792"/>
            <a:ext cx="347472" cy="347472"/>
          </a:xfrm>
          <a:prstGeom prst="ellipse">
            <a:avLst/>
          </a:prstGeom>
          <a:solidFill>
            <a:srgbClr val="E5533D"/>
          </a:solidFill>
          <a:ln w="12700">
            <a:solidFill>
              <a:srgbClr val="E5533D"/>
            </a:solidFill>
            <a:prstDash val="solid"/>
          </a:ln>
        </p:spPr>
      </p:sp>
      <p:sp>
        <p:nvSpPr>
          <p:cNvPr id="41" name="Text 34"/>
          <p:cNvSpPr txBox="1"/>
          <p:nvPr/>
        </p:nvSpPr>
        <p:spPr>
          <a:xfrm>
            <a:off x="11155680" y="40507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✕</a:t>
            </a:r>
            <a:endParaRPr lang="en-US" sz="1400" dirty="0"/>
          </a:p>
        </p:txBody>
      </p:sp>
      <p:pic>
        <p:nvPicPr>
          <p:cNvPr id="42" name="Pelota" descr="Pelota correcta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15400" y="4343400"/>
            <a:ext cx="566928" cy="566928"/>
          </a:xfrm>
          <a:prstGeom prst="rect">
            <a:avLst/>
          </a:prstGeom>
        </p:spPr>
      </p:pic>
      <p:sp>
        <p:nvSpPr>
          <p:cNvPr id="43" name="Text 35"/>
          <p:cNvSpPr txBox="1"/>
          <p:nvPr/>
        </p:nvSpPr>
        <p:spPr>
          <a:xfrm>
            <a:off x="9601200" y="4251960"/>
            <a:ext cx="1645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i="1" dirty="0">
                <a:solidFill>
                  <a:srgbClr val="0F3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Pali</a:t>
            </a:r>
            <a:endParaRPr lang="en-US" sz="3800" dirty="0"/>
          </a:p>
        </p:txBody>
      </p:sp>
      <p:sp>
        <p:nvSpPr>
          <p:cNvPr id="44" name="Text 36"/>
          <p:cNvSpPr txBox="1"/>
          <p:nvPr/>
        </p:nvSpPr>
        <p:spPr>
          <a:xfrm>
            <a:off x="8046720" y="53949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cambiar la tipografía</a:t>
            </a:r>
            <a:endParaRPr lang="en-US" sz="1600" dirty="0"/>
          </a:p>
        </p:txBody>
      </p:sp>
      <p:sp>
        <p:nvSpPr>
          <p:cNvPr id="45" name="Text 37"/>
          <p:cNvSpPr txBox="1"/>
          <p:nvPr/>
        </p:nvSpPr>
        <p:spPr>
          <a:xfrm>
            <a:off x="8046720" y="573328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 nombre va siempre en IBM Plex Sans semibold.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A7B74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· COLOR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Colores </a:t>
            </a:r>
            <a:pPr algn="l" indent="0" marL="0">
              <a:buNone/>
            </a:pPr>
            <a:r>
              <a:rPr lang="en-US" sz="3200" b="1" dirty="0">
                <a:solidFill>
                  <a:srgbClr val="1F6F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primarios</a:t>
            </a:r>
            <a:endParaRPr lang="en-US" sz="3200" dirty="0"/>
          </a:p>
        </p:txBody>
      </p:sp>
      <p:sp>
        <p:nvSpPr>
          <p:cNvPr id="4" name="Muestra Verde bosque"/>
          <p:cNvSpPr/>
          <p:nvPr/>
        </p:nvSpPr>
        <p:spPr>
          <a:xfrm>
            <a:off x="548640" y="1691640"/>
            <a:ext cx="2651760" cy="2103120"/>
          </a:xfrm>
          <a:prstGeom prst="roundRect">
            <a:avLst>
              <a:gd name="adj" fmla="val 4348"/>
            </a:avLst>
          </a:prstGeom>
          <a:solidFill>
            <a:srgbClr val="0F3D2E"/>
          </a:solidFill>
          <a:ln w="12700">
            <a:solidFill>
              <a:srgbClr val="0F3D2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3246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Verde bosque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9776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D1F1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#0F3D2E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3891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3544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RGB 15 · 61 · 46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68172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--forest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07492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Barra lateral, botón oscuro y turno completo.</a:t>
            </a:r>
            <a:endParaRPr lang="en-US" sz="1400" dirty="0"/>
          </a:p>
        </p:txBody>
      </p:sp>
      <p:sp>
        <p:nvSpPr>
          <p:cNvPr id="10" name="Muestra Verde de marca"/>
          <p:cNvSpPr/>
          <p:nvPr/>
        </p:nvSpPr>
        <p:spPr>
          <a:xfrm>
            <a:off x="3355848" y="1691640"/>
            <a:ext cx="2651760" cy="2103120"/>
          </a:xfrm>
          <a:prstGeom prst="roundRect">
            <a:avLst>
              <a:gd name="adj" fmla="val 4348"/>
            </a:avLst>
          </a:prstGeom>
          <a:solidFill>
            <a:srgbClr val="1F6F57"/>
          </a:solidFill>
          <a:ln w="12700">
            <a:solidFill>
              <a:srgbClr val="1F6F5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84448" y="3246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Verde de marca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355848" y="39776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D1F1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#1F6F57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355848" y="43891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3544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RGB 31 · 111 · 87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355848" y="468172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--brand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355848" y="507492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Acción principal, enlaces y foco.</a:t>
            </a:r>
            <a:endParaRPr lang="en-US" sz="1400" dirty="0"/>
          </a:p>
        </p:txBody>
      </p:sp>
      <p:sp>
        <p:nvSpPr>
          <p:cNvPr id="16" name="Muestra Blanco"/>
          <p:cNvSpPr/>
          <p:nvPr/>
        </p:nvSpPr>
        <p:spPr>
          <a:xfrm>
            <a:off x="6163056" y="1691640"/>
            <a:ext cx="265176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CAD6C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91656" y="3246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Blanco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163056" y="39776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D1F1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#FFFFFF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6163056" y="43891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3544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RGB 255 · 255 · 255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163056" y="468172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--white / --bg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163056" y="507492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Fondo y superficies de trabajo.</a:t>
            </a:r>
            <a:endParaRPr lang="en-US" sz="1400" dirty="0"/>
          </a:p>
        </p:txBody>
      </p:sp>
      <p:sp>
        <p:nvSpPr>
          <p:cNvPr id="22" name="Muestra Negro verdoso"/>
          <p:cNvSpPr/>
          <p:nvPr/>
        </p:nvSpPr>
        <p:spPr>
          <a:xfrm>
            <a:off x="8970264" y="1691640"/>
            <a:ext cx="2651760" cy="2103120"/>
          </a:xfrm>
          <a:prstGeom prst="roundRect">
            <a:avLst>
              <a:gd name="adj" fmla="val 4348"/>
            </a:avLst>
          </a:prstGeom>
          <a:solidFill>
            <a:srgbClr val="0D1F18"/>
          </a:solidFill>
          <a:ln w="12700">
            <a:solidFill>
              <a:srgbClr val="0D1F1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198864" y="3246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Negro verdoso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8970264" y="39776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D1F1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#0D1F18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8970264" y="43891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3544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RGB 13 · 31 · 24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8970264" y="468172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--ink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8970264" y="507492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Texto principal y énfasis.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A7B74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· COLOR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Colores secundarios </a:t>
            </a:r>
            <a:pPr algn="l" indent="0" marL="0">
              <a:buNone/>
            </a:pPr>
            <a:r>
              <a:rPr lang="en-US" sz="3200" b="1" dirty="0">
                <a:solidFill>
                  <a:srgbClr val="1F6F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 de apoyo</a:t>
            </a:r>
            <a:endParaRPr lang="en-US" sz="3200" dirty="0"/>
          </a:p>
        </p:txBody>
      </p:sp>
      <p:sp>
        <p:nvSpPr>
          <p:cNvPr id="4" name="Muestra Menta"/>
          <p:cNvSpPr/>
          <p:nvPr/>
        </p:nvSpPr>
        <p:spPr>
          <a:xfrm>
            <a:off x="548640" y="1645920"/>
            <a:ext cx="3566160" cy="1005840"/>
          </a:xfrm>
          <a:prstGeom prst="roundRect">
            <a:avLst>
              <a:gd name="adj" fmla="val 9091"/>
            </a:avLst>
          </a:prstGeom>
          <a:solidFill>
            <a:srgbClr val="A9D6C4"/>
          </a:solidFill>
          <a:ln w="12700">
            <a:solidFill>
              <a:srgbClr val="A9D6C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93852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Menta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6148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D1F1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#A9D6C4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07238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3544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RGB 169 · 214 · 196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36499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--mint · Ítem activo y acentos sobre verde bosque.</a:t>
            </a:r>
            <a:endParaRPr lang="en-US" sz="1300" dirty="0"/>
          </a:p>
        </p:txBody>
      </p:sp>
      <p:sp>
        <p:nvSpPr>
          <p:cNvPr id="9" name="Muestra Menta suave"/>
          <p:cNvSpPr/>
          <p:nvPr/>
        </p:nvSpPr>
        <p:spPr>
          <a:xfrm>
            <a:off x="4297680" y="1645920"/>
            <a:ext cx="3566160" cy="1005840"/>
          </a:xfrm>
          <a:prstGeom prst="roundRect">
            <a:avLst>
              <a:gd name="adj" fmla="val 9091"/>
            </a:avLst>
          </a:prstGeom>
          <a:solidFill>
            <a:srgbClr val="DFEEE6"/>
          </a:solidFill>
          <a:ln w="12700">
            <a:solidFill>
              <a:srgbClr val="CAD6C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26280" y="193852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Menta suave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297680" y="276148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D1F1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#DFEEE6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297680" y="307238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3544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RGB 223 · 238 · 230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297680" y="336499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--mint-soft · Panel de encabezado de página.</a:t>
            </a:r>
            <a:endParaRPr lang="en-US" sz="1300" dirty="0"/>
          </a:p>
        </p:txBody>
      </p:sp>
      <p:sp>
        <p:nvSpPr>
          <p:cNvPr id="14" name="Muestra Verde suave"/>
          <p:cNvSpPr/>
          <p:nvPr/>
        </p:nvSpPr>
        <p:spPr>
          <a:xfrm>
            <a:off x="8046720" y="1645920"/>
            <a:ext cx="3566160" cy="1005840"/>
          </a:xfrm>
          <a:prstGeom prst="roundRect">
            <a:avLst>
              <a:gd name="adj" fmla="val 9091"/>
            </a:avLst>
          </a:prstGeom>
          <a:solidFill>
            <a:srgbClr val="E8F4EE"/>
          </a:solidFill>
          <a:ln w="12700">
            <a:solidFill>
              <a:srgbClr val="CAD6C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75320" y="193852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Verde suave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8046720" y="276148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D1F1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#E8F4EE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046720" y="307238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3544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RGB 232 · 244 · 238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046720" y="336499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--brand-soft · Fondo de “reservado” y chips suaves.</a:t>
            </a:r>
            <a:endParaRPr lang="en-US" sz="1300" dirty="0"/>
          </a:p>
        </p:txBody>
      </p:sp>
      <p:sp>
        <p:nvSpPr>
          <p:cNvPr id="19" name="Muestra Crema"/>
          <p:cNvSpPr/>
          <p:nvPr/>
        </p:nvSpPr>
        <p:spPr>
          <a:xfrm>
            <a:off x="548640" y="4023360"/>
            <a:ext cx="3566160" cy="1005840"/>
          </a:xfrm>
          <a:prstGeom prst="roundRect">
            <a:avLst>
              <a:gd name="adj" fmla="val 9091"/>
            </a:avLst>
          </a:prstGeom>
          <a:solidFill>
            <a:srgbClr val="F6EFE6"/>
          </a:solidFill>
          <a:ln w="12700">
            <a:solidFill>
              <a:srgbClr val="CAD6C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431596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Crema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13892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D1F1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#F6EFE6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544982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3544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RGB 246 · 239 · 230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574243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--cream · Superficie cálida reservada, sin uso hoy.</a:t>
            </a:r>
            <a:endParaRPr lang="en-US" sz="1300" dirty="0"/>
          </a:p>
        </p:txBody>
      </p:sp>
      <p:sp>
        <p:nvSpPr>
          <p:cNvPr id="24" name="Muestra Coral"/>
          <p:cNvSpPr/>
          <p:nvPr/>
        </p:nvSpPr>
        <p:spPr>
          <a:xfrm>
            <a:off x="4297680" y="4023360"/>
            <a:ext cx="3566160" cy="1005840"/>
          </a:xfrm>
          <a:prstGeom prst="roundRect">
            <a:avLst>
              <a:gd name="adj" fmla="val 9091"/>
            </a:avLst>
          </a:prstGeom>
          <a:solidFill>
            <a:srgbClr val="E5533D"/>
          </a:solidFill>
          <a:ln w="12700">
            <a:solidFill>
              <a:srgbClr val="E5533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26280" y="431596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Coral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4297680" y="513892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D1F1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#E5533D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4297680" y="544982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3544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RGB 229 · 83 · 61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4297680" y="574243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--coral · Solo cancelar y estados negativos.</a:t>
            </a:r>
            <a:endParaRPr lang="en-US" sz="1300" dirty="0"/>
          </a:p>
        </p:txBody>
      </p:sp>
      <p:sp>
        <p:nvSpPr>
          <p:cNvPr id="29" name="Muestra Grises"/>
          <p:cNvSpPr/>
          <p:nvPr/>
        </p:nvSpPr>
        <p:spPr>
          <a:xfrm>
            <a:off x="8046720" y="4023360"/>
            <a:ext cx="3566160" cy="1005840"/>
          </a:xfrm>
          <a:prstGeom prst="roundRect">
            <a:avLst>
              <a:gd name="adj" fmla="val 9091"/>
            </a:avLst>
          </a:prstGeom>
          <a:solidFill>
            <a:srgbClr val="43544D"/>
          </a:solidFill>
          <a:ln w="12700">
            <a:solidFill>
              <a:srgbClr val="43544D"/>
            </a:solidFill>
            <a:prstDash val="solid"/>
          </a:ln>
        </p:spPr>
      </p:sp>
      <p:sp>
        <p:nvSpPr>
          <p:cNvPr id="30" name="Muestra mute"/>
          <p:cNvSpPr/>
          <p:nvPr/>
        </p:nvSpPr>
        <p:spPr>
          <a:xfrm>
            <a:off x="9829800" y="4023360"/>
            <a:ext cx="1783080" cy="1005840"/>
          </a:xfrm>
          <a:prstGeom prst="roundRect">
            <a:avLst>
              <a:gd name="adj" fmla="val 9091"/>
            </a:avLst>
          </a:prstGeom>
          <a:solidFill>
            <a:srgbClr val="6A7B74"/>
          </a:solidFill>
          <a:ln w="12700">
            <a:solidFill>
              <a:srgbClr val="6A7B74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275320" y="431596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Grises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8046720" y="513892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D1F1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#43544D · #6A7B74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8046720" y="544982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3544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RGB 67 · 84 · 77 / 106 · 123 · 116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8046720" y="574243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--ink-2 / --mute · Texto secundario y de apoyo.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A7B74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· COLOR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Cómo se reparte </a:t>
            </a:r>
            <a:pPr algn="l" indent="0" marL="0">
              <a:buNone/>
            </a:pPr>
            <a:r>
              <a:rPr lang="en-US" sz="3200" b="1" dirty="0">
                <a:solidFill>
                  <a:srgbClr val="1F6F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 color</a:t>
            </a:r>
            <a:endParaRPr lang="en-US" sz="3200" dirty="0"/>
          </a:p>
        </p:txBody>
      </p:sp>
      <p:sp>
        <p:nvSpPr>
          <p:cNvPr id="4" name="Proporción Blanco"/>
          <p:cNvSpPr/>
          <p:nvPr/>
        </p:nvSpPr>
        <p:spPr>
          <a:xfrm>
            <a:off x="548640" y="1783080"/>
            <a:ext cx="45720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6C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Blanco</a:t>
            </a:r>
            <a:endParaRPr lang="en-US" sz="1400" dirty="0"/>
          </a:p>
        </p:txBody>
      </p:sp>
      <p:sp>
        <p:nvSpPr>
          <p:cNvPr id="6" name="Proporción Bosque"/>
          <p:cNvSpPr/>
          <p:nvPr/>
        </p:nvSpPr>
        <p:spPr>
          <a:xfrm>
            <a:off x="5120640" y="1783080"/>
            <a:ext cx="1920240" cy="1097280"/>
          </a:xfrm>
          <a:prstGeom prst="rect">
            <a:avLst/>
          </a:prstGeom>
          <a:solidFill>
            <a:srgbClr val="0F3D2E"/>
          </a:solidFill>
          <a:ln w="12700">
            <a:solidFill>
              <a:srgbClr val="0F3D2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120640" y="1783080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Bosque</a:t>
            </a:r>
            <a:endParaRPr lang="en-US" sz="1400" dirty="0"/>
          </a:p>
        </p:txBody>
      </p:sp>
      <p:sp>
        <p:nvSpPr>
          <p:cNvPr id="8" name="Proporción Marca"/>
          <p:cNvSpPr/>
          <p:nvPr/>
        </p:nvSpPr>
        <p:spPr>
          <a:xfrm>
            <a:off x="7040880" y="1783080"/>
            <a:ext cx="1188720" cy="1097280"/>
          </a:xfrm>
          <a:prstGeom prst="rect">
            <a:avLst/>
          </a:prstGeom>
          <a:solidFill>
            <a:srgbClr val="1F6F57"/>
          </a:solidFill>
          <a:ln w="12700">
            <a:solidFill>
              <a:srgbClr val="1F6F5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040880" y="1783080"/>
            <a:ext cx="1188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Marca</a:t>
            </a:r>
            <a:endParaRPr lang="en-US" sz="1400" dirty="0"/>
          </a:p>
        </p:txBody>
      </p:sp>
      <p:sp>
        <p:nvSpPr>
          <p:cNvPr id="10" name="Proporción Menta"/>
          <p:cNvSpPr/>
          <p:nvPr/>
        </p:nvSpPr>
        <p:spPr>
          <a:xfrm>
            <a:off x="8229600" y="1783080"/>
            <a:ext cx="1005840" cy="1097280"/>
          </a:xfrm>
          <a:prstGeom prst="rect">
            <a:avLst/>
          </a:prstGeom>
          <a:solidFill>
            <a:srgbClr val="DFEEE6"/>
          </a:solidFill>
          <a:ln w="12700">
            <a:solidFill>
              <a:srgbClr val="CAD6C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0" y="1783080"/>
            <a:ext cx="1005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Menta</a:t>
            </a:r>
            <a:endParaRPr lang="en-US" sz="1400" dirty="0"/>
          </a:p>
        </p:txBody>
      </p:sp>
      <p:sp>
        <p:nvSpPr>
          <p:cNvPr id="12" name="Proporción Ink"/>
          <p:cNvSpPr/>
          <p:nvPr/>
        </p:nvSpPr>
        <p:spPr>
          <a:xfrm>
            <a:off x="9235440" y="1783080"/>
            <a:ext cx="548640" cy="1097280"/>
          </a:xfrm>
          <a:prstGeom prst="rect">
            <a:avLst/>
          </a:prstGeom>
          <a:solidFill>
            <a:srgbClr val="0D1F18"/>
          </a:solidFill>
          <a:ln w="12700">
            <a:solidFill>
              <a:srgbClr val="0D1F1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235440" y="1783080"/>
            <a:ext cx="548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Ink</a:t>
            </a:r>
            <a:endParaRPr lang="en-US" sz="1400" dirty="0"/>
          </a:p>
        </p:txBody>
      </p:sp>
      <p:sp>
        <p:nvSpPr>
          <p:cNvPr id="14" name="Proporción "/>
          <p:cNvSpPr/>
          <p:nvPr/>
        </p:nvSpPr>
        <p:spPr>
          <a:xfrm>
            <a:off x="9784080" y="1783080"/>
            <a:ext cx="457200" cy="1097280"/>
          </a:xfrm>
          <a:prstGeom prst="rect">
            <a:avLst/>
          </a:prstGeom>
          <a:solidFill>
            <a:srgbClr val="E5533D"/>
          </a:solidFill>
          <a:ln w="12700">
            <a:solidFill>
              <a:srgbClr val="E553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30175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A7B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Proporción orientativa (propuesta): predomina el blanco, el verde ancla y el coral es un toque mínimo.</a:t>
            </a:r>
            <a:endParaRPr lang="en-US" sz="1200" dirty="0"/>
          </a:p>
        </p:txBody>
      </p:sp>
      <p:sp>
        <p:nvSpPr>
          <p:cNvPr id="16" name="Regla 1"/>
          <p:cNvSpPr/>
          <p:nvPr/>
        </p:nvSpPr>
        <p:spPr>
          <a:xfrm>
            <a:off x="548640" y="3703320"/>
            <a:ext cx="3566160" cy="2377440"/>
          </a:xfrm>
          <a:prstGeom prst="roundRect">
            <a:avLst>
              <a:gd name="adj" fmla="val 3846"/>
            </a:avLst>
          </a:prstGeom>
          <a:solidFill>
            <a:srgbClr val="F5F8F6"/>
          </a:solidFill>
          <a:ln w="12700">
            <a:solidFill>
              <a:srgbClr val="E2EAE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39319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 blanco domina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434840"/>
            <a:ext cx="3017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Las superficies de trabajo son blancas con bordes finos. El color marca estado e identidad.</a:t>
            </a:r>
            <a:endParaRPr lang="en-US" sz="1400" dirty="0"/>
          </a:p>
        </p:txBody>
      </p:sp>
      <p:sp>
        <p:nvSpPr>
          <p:cNvPr id="19" name="Regla 2"/>
          <p:cNvSpPr/>
          <p:nvPr/>
        </p:nvSpPr>
        <p:spPr>
          <a:xfrm>
            <a:off x="4297680" y="3703320"/>
            <a:ext cx="3566160" cy="2377440"/>
          </a:xfrm>
          <a:prstGeom prst="roundRect">
            <a:avLst>
              <a:gd name="adj" fmla="val 3846"/>
            </a:avLst>
          </a:prstGeom>
          <a:solidFill>
            <a:srgbClr val="F5F8F6"/>
          </a:solidFill>
          <a:ln w="12700">
            <a:solidFill>
              <a:srgbClr val="E2EAE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72000" y="39319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 verde ancla y actúa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0" y="4434840"/>
            <a:ext cx="3017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Verde bosque para estructura; verde de marca para la acción. Un solo botón primario por vista.</a:t>
            </a:r>
            <a:endParaRPr lang="en-US" sz="1400" dirty="0"/>
          </a:p>
        </p:txBody>
      </p:sp>
      <p:sp>
        <p:nvSpPr>
          <p:cNvPr id="22" name="Regla 3"/>
          <p:cNvSpPr/>
          <p:nvPr/>
        </p:nvSpPr>
        <p:spPr>
          <a:xfrm>
            <a:off x="8046720" y="3703320"/>
            <a:ext cx="3566160" cy="2377440"/>
          </a:xfrm>
          <a:prstGeom prst="roundRect">
            <a:avLst>
              <a:gd name="adj" fmla="val 3846"/>
            </a:avLst>
          </a:prstGeom>
          <a:solidFill>
            <a:srgbClr val="FDEEEA"/>
          </a:solidFill>
          <a:ln w="12700">
            <a:solidFill>
              <a:srgbClr val="F4B9A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321040" y="39319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553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 coral solo cancela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8321040" y="4434840"/>
            <a:ext cx="3017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Nunca se usa para decorar ni para mostrar una baja de números: una baja va en gris oscuro.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A7B74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· COLOR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Colores </a:t>
            </a:r>
            <a:pPr algn="l" indent="0" marL="0">
              <a:buNone/>
            </a:pPr>
            <a:r>
              <a:rPr lang="en-US" sz="3200" b="1" dirty="0">
                <a:solidFill>
                  <a:srgbClr val="1F6F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 estado</a:t>
            </a:r>
            <a:endParaRPr lang="en-US" sz="3200" dirty="0"/>
          </a:p>
        </p:txBody>
      </p:sp>
      <p:sp>
        <p:nvSpPr>
          <p:cNvPr id="4" name="Estado Libre"/>
          <p:cNvSpPr/>
          <p:nvPr/>
        </p:nvSpPr>
        <p:spPr>
          <a:xfrm>
            <a:off x="548640" y="1783080"/>
            <a:ext cx="21031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CAD6CF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731520" y="20116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Libre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4871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3544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 personas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33756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Borde punteado gris, fondo blanco</a:t>
            </a:r>
            <a:endParaRPr lang="en-US" sz="1400" dirty="0"/>
          </a:p>
        </p:txBody>
      </p:sp>
      <p:sp>
        <p:nvSpPr>
          <p:cNvPr id="8" name="Estado Reservado"/>
          <p:cNvSpPr/>
          <p:nvPr/>
        </p:nvSpPr>
        <p:spPr>
          <a:xfrm>
            <a:off x="2788920" y="1783080"/>
            <a:ext cx="2103120" cy="1371600"/>
          </a:xfrm>
          <a:prstGeom prst="roundRect">
            <a:avLst>
              <a:gd name="adj" fmla="val 6667"/>
            </a:avLst>
          </a:prstGeom>
          <a:solidFill>
            <a:srgbClr val="E8F4EE"/>
          </a:solidFill>
          <a:ln w="15875">
            <a:solidFill>
              <a:srgbClr val="BCDCC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71800" y="20116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6F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Reservado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2971800" y="24871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 a 3 personas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788920" y="333756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Fondo verde suave, texto verde</a:t>
            </a:r>
            <a:endParaRPr lang="en-US" sz="1400" dirty="0"/>
          </a:p>
        </p:txBody>
      </p:sp>
      <p:sp>
        <p:nvSpPr>
          <p:cNvPr id="12" name="Estado Completo"/>
          <p:cNvSpPr/>
          <p:nvPr/>
        </p:nvSpPr>
        <p:spPr>
          <a:xfrm>
            <a:off x="5029200" y="1783080"/>
            <a:ext cx="2103120" cy="1371600"/>
          </a:xfrm>
          <a:prstGeom prst="roundRect">
            <a:avLst>
              <a:gd name="adj" fmla="val 6667"/>
            </a:avLst>
          </a:prstGeom>
          <a:solidFill>
            <a:srgbClr val="0F3D2E"/>
          </a:solidFill>
          <a:ln w="12700">
            <a:solidFill>
              <a:srgbClr val="0F3D2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212080" y="20116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Completo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5212080" y="24871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D6C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 personas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029200" y="333756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Relleno verde bosque, texto blanco</a:t>
            </a:r>
            <a:endParaRPr lang="en-US" sz="1400" dirty="0"/>
          </a:p>
        </p:txBody>
      </p:sp>
      <p:sp>
        <p:nvSpPr>
          <p:cNvPr id="16" name="Estado Cancelado"/>
          <p:cNvSpPr/>
          <p:nvPr/>
        </p:nvSpPr>
        <p:spPr>
          <a:xfrm>
            <a:off x="7269480" y="1783080"/>
            <a:ext cx="2103120" cy="1371600"/>
          </a:xfrm>
          <a:prstGeom prst="roundRect">
            <a:avLst>
              <a:gd name="adj" fmla="val 6667"/>
            </a:avLst>
          </a:prstGeom>
          <a:solidFill>
            <a:srgbClr val="FDEEEA"/>
          </a:solidFill>
          <a:ln w="15875">
            <a:solidFill>
              <a:srgbClr val="F4B9A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452360" y="20116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553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Cancelado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7452360" y="24871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5533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 guarda aparte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269480" y="333756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Chip coral</a:t>
            </a:r>
            <a:endParaRPr lang="en-US" sz="1400" dirty="0"/>
          </a:p>
        </p:txBody>
      </p:sp>
      <p:sp>
        <p:nvSpPr>
          <p:cNvPr id="20" name="Estado A confirmar"/>
          <p:cNvSpPr/>
          <p:nvPr/>
        </p:nvSpPr>
        <p:spPr>
          <a:xfrm>
            <a:off x="9509760" y="1783080"/>
            <a:ext cx="21031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6A7B74"/>
            </a:solidFill>
            <a:prstDash val="dash"/>
          </a:ln>
        </p:spPr>
      </p:sp>
      <p:sp>
        <p:nvSpPr>
          <p:cNvPr id="21" name="Text 19"/>
          <p:cNvSpPr txBox="1"/>
          <p:nvPr/>
        </p:nvSpPr>
        <p:spPr>
          <a:xfrm>
            <a:off x="9692640" y="20116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confirmar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9692640" y="24871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3544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dato no definido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9509760" y="333756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Chip con borde punteado</a:t>
            </a:r>
            <a:endParaRPr lang="en-US" sz="1400" dirty="0"/>
          </a:p>
        </p:txBody>
      </p:sp>
      <p:sp>
        <p:nvSpPr>
          <p:cNvPr id="24" name="Nota estados"/>
          <p:cNvSpPr/>
          <p:nvPr/>
        </p:nvSpPr>
        <p:spPr>
          <a:xfrm>
            <a:off x="548640" y="4617720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E8F4EE"/>
          </a:solidFill>
          <a:ln w="12700">
            <a:solidFill>
              <a:srgbClr val="BCDCC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22960" y="4800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3D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Los estados nunca dependen solo del color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822960" y="5257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Cada estado lleva su nombre escrito y cambia además el relleno o el borde, para que se entienda sin distinguir colores.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A7B74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· COLOR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Combinaciones </a:t>
            </a:r>
            <a:pPr algn="l" indent="0" marL="0">
              <a:buNone/>
            </a:pPr>
            <a:r>
              <a:rPr lang="en-US" sz="3200" b="1" dirty="0">
                <a:solidFill>
                  <a:srgbClr val="1F6F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 contraste</a:t>
            </a:r>
            <a:endParaRPr lang="en-US" sz="3200" dirty="0"/>
          </a:p>
        </p:txBody>
      </p:sp>
      <p:graphicFrame>
        <p:nvGraphicFramePr>
          <p:cNvPr id="15" name="Tabla de contrast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722376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1280160"/>
                <a:gridCol w="2103120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6A7B7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COMBINACIÓN</a:t>
                      </a:r>
                      <a:endParaRPr lang="en-US" sz="11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6A7B7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CONTRASTE</a:t>
                      </a:r>
                      <a:endParaRPr lang="en-US" sz="11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6A7B7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NIVEL WCAG</a:t>
                      </a:r>
                      <a:endParaRPr lang="en-US" sz="11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D1F1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Negro verdoso sobre blanco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0D1F18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17,1 : 1</a:t>
                      </a:r>
                      <a:endParaRPr lang="en-US" sz="14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6F5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AAA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D1F1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Gris secundario sobre blanco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0D1F18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8,0 : 1</a:t>
                      </a:r>
                      <a:endParaRPr lang="en-US" sz="14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6F5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AAA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D1F1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Blanco sobre verde bosque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0D1F18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12,2 : 1</a:t>
                      </a:r>
                      <a:endParaRPr lang="en-US" sz="14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6F5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AAA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D1F1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Menta sobre verde bosque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0D1F18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7,6 : 1</a:t>
                      </a:r>
                      <a:endParaRPr lang="en-US" sz="14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6F5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AAA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D1F1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Verde de marca sobre blanco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0D1F18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6,1 : 1</a:t>
                      </a:r>
                      <a:endParaRPr lang="en-US" sz="14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6F5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AA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D1F1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Blanco sobre verde de marca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0D1F18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6,1 : 1</a:t>
                      </a:r>
                      <a:endParaRPr lang="en-US" sz="14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6F5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AA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D1F1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Verde de marca sobre menta suave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0D1F18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5,1 : 1</a:t>
                      </a:r>
                      <a:endParaRPr lang="en-US" sz="14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6F5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AA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D1F1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Gris de apoyo sobre blanco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0D1F18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4,47 : 1</a:t>
                      </a:r>
                      <a:endParaRPr lang="en-US" sz="14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43544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Justo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D1F1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Coral con blanco (en ambos sentidos)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0D1F18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3,7 : 1</a:t>
                      </a:r>
                      <a:endParaRPr lang="en-US" sz="14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43544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Texto grande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Hallazgos"/>
          <p:cNvSpPr/>
          <p:nvPr/>
        </p:nvSpPr>
        <p:spPr>
          <a:xfrm>
            <a:off x="8138160" y="1645920"/>
            <a:ext cx="3474720" cy="4343400"/>
          </a:xfrm>
          <a:prstGeom prst="roundRect">
            <a:avLst>
              <a:gd name="adj" fmla="val 2632"/>
            </a:avLst>
          </a:prstGeom>
          <a:solidFill>
            <a:srgbClr val="F5F8F6"/>
          </a:solidFill>
          <a:ln w="12700">
            <a:solidFill>
              <a:srgbClr val="E2EAE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366760" y="18288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Dos puntos a revisar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366760" y="2286000"/>
            <a:ext cx="30175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Gris de apoyo: </a:t>
            </a:r>
            <a:pPr indent="0" marL="0">
              <a:buNone/>
            </a:pPr>
            <a:r>
              <a:rPr lang="en-US" sz="14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queda en 4,47 : 1, apenas bajo el 4,5 de AA. Conviene oscurecerlo un poco.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Coral: </a:t>
            </a:r>
            <a:pPr indent="0" marL="0">
              <a:buNone/>
            </a:pPr>
            <a:r>
              <a:rPr lang="en-US" sz="14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 botón de cancelar con texto blanco llega a 3,7 : 1. Sirve para texto grande; en texto chico, pasar a un coral más oscuro.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A7B74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· COLOR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Paleta del </a:t>
            </a:r>
            <a:pPr algn="l" indent="0" marL="0">
              <a:buNone/>
            </a:pPr>
            <a:r>
              <a:rPr lang="en-US" sz="3200" b="1" dirty="0">
                <a:solidFill>
                  <a:srgbClr val="1F6F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tema oscuro</a:t>
            </a:r>
            <a:endParaRPr lang="en-US" sz="3200" dirty="0"/>
          </a:p>
        </p:txBody>
      </p:sp>
      <p:sp>
        <p:nvSpPr>
          <p:cNvPr id="4" name="Fondo tema oscuro"/>
          <p:cNvSpPr/>
          <p:nvPr/>
        </p:nvSpPr>
        <p:spPr>
          <a:xfrm>
            <a:off x="548640" y="1645920"/>
            <a:ext cx="7589520" cy="4343400"/>
          </a:xfrm>
          <a:prstGeom prst="roundRect">
            <a:avLst>
              <a:gd name="adj" fmla="val 2526"/>
            </a:avLst>
          </a:prstGeom>
          <a:solidFill>
            <a:srgbClr val="0B1511"/>
          </a:solidFill>
          <a:ln w="12700">
            <a:solidFill>
              <a:srgbClr val="0B1511"/>
            </a:solidFill>
            <a:prstDash val="solid"/>
          </a:ln>
        </p:spPr>
      </p:sp>
      <p:sp>
        <p:nvSpPr>
          <p:cNvPr id="5" name="Oscuro Fondo"/>
          <p:cNvSpPr/>
          <p:nvPr/>
        </p:nvSpPr>
        <p:spPr>
          <a:xfrm>
            <a:off x="822960" y="1874520"/>
            <a:ext cx="2240280" cy="777240"/>
          </a:xfrm>
          <a:prstGeom prst="roundRect">
            <a:avLst>
              <a:gd name="adj" fmla="val 9412"/>
            </a:avLst>
          </a:prstGeom>
          <a:solidFill>
            <a:srgbClr val="0B1511"/>
          </a:solidFill>
          <a:ln w="12700">
            <a:solidFill>
              <a:srgbClr val="34503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187452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Fondo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1576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5C8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#0B1511</a:t>
            </a:r>
            <a:endParaRPr lang="en-US" sz="1200" dirty="0"/>
          </a:p>
        </p:txBody>
      </p:sp>
      <p:sp>
        <p:nvSpPr>
          <p:cNvPr id="8" name="Oscuro Superficie"/>
          <p:cNvSpPr/>
          <p:nvPr/>
        </p:nvSpPr>
        <p:spPr>
          <a:xfrm>
            <a:off x="3246120" y="1874520"/>
            <a:ext cx="2240280" cy="777240"/>
          </a:xfrm>
          <a:prstGeom prst="roundRect">
            <a:avLst>
              <a:gd name="adj" fmla="val 9412"/>
            </a:avLst>
          </a:prstGeom>
          <a:solidFill>
            <a:srgbClr val="12221B"/>
          </a:solidFill>
          <a:ln w="12700">
            <a:solidFill>
              <a:srgbClr val="34503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383280" y="187452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Superficie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246120" y="271576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5C8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#12221B</a:t>
            </a:r>
            <a:endParaRPr lang="en-US" sz="1200" dirty="0"/>
          </a:p>
        </p:txBody>
      </p:sp>
      <p:sp>
        <p:nvSpPr>
          <p:cNvPr id="11" name="Oscuro Suave"/>
          <p:cNvSpPr/>
          <p:nvPr/>
        </p:nvSpPr>
        <p:spPr>
          <a:xfrm>
            <a:off x="5669280" y="1874520"/>
            <a:ext cx="2240280" cy="777240"/>
          </a:xfrm>
          <a:prstGeom prst="roundRect">
            <a:avLst>
              <a:gd name="adj" fmla="val 9412"/>
            </a:avLst>
          </a:prstGeom>
          <a:solidFill>
            <a:srgbClr val="16271F"/>
          </a:solidFill>
          <a:ln w="12700">
            <a:solidFill>
              <a:srgbClr val="34503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806440" y="187452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Suave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669280" y="271576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5C8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#16271F</a:t>
            </a:r>
            <a:endParaRPr lang="en-US" sz="1200" dirty="0"/>
          </a:p>
        </p:txBody>
      </p:sp>
      <p:sp>
        <p:nvSpPr>
          <p:cNvPr id="14" name="Oscuro Línea"/>
          <p:cNvSpPr/>
          <p:nvPr/>
        </p:nvSpPr>
        <p:spPr>
          <a:xfrm>
            <a:off x="822960" y="3246120"/>
            <a:ext cx="2240280" cy="777240"/>
          </a:xfrm>
          <a:prstGeom prst="roundRect">
            <a:avLst>
              <a:gd name="adj" fmla="val 9412"/>
            </a:avLst>
          </a:prstGeom>
          <a:solidFill>
            <a:srgbClr val="233A2F"/>
          </a:solidFill>
          <a:ln w="12700">
            <a:solidFill>
              <a:srgbClr val="233A2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60120" y="324612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Línea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408736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5C8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#233A2F</a:t>
            </a:r>
            <a:endParaRPr lang="en-US" sz="1200" dirty="0"/>
          </a:p>
        </p:txBody>
      </p:sp>
      <p:sp>
        <p:nvSpPr>
          <p:cNvPr id="17" name="Oscuro Texto"/>
          <p:cNvSpPr/>
          <p:nvPr/>
        </p:nvSpPr>
        <p:spPr>
          <a:xfrm>
            <a:off x="3246120" y="3246120"/>
            <a:ext cx="2240280" cy="777240"/>
          </a:xfrm>
          <a:prstGeom prst="roundRect">
            <a:avLst>
              <a:gd name="adj" fmla="val 9412"/>
            </a:avLst>
          </a:prstGeom>
          <a:solidFill>
            <a:srgbClr val="E9F2ED"/>
          </a:solidFill>
          <a:ln w="12700">
            <a:solidFill>
              <a:srgbClr val="E9F2E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383280" y="324612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Texto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3246120" y="408736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5C8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#E9F2ED</a:t>
            </a:r>
            <a:endParaRPr lang="en-US" sz="1200" dirty="0"/>
          </a:p>
        </p:txBody>
      </p:sp>
      <p:sp>
        <p:nvSpPr>
          <p:cNvPr id="20" name="Oscuro Texto 2"/>
          <p:cNvSpPr/>
          <p:nvPr/>
        </p:nvSpPr>
        <p:spPr>
          <a:xfrm>
            <a:off x="5669280" y="3246120"/>
            <a:ext cx="2240280" cy="777240"/>
          </a:xfrm>
          <a:prstGeom prst="roundRect">
            <a:avLst>
              <a:gd name="adj" fmla="val 9412"/>
            </a:avLst>
          </a:prstGeom>
          <a:solidFill>
            <a:srgbClr val="B5C8BF"/>
          </a:solidFill>
          <a:ln w="12700">
            <a:solidFill>
              <a:srgbClr val="B5C8B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806440" y="324612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Texto 2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669280" y="408736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5C8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#B5C8BF</a:t>
            </a:r>
            <a:endParaRPr lang="en-US" sz="1200" dirty="0"/>
          </a:p>
        </p:txBody>
      </p:sp>
      <p:sp>
        <p:nvSpPr>
          <p:cNvPr id="23" name="Oscuro Marca"/>
          <p:cNvSpPr/>
          <p:nvPr/>
        </p:nvSpPr>
        <p:spPr>
          <a:xfrm>
            <a:off x="822960" y="4617720"/>
            <a:ext cx="2240280" cy="777240"/>
          </a:xfrm>
          <a:prstGeom prst="roundRect">
            <a:avLst>
              <a:gd name="adj" fmla="val 9412"/>
            </a:avLst>
          </a:prstGeom>
          <a:solidFill>
            <a:srgbClr val="3FAE87"/>
          </a:solidFill>
          <a:ln w="12700">
            <a:solidFill>
              <a:srgbClr val="3FAE8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60120" y="461772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Marca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822960" y="545896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5C8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#3FAE87</a:t>
            </a:r>
            <a:endParaRPr lang="en-US" sz="1200" dirty="0"/>
          </a:p>
        </p:txBody>
      </p:sp>
      <p:sp>
        <p:nvSpPr>
          <p:cNvPr id="26" name="Oscuro Relleno oscuro"/>
          <p:cNvSpPr/>
          <p:nvPr/>
        </p:nvSpPr>
        <p:spPr>
          <a:xfrm>
            <a:off x="3246120" y="4617720"/>
            <a:ext cx="2240280" cy="777240"/>
          </a:xfrm>
          <a:prstGeom prst="roundRect">
            <a:avLst>
              <a:gd name="adj" fmla="val 9412"/>
            </a:avLst>
          </a:prstGeom>
          <a:solidFill>
            <a:srgbClr val="1F6F57"/>
          </a:solidFill>
          <a:ln w="12700">
            <a:solidFill>
              <a:srgbClr val="1F6F57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383280" y="461772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Relleno oscuro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3246120" y="545896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5C8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#1F6F57</a:t>
            </a:r>
            <a:endParaRPr lang="en-US" sz="1200" dirty="0"/>
          </a:p>
        </p:txBody>
      </p:sp>
      <p:sp>
        <p:nvSpPr>
          <p:cNvPr id="29" name="Oscuro Coral"/>
          <p:cNvSpPr/>
          <p:nvPr/>
        </p:nvSpPr>
        <p:spPr>
          <a:xfrm>
            <a:off x="5669280" y="4617720"/>
            <a:ext cx="2240280" cy="777240"/>
          </a:xfrm>
          <a:prstGeom prst="roundRect">
            <a:avLst>
              <a:gd name="adj" fmla="val 9412"/>
            </a:avLst>
          </a:prstGeom>
          <a:solidFill>
            <a:srgbClr val="F0705B"/>
          </a:solidFill>
          <a:ln w="12700">
            <a:solidFill>
              <a:srgbClr val="F0705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806440" y="461772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Coral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5669280" y="545896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5C8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#F0705B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8458200" y="169164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Solo cambian los tokens: ningún componente tiene colores propios.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8458200" y="2697480"/>
            <a:ext cx="3154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 verde de marca se aclara y el texto pasa a casi blanco para mantener el contraste. En el tema oscuro se usa el logo en oscuro.</a:t>
            </a:r>
            <a:endParaRPr lang="en-US" sz="1400" dirty="0"/>
          </a:p>
        </p:txBody>
      </p:sp>
      <p:sp>
        <p:nvSpPr>
          <p:cNvPr id="34" name="Muestra del logo"/>
          <p:cNvSpPr/>
          <p:nvPr/>
        </p:nvSpPr>
        <p:spPr>
          <a:xfrm>
            <a:off x="8229600" y="4800600"/>
            <a:ext cx="3383280" cy="1188720"/>
          </a:xfrm>
          <a:prstGeom prst="roundRect">
            <a:avLst>
              <a:gd name="adj" fmla="val 7692"/>
            </a:avLst>
          </a:prstGeom>
          <a:solidFill>
            <a:srgbClr val="0B1511"/>
          </a:solidFill>
          <a:ln w="12700">
            <a:solidFill>
              <a:srgbClr val="0B1511"/>
            </a:solidFill>
            <a:prstDash val="solid"/>
          </a:ln>
        </p:spPr>
      </p:sp>
      <p:pic>
        <p:nvPicPr>
          <p:cNvPr id="35" name="Logo sobre tema oscuro · pelota" descr="Pelota del logo de Pal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41080" y="5074920"/>
            <a:ext cx="640080" cy="640080"/>
          </a:xfrm>
          <a:prstGeom prst="rect">
            <a:avLst/>
          </a:prstGeom>
        </p:spPr>
      </p:pic>
      <p:sp>
        <p:nvSpPr>
          <p:cNvPr id="36" name="Logo sobre tema oscuro · nombre"/>
          <p:cNvSpPr txBox="1"/>
          <p:nvPr/>
        </p:nvSpPr>
        <p:spPr>
          <a:xfrm>
            <a:off x="9396374" y="5010912"/>
            <a:ext cx="19202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300" b="1" spc="-100" kern="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Pali</a:t>
            </a:r>
            <a:endParaRPr lang="en-US" sz="4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A7B74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 · TIPOGRAFÍA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Dos familias: </a:t>
            </a:r>
            <a:pPr algn="l" indent="0" marL="0">
              <a:buNone/>
            </a:pPr>
            <a:r>
              <a:rPr lang="en-US" sz="3200" b="1" dirty="0">
                <a:solidFill>
                  <a:srgbClr val="1F6F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IBM Plex Sans y Mono</a:t>
            </a:r>
            <a:endParaRPr lang="en-US" sz="3200" dirty="0"/>
          </a:p>
        </p:txBody>
      </p:sp>
      <p:sp>
        <p:nvSpPr>
          <p:cNvPr id="4" name="Tarjeta Plex Sans"/>
          <p:cNvSpPr/>
          <p:nvPr/>
        </p:nvSpPr>
        <p:spPr>
          <a:xfrm>
            <a:off x="548640" y="1645920"/>
            <a:ext cx="5486400" cy="3566160"/>
          </a:xfrm>
          <a:prstGeom prst="roundRect">
            <a:avLst>
              <a:gd name="adj" fmla="val 3077"/>
            </a:avLst>
          </a:prstGeom>
          <a:solidFill>
            <a:srgbClr val="F5F8F6"/>
          </a:solidFill>
          <a:ln w="12700">
            <a:solidFill>
              <a:srgbClr val="E2EA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783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0" b="1" dirty="0">
                <a:solidFill>
                  <a:srgbClr val="0F3D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Aa</a:t>
            </a:r>
            <a:endParaRPr lang="en-US" sz="10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3832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IBM Plex Sans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8862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Regular 400 · Medium 500 · SemiBold 600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34340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Texto, títulos, botones y formularios.</a:t>
            </a:r>
            <a:endParaRPr lang="en-US" sz="1500" dirty="0"/>
          </a:p>
        </p:txBody>
      </p:sp>
      <p:sp>
        <p:nvSpPr>
          <p:cNvPr id="9" name="Tarjeta Plex Mono"/>
          <p:cNvSpPr/>
          <p:nvPr/>
        </p:nvSpPr>
        <p:spPr>
          <a:xfrm>
            <a:off x="6153912" y="1645920"/>
            <a:ext cx="5486400" cy="3566160"/>
          </a:xfrm>
          <a:prstGeom prst="roundRect">
            <a:avLst>
              <a:gd name="adj" fmla="val 3077"/>
            </a:avLst>
          </a:prstGeom>
          <a:solidFill>
            <a:srgbClr val="0F3D2E"/>
          </a:solidFill>
          <a:ln w="12700">
            <a:solidFill>
              <a:srgbClr val="0F3D2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28232" y="1783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0" b="1" dirty="0">
                <a:solidFill>
                  <a:srgbClr val="A9D6C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Aa</a:t>
            </a:r>
            <a:endParaRPr lang="en-US" sz="10000" dirty="0"/>
          </a:p>
        </p:txBody>
      </p:sp>
      <p:sp>
        <p:nvSpPr>
          <p:cNvPr id="11" name="Text 9"/>
          <p:cNvSpPr txBox="1"/>
          <p:nvPr/>
        </p:nvSpPr>
        <p:spPr>
          <a:xfrm>
            <a:off x="6428232" y="33832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IBM Plex Mono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6428232" y="38862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D6C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Regular 400 · Medium 500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428232" y="434340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FEEE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Datos y etiquetas: horarios, importes y teléfonos.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54406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 cargan desde Google Fonts. Sin conexión, el producto usa la fuente del sistema. Para ver este manual como se diseñó, instalá IBM Plex Sans e IBM Plex Mono.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A7B74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 · TIPOGRAFÍA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Jerarquía </a:t>
            </a:r>
            <a:pPr algn="l" indent="0" marL="0">
              <a:buNone/>
            </a:pPr>
            <a:r>
              <a:rPr lang="en-US" sz="3200" b="1" dirty="0">
                <a:solidFill>
                  <a:srgbClr val="1F6F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tipográfica</a:t>
            </a:r>
            <a:endParaRPr lang="en-US" sz="3200" dirty="0"/>
          </a:p>
        </p:txBody>
      </p:sp>
      <p:sp>
        <p:nvSpPr>
          <p:cNvPr id="4" name="Separador"/>
          <p:cNvSpPr/>
          <p:nvPr/>
        </p:nvSpPr>
        <p:spPr>
          <a:xfrm>
            <a:off x="548640" y="1609344"/>
            <a:ext cx="11064240" cy="0"/>
          </a:xfrm>
          <a:prstGeom prst="line">
            <a:avLst/>
          </a:prstGeom>
          <a:noFill/>
          <a:ln w="9525">
            <a:solidFill>
              <a:srgbClr val="E2EA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916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Título de página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9933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A7B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42 px · 600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3200400" y="164592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Cuánto entró</a:t>
            </a:r>
            <a:endParaRPr lang="en-US" sz="4200" dirty="0"/>
          </a:p>
        </p:txBody>
      </p:sp>
      <p:sp>
        <p:nvSpPr>
          <p:cNvPr id="8" name="Separador"/>
          <p:cNvSpPr/>
          <p:nvPr/>
        </p:nvSpPr>
        <p:spPr>
          <a:xfrm>
            <a:off x="548640" y="2560320"/>
            <a:ext cx="11064240" cy="0"/>
          </a:xfrm>
          <a:prstGeom prst="line">
            <a:avLst/>
          </a:prstGeom>
          <a:noFill/>
          <a:ln w="9525">
            <a:solidFill>
              <a:srgbClr val="E2EA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64261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Título de sección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9443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A7B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28 px · 600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200400" y="2596896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Reservas del día</a:t>
            </a:r>
            <a:endParaRPr lang="en-US" sz="2800" dirty="0"/>
          </a:p>
        </p:txBody>
      </p:sp>
      <p:sp>
        <p:nvSpPr>
          <p:cNvPr id="12" name="Separador"/>
          <p:cNvSpPr/>
          <p:nvPr/>
        </p:nvSpPr>
        <p:spPr>
          <a:xfrm>
            <a:off x="548640" y="3282696"/>
            <a:ext cx="11064240" cy="0"/>
          </a:xfrm>
          <a:prstGeom prst="line">
            <a:avLst/>
          </a:prstGeom>
          <a:noFill/>
          <a:ln w="9525">
            <a:solidFill>
              <a:srgbClr val="E2EAE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36499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Subtítulo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366674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A7B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15,5 px · 600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3200400" y="331927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Cancha 1 · Turno completo</a:t>
            </a:r>
            <a:endParaRPr lang="en-US" sz="1550" dirty="0"/>
          </a:p>
        </p:txBody>
      </p:sp>
      <p:sp>
        <p:nvSpPr>
          <p:cNvPr id="16" name="Separador"/>
          <p:cNvSpPr/>
          <p:nvPr/>
        </p:nvSpPr>
        <p:spPr>
          <a:xfrm>
            <a:off x="548640" y="3867912"/>
            <a:ext cx="11064240" cy="0"/>
          </a:xfrm>
          <a:prstGeom prst="line">
            <a:avLst/>
          </a:prstGeom>
          <a:noFill/>
          <a:ln w="9525">
            <a:solidFill>
              <a:srgbClr val="E2EAE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395020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Texto base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2519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A7B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14,5 px · 400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3200400" y="390448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Tocá un turno libre para reservarlo.</a:t>
            </a:r>
            <a:endParaRPr lang="en-US" sz="1450" dirty="0"/>
          </a:p>
        </p:txBody>
      </p:sp>
      <p:sp>
        <p:nvSpPr>
          <p:cNvPr id="20" name="Separador"/>
          <p:cNvSpPr/>
          <p:nvPr/>
        </p:nvSpPr>
        <p:spPr>
          <a:xfrm>
            <a:off x="548640" y="4453128"/>
            <a:ext cx="11064240" cy="0"/>
          </a:xfrm>
          <a:prstGeom prst="line">
            <a:avLst/>
          </a:prstGeom>
          <a:noFill/>
          <a:ln w="9525">
            <a:solidFill>
              <a:srgbClr val="E2EAE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453542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Texto de apoyo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483717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A7B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12,5 px · 400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3200400" y="448970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7B7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Los importes son una estimación.</a:t>
            </a:r>
            <a:endParaRPr lang="en-US" sz="1250" dirty="0"/>
          </a:p>
        </p:txBody>
      </p:sp>
      <p:sp>
        <p:nvSpPr>
          <p:cNvPr id="24" name="Separador"/>
          <p:cNvSpPr/>
          <p:nvPr/>
        </p:nvSpPr>
        <p:spPr>
          <a:xfrm>
            <a:off x="548640" y="5038344"/>
            <a:ext cx="11064240" cy="0"/>
          </a:xfrm>
          <a:prstGeom prst="line">
            <a:avLst/>
          </a:prstGeom>
          <a:noFill/>
          <a:ln w="9525">
            <a:solidFill>
              <a:srgbClr val="E2EAE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8640" y="51206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Etiqueta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54223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A7B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10,5 px · mono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3200400" y="507492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A7B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BUSCADOR ÚNICO</a:t>
            </a:r>
            <a:endParaRPr lang="en-US" sz="1100" dirty="0"/>
          </a:p>
        </p:txBody>
      </p:sp>
      <p:sp>
        <p:nvSpPr>
          <p:cNvPr id="28" name="Separador"/>
          <p:cNvSpPr/>
          <p:nvPr/>
        </p:nvSpPr>
        <p:spPr>
          <a:xfrm>
            <a:off x="548640" y="5577840"/>
            <a:ext cx="11064240" cy="0"/>
          </a:xfrm>
          <a:prstGeom prst="line">
            <a:avLst/>
          </a:prstGeom>
          <a:noFill/>
          <a:ln w="9525">
            <a:solidFill>
              <a:srgbClr val="E2EAE5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48640" y="566013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Cifra destacada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59618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A7B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48 px · 600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3200400" y="5614416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6F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$ 1.372.000</a:t>
            </a: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A7B74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 · FORMA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Forma, espacio </a:t>
            </a:r>
            <a:pPr algn="l" indent="0" marL="0">
              <a:buNone/>
            </a:pPr>
            <a:r>
              <a:rPr lang="en-US" sz="3200" b="1" dirty="0">
                <a:solidFill>
                  <a:srgbClr val="1F6F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 movimiento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Esquinas redondeadas</a:t>
            </a:r>
            <a:endParaRPr lang="en-US" sz="1800" dirty="0"/>
          </a:p>
        </p:txBody>
      </p:sp>
      <p:sp>
        <p:nvSpPr>
          <p:cNvPr id="5" name="Radio 8 px"/>
          <p:cNvSpPr/>
          <p:nvPr/>
        </p:nvSpPr>
        <p:spPr>
          <a:xfrm>
            <a:off x="548640" y="2148840"/>
            <a:ext cx="1280160" cy="1005840"/>
          </a:xfrm>
          <a:prstGeom prst="roundRect">
            <a:avLst>
              <a:gd name="adj" fmla="val 5455"/>
            </a:avLst>
          </a:prstGeom>
          <a:solidFill>
            <a:srgbClr val="E8F4EE"/>
          </a:solidFill>
          <a:ln w="12700">
            <a:solidFill>
              <a:srgbClr val="BCDCC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214884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3D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 px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24612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Controles</a:t>
            </a:r>
            <a:endParaRPr lang="en-US" sz="1200" dirty="0"/>
          </a:p>
        </p:txBody>
      </p:sp>
      <p:sp>
        <p:nvSpPr>
          <p:cNvPr id="8" name="Radio 12 px"/>
          <p:cNvSpPr/>
          <p:nvPr/>
        </p:nvSpPr>
        <p:spPr>
          <a:xfrm>
            <a:off x="1965960" y="2148840"/>
            <a:ext cx="1280160" cy="1005840"/>
          </a:xfrm>
          <a:prstGeom prst="roundRect">
            <a:avLst>
              <a:gd name="adj" fmla="val 9091"/>
            </a:avLst>
          </a:prstGeom>
          <a:solidFill>
            <a:srgbClr val="E8F4EE"/>
          </a:solidFill>
          <a:ln w="12700">
            <a:solidFill>
              <a:srgbClr val="BCDCC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965960" y="214884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3D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 px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965960" y="324612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Cards y modal</a:t>
            </a:r>
            <a:endParaRPr lang="en-US" sz="1200" dirty="0"/>
          </a:p>
        </p:txBody>
      </p:sp>
      <p:sp>
        <p:nvSpPr>
          <p:cNvPr id="11" name="Radio 20 px"/>
          <p:cNvSpPr/>
          <p:nvPr/>
        </p:nvSpPr>
        <p:spPr>
          <a:xfrm>
            <a:off x="3383280" y="2148840"/>
            <a:ext cx="1280160" cy="1005840"/>
          </a:xfrm>
          <a:prstGeom prst="roundRect">
            <a:avLst>
              <a:gd name="adj" fmla="val 18182"/>
            </a:avLst>
          </a:prstGeom>
          <a:solidFill>
            <a:srgbClr val="E8F4EE"/>
          </a:solidFill>
          <a:ln w="12700">
            <a:solidFill>
              <a:srgbClr val="BCDCC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383280" y="214884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3D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 px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383280" y="324612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Panel de encabezado</a:t>
            </a:r>
            <a:endParaRPr lang="en-US" sz="1200" dirty="0"/>
          </a:p>
        </p:txBody>
      </p:sp>
      <p:sp>
        <p:nvSpPr>
          <p:cNvPr id="14" name="Radio Píldora"/>
          <p:cNvSpPr/>
          <p:nvPr/>
        </p:nvSpPr>
        <p:spPr>
          <a:xfrm>
            <a:off x="4800600" y="2148840"/>
            <a:ext cx="1280160" cy="1005840"/>
          </a:xfrm>
          <a:prstGeom prst="roundRect">
            <a:avLst>
              <a:gd name="adj" fmla="val 27273"/>
            </a:avLst>
          </a:prstGeom>
          <a:solidFill>
            <a:srgbClr val="E8F4EE"/>
          </a:solidFill>
          <a:ln w="12700">
            <a:solidFill>
              <a:srgbClr val="BCDCC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00600" y="214884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3D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Píldora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800600" y="324612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Chips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309360" y="1645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Escala de espaciado</a:t>
            </a:r>
            <a:endParaRPr lang="en-US" sz="1800" dirty="0"/>
          </a:p>
        </p:txBody>
      </p:sp>
      <p:sp>
        <p:nvSpPr>
          <p:cNvPr id="18" name="Espacio 4"/>
          <p:cNvSpPr/>
          <p:nvPr/>
        </p:nvSpPr>
        <p:spPr>
          <a:xfrm>
            <a:off x="6309360" y="3066898"/>
            <a:ext cx="100584" cy="87782"/>
          </a:xfrm>
          <a:prstGeom prst="rect">
            <a:avLst/>
          </a:prstGeom>
          <a:solidFill>
            <a:srgbClr val="1F6F57"/>
          </a:solidFill>
          <a:ln w="12700">
            <a:solidFill>
              <a:srgbClr val="1F6F5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172200" y="3246120"/>
            <a:ext cx="374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A7B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Espacio 8"/>
          <p:cNvSpPr/>
          <p:nvPr/>
        </p:nvSpPr>
        <p:spPr>
          <a:xfrm>
            <a:off x="6684264" y="2979115"/>
            <a:ext cx="175565" cy="175565"/>
          </a:xfrm>
          <a:prstGeom prst="rect">
            <a:avLst/>
          </a:prstGeom>
          <a:solidFill>
            <a:srgbClr val="1F6F57"/>
          </a:solidFill>
          <a:ln w="12700">
            <a:solidFill>
              <a:srgbClr val="1F6F5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47104" y="3246120"/>
            <a:ext cx="44988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A7B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</a:t>
            </a:r>
            <a:endParaRPr lang="en-US" sz="1100" dirty="0"/>
          </a:p>
        </p:txBody>
      </p:sp>
      <p:sp>
        <p:nvSpPr>
          <p:cNvPr id="22" name="Espacio 12"/>
          <p:cNvSpPr/>
          <p:nvPr/>
        </p:nvSpPr>
        <p:spPr>
          <a:xfrm>
            <a:off x="7134149" y="2891333"/>
            <a:ext cx="263347" cy="263347"/>
          </a:xfrm>
          <a:prstGeom prst="rect">
            <a:avLst/>
          </a:prstGeom>
          <a:solidFill>
            <a:srgbClr val="1F6F57"/>
          </a:solidFill>
          <a:ln w="12700">
            <a:solidFill>
              <a:srgbClr val="1F6F5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996989" y="3246120"/>
            <a:ext cx="53766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A7B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</a:t>
            </a:r>
            <a:endParaRPr lang="en-US" sz="1100" dirty="0"/>
          </a:p>
        </p:txBody>
      </p:sp>
      <p:sp>
        <p:nvSpPr>
          <p:cNvPr id="24" name="Espacio 16"/>
          <p:cNvSpPr/>
          <p:nvPr/>
        </p:nvSpPr>
        <p:spPr>
          <a:xfrm>
            <a:off x="7671816" y="2803550"/>
            <a:ext cx="351130" cy="351130"/>
          </a:xfrm>
          <a:prstGeom prst="rect">
            <a:avLst/>
          </a:prstGeom>
          <a:solidFill>
            <a:srgbClr val="1F6F57"/>
          </a:solidFill>
          <a:ln w="12700">
            <a:solidFill>
              <a:srgbClr val="1F6F57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534656" y="3246120"/>
            <a:ext cx="6254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A7B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</a:t>
            </a:r>
            <a:endParaRPr lang="en-US" sz="1100" dirty="0"/>
          </a:p>
        </p:txBody>
      </p:sp>
      <p:sp>
        <p:nvSpPr>
          <p:cNvPr id="26" name="Espacio 24"/>
          <p:cNvSpPr/>
          <p:nvPr/>
        </p:nvSpPr>
        <p:spPr>
          <a:xfrm>
            <a:off x="8297266" y="2627986"/>
            <a:ext cx="526694" cy="526694"/>
          </a:xfrm>
          <a:prstGeom prst="rect">
            <a:avLst/>
          </a:prstGeom>
          <a:solidFill>
            <a:srgbClr val="1F6F57"/>
          </a:solidFill>
          <a:ln w="12700">
            <a:solidFill>
              <a:srgbClr val="1F6F57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160106" y="3246120"/>
            <a:ext cx="8010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A7B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24</a:t>
            </a:r>
            <a:endParaRPr lang="en-US" sz="1100" dirty="0"/>
          </a:p>
        </p:txBody>
      </p:sp>
      <p:sp>
        <p:nvSpPr>
          <p:cNvPr id="28" name="Espacio 32"/>
          <p:cNvSpPr/>
          <p:nvPr/>
        </p:nvSpPr>
        <p:spPr>
          <a:xfrm>
            <a:off x="9098280" y="2452421"/>
            <a:ext cx="702259" cy="702259"/>
          </a:xfrm>
          <a:prstGeom prst="rect">
            <a:avLst/>
          </a:prstGeom>
          <a:solidFill>
            <a:srgbClr val="1F6F57"/>
          </a:solidFill>
          <a:ln w="12700">
            <a:solidFill>
              <a:srgbClr val="1F6F57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961120" y="3246120"/>
            <a:ext cx="9765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A7B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32</a:t>
            </a:r>
            <a:endParaRPr lang="en-US" sz="1100" dirty="0"/>
          </a:p>
        </p:txBody>
      </p:sp>
      <p:sp>
        <p:nvSpPr>
          <p:cNvPr id="30" name="Espacio 48"/>
          <p:cNvSpPr/>
          <p:nvPr/>
        </p:nvSpPr>
        <p:spPr>
          <a:xfrm>
            <a:off x="10074859" y="2101291"/>
            <a:ext cx="1053389" cy="1053389"/>
          </a:xfrm>
          <a:prstGeom prst="rect">
            <a:avLst/>
          </a:prstGeom>
          <a:solidFill>
            <a:srgbClr val="1F6F57"/>
          </a:solidFill>
          <a:ln w="12700">
            <a:solidFill>
              <a:srgbClr val="1F6F57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937699" y="3246120"/>
            <a:ext cx="13277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A7B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48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6309360" y="3611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A7B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px · múltiplos de 4</a:t>
            </a:r>
            <a:endParaRPr lang="en-US" sz="1100" dirty="0"/>
          </a:p>
        </p:txBody>
      </p:sp>
      <p:sp>
        <p:nvSpPr>
          <p:cNvPr id="33" name="Tarjeta Sombra"/>
          <p:cNvSpPr/>
          <p:nvPr/>
        </p:nvSpPr>
        <p:spPr>
          <a:xfrm>
            <a:off x="548640" y="4160520"/>
            <a:ext cx="3566160" cy="1874520"/>
          </a:xfrm>
          <a:prstGeom prst="roundRect">
            <a:avLst>
              <a:gd name="adj" fmla="val 4878"/>
            </a:avLst>
          </a:prstGeom>
          <a:solidFill>
            <a:srgbClr val="F5F8F6"/>
          </a:solidFill>
          <a:ln w="12700">
            <a:solidFill>
              <a:srgbClr val="E2EAE5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04672" y="43434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Sombra</a:t>
            </a:r>
            <a:endParaRPr lang="en-US" sz="1800" dirty="0"/>
          </a:p>
        </p:txBody>
      </p:sp>
      <p:sp>
        <p:nvSpPr>
          <p:cNvPr id="35" name="Text 33"/>
          <p:cNvSpPr txBox="1"/>
          <p:nvPr/>
        </p:nvSpPr>
        <p:spPr>
          <a:xfrm>
            <a:off x="804672" y="480060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Una sola, solo en modal y listas flotantes. El resto se separa con bordes finos.</a:t>
            </a:r>
            <a:endParaRPr lang="en-US" sz="1400" dirty="0"/>
          </a:p>
        </p:txBody>
      </p:sp>
      <p:sp>
        <p:nvSpPr>
          <p:cNvPr id="36" name="Tarjeta Movimiento"/>
          <p:cNvSpPr/>
          <p:nvPr/>
        </p:nvSpPr>
        <p:spPr>
          <a:xfrm>
            <a:off x="4297680" y="4160520"/>
            <a:ext cx="3566160" cy="1874520"/>
          </a:xfrm>
          <a:prstGeom prst="roundRect">
            <a:avLst>
              <a:gd name="adj" fmla="val 4878"/>
            </a:avLst>
          </a:prstGeom>
          <a:solidFill>
            <a:srgbClr val="F5F8F6"/>
          </a:solidFill>
          <a:ln w="12700">
            <a:solidFill>
              <a:srgbClr val="E2EAE5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553712" y="43434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Movimiento</a:t>
            </a:r>
            <a:endParaRPr lang="en-US" sz="1800" dirty="0"/>
          </a:p>
        </p:txBody>
      </p:sp>
      <p:sp>
        <p:nvSpPr>
          <p:cNvPr id="38" name="Text 36"/>
          <p:cNvSpPr txBox="1"/>
          <p:nvPr/>
        </p:nvSpPr>
        <p:spPr>
          <a:xfrm>
            <a:off x="4553712" y="480060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150 ms al pasar el mouse. Sin animaciones decorativas; se respeta “reducir movimiento”.</a:t>
            </a:r>
            <a:endParaRPr lang="en-US" sz="1400" dirty="0"/>
          </a:p>
        </p:txBody>
      </p:sp>
      <p:sp>
        <p:nvSpPr>
          <p:cNvPr id="39" name="Tarjeta Tema"/>
          <p:cNvSpPr/>
          <p:nvPr/>
        </p:nvSpPr>
        <p:spPr>
          <a:xfrm>
            <a:off x="8046720" y="4160520"/>
            <a:ext cx="3566160" cy="1874520"/>
          </a:xfrm>
          <a:prstGeom prst="roundRect">
            <a:avLst>
              <a:gd name="adj" fmla="val 4878"/>
            </a:avLst>
          </a:prstGeom>
          <a:solidFill>
            <a:srgbClr val="F5F8F6"/>
          </a:solidFill>
          <a:ln w="12700">
            <a:solidFill>
              <a:srgbClr val="E2EAE5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302752" y="43434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Tema</a:t>
            </a:r>
            <a:endParaRPr lang="en-US" sz="1800" dirty="0"/>
          </a:p>
        </p:txBody>
      </p:sp>
      <p:sp>
        <p:nvSpPr>
          <p:cNvPr id="41" name="Text 39"/>
          <p:cNvSpPr txBox="1"/>
          <p:nvPr/>
        </p:nvSpPr>
        <p:spPr>
          <a:xfrm>
            <a:off x="8302752" y="480060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 cambio claro/oscuro se revela como una onda circular desde el clic.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A7B74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 · VOZ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Tono </a:t>
            </a:r>
            <a:pPr algn="l" indent="0" marL="0">
              <a:buNone/>
            </a:pPr>
            <a:r>
              <a:rPr lang="en-US" sz="3200" b="1" dirty="0">
                <a:solidFill>
                  <a:srgbClr val="1F6F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 voz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Español de Argentina, con voseo, sin tecnicismos y en frases cortas.</a:t>
            </a:r>
            <a:endParaRPr lang="en-US" sz="1600" dirty="0"/>
          </a:p>
        </p:txBody>
      </p:sp>
      <p:sp>
        <p:nvSpPr>
          <p:cNvPr id="5" name="Encabezado sí"/>
          <p:cNvSpPr/>
          <p:nvPr/>
        </p:nvSpPr>
        <p:spPr>
          <a:xfrm>
            <a:off x="548640" y="2148840"/>
            <a:ext cx="5440680" cy="502920"/>
          </a:xfrm>
          <a:prstGeom prst="roundRect">
            <a:avLst>
              <a:gd name="adj" fmla="val 14545"/>
            </a:avLst>
          </a:prstGeom>
          <a:solidFill>
            <a:srgbClr val="E8F4EE"/>
          </a:solidFill>
          <a:ln w="12700">
            <a:solidFill>
              <a:srgbClr val="E8F4E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14884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3D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Así sí</a:t>
            </a:r>
            <a:endParaRPr lang="en-US" sz="1600" dirty="0"/>
          </a:p>
        </p:txBody>
      </p:sp>
      <p:sp>
        <p:nvSpPr>
          <p:cNvPr id="7" name="Encabezado no"/>
          <p:cNvSpPr/>
          <p:nvPr/>
        </p:nvSpPr>
        <p:spPr>
          <a:xfrm>
            <a:off x="6199632" y="2148840"/>
            <a:ext cx="5440680" cy="502920"/>
          </a:xfrm>
          <a:prstGeom prst="roundRect">
            <a:avLst>
              <a:gd name="adj" fmla="val 14545"/>
            </a:avLst>
          </a:prstGeom>
          <a:solidFill>
            <a:srgbClr val="FDEEEA"/>
          </a:solidFill>
          <a:ln w="12700">
            <a:solidFill>
              <a:srgbClr val="FDEE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28232" y="214884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553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Así no</a:t>
            </a:r>
            <a:endParaRPr lang="en-US" sz="1600" dirty="0"/>
          </a:p>
        </p:txBody>
      </p:sp>
      <p:sp>
        <p:nvSpPr>
          <p:cNvPr id="9" name="Ejemplo sí 1"/>
          <p:cNvSpPr/>
          <p:nvPr/>
        </p:nvSpPr>
        <p:spPr>
          <a:xfrm>
            <a:off x="548640" y="2834640"/>
            <a:ext cx="544068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CAD6C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2834640"/>
            <a:ext cx="5029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Tocá un turno libre para reservarlo.</a:t>
            </a:r>
            <a:endParaRPr lang="en-US" sz="1400" dirty="0"/>
          </a:p>
        </p:txBody>
      </p:sp>
      <p:sp>
        <p:nvSpPr>
          <p:cNvPr id="11" name="Ejemplo no 1"/>
          <p:cNvSpPr/>
          <p:nvPr/>
        </p:nvSpPr>
        <p:spPr>
          <a:xfrm>
            <a:off x="6199632" y="2834640"/>
            <a:ext cx="544068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CAD6C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28232" y="2834640"/>
            <a:ext cx="5029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A7B7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Clickee sobre el slot disponible para efectuar la reserva.</a:t>
            </a:r>
            <a:endParaRPr lang="en-US" sz="1400" dirty="0"/>
          </a:p>
        </p:txBody>
      </p:sp>
      <p:sp>
        <p:nvSpPr>
          <p:cNvPr id="13" name="Ejemplo sí 2"/>
          <p:cNvSpPr/>
          <p:nvPr/>
        </p:nvSpPr>
        <p:spPr>
          <a:xfrm>
            <a:off x="548640" y="3657600"/>
            <a:ext cx="544068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CAD6C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3657600"/>
            <a:ext cx="5029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Falta completar el campo Teléfono: es obligatorio.</a:t>
            </a:r>
            <a:endParaRPr lang="en-US" sz="1400" dirty="0"/>
          </a:p>
        </p:txBody>
      </p:sp>
      <p:sp>
        <p:nvSpPr>
          <p:cNvPr id="15" name="Ejemplo no 2"/>
          <p:cNvSpPr/>
          <p:nvPr/>
        </p:nvSpPr>
        <p:spPr>
          <a:xfrm>
            <a:off x="6199632" y="3657600"/>
            <a:ext cx="544068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CAD6C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28232" y="3657600"/>
            <a:ext cx="5029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A7B7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Error de validación: campo requerido (400).</a:t>
            </a:r>
            <a:endParaRPr lang="en-US" sz="1400" dirty="0"/>
          </a:p>
        </p:txBody>
      </p:sp>
      <p:sp>
        <p:nvSpPr>
          <p:cNvPr id="17" name="Ejemplo sí 3"/>
          <p:cNvSpPr/>
          <p:nvPr/>
        </p:nvSpPr>
        <p:spPr>
          <a:xfrm>
            <a:off x="548640" y="4480560"/>
            <a:ext cx="544068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CAD6C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4480560"/>
            <a:ext cx="5029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Elegí una categoría.</a:t>
            </a:r>
            <a:endParaRPr lang="en-US" sz="1400" dirty="0"/>
          </a:p>
        </p:txBody>
      </p:sp>
      <p:sp>
        <p:nvSpPr>
          <p:cNvPr id="19" name="Ejemplo no 3"/>
          <p:cNvSpPr/>
          <p:nvPr/>
        </p:nvSpPr>
        <p:spPr>
          <a:xfrm>
            <a:off x="6199632" y="4480560"/>
            <a:ext cx="544068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CAD6C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28232" y="4480560"/>
            <a:ext cx="5029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A7B7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Seleccione una opción del dropdown.</a:t>
            </a:r>
            <a:endParaRPr lang="en-US" sz="1400" dirty="0"/>
          </a:p>
        </p:txBody>
      </p:sp>
      <p:sp>
        <p:nvSpPr>
          <p:cNvPr id="21" name="Ejemplo sí 4"/>
          <p:cNvSpPr/>
          <p:nvPr/>
        </p:nvSpPr>
        <p:spPr>
          <a:xfrm>
            <a:off x="548640" y="5303520"/>
            <a:ext cx="544068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CAD6C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7240" y="5303520"/>
            <a:ext cx="5029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pudimos cargar los ingresos. Intentá de nuevo.</a:t>
            </a:r>
            <a:endParaRPr lang="en-US" sz="1400" dirty="0"/>
          </a:p>
        </p:txBody>
      </p:sp>
      <p:sp>
        <p:nvSpPr>
          <p:cNvPr id="23" name="Ejemplo no 4"/>
          <p:cNvSpPr/>
          <p:nvPr/>
        </p:nvSpPr>
        <p:spPr>
          <a:xfrm>
            <a:off x="6199632" y="5303520"/>
            <a:ext cx="544068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CAD6C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28232" y="5303520"/>
            <a:ext cx="5029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A7B7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Ocurrió una excepción inesperada.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A7B74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 · APLICACIÓN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 marca </a:t>
            </a:r>
            <a:pPr algn="l" indent="0" marL="0">
              <a:buNone/>
            </a:pPr>
            <a:r>
              <a:rPr lang="en-US" sz="3200" b="1" dirty="0">
                <a:solidFill>
                  <a:srgbClr val="1F6F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 el producto</a:t>
            </a:r>
            <a:endParaRPr lang="en-US" sz="3200" dirty="0"/>
          </a:p>
        </p:txBody>
      </p:sp>
      <p:sp>
        <p:nvSpPr>
          <p:cNvPr id="4" name="Marco de pantalla"/>
          <p:cNvSpPr/>
          <p:nvPr/>
        </p:nvSpPr>
        <p:spPr>
          <a:xfrm>
            <a:off x="548640" y="1645920"/>
            <a:ext cx="11064240" cy="4251960"/>
          </a:xfrm>
          <a:prstGeom prst="roundRect">
            <a:avLst>
              <a:gd name="adj" fmla="val 2151"/>
            </a:avLst>
          </a:prstGeom>
          <a:solidFill>
            <a:srgbClr val="FFFFFF"/>
          </a:solidFill>
          <a:ln w="12700">
            <a:solidFill>
              <a:srgbClr val="CAD6CF"/>
            </a:solidFill>
            <a:prstDash val="solid"/>
          </a:ln>
        </p:spPr>
      </p:sp>
      <p:sp>
        <p:nvSpPr>
          <p:cNvPr id="5" name="Barra lateral"/>
          <p:cNvSpPr/>
          <p:nvPr/>
        </p:nvSpPr>
        <p:spPr>
          <a:xfrm>
            <a:off x="548640" y="1645920"/>
            <a:ext cx="2468880" cy="4251960"/>
          </a:xfrm>
          <a:prstGeom prst="roundRect">
            <a:avLst>
              <a:gd name="adj" fmla="val 3704"/>
            </a:avLst>
          </a:prstGeom>
          <a:solidFill>
            <a:srgbClr val="0F3D2E"/>
          </a:solidFill>
          <a:ln w="12700">
            <a:solidFill>
              <a:srgbClr val="0F3D2E"/>
            </a:solidFill>
            <a:prstDash val="solid"/>
          </a:ln>
        </p:spPr>
      </p:sp>
      <p:pic>
        <p:nvPicPr>
          <p:cNvPr id="6" name="Barra lateral · pelota" descr="Pelota del logo de Pal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920240"/>
            <a:ext cx="347472" cy="347472"/>
          </a:xfrm>
          <a:prstGeom prst="rect">
            <a:avLst/>
          </a:prstGeom>
        </p:spPr>
      </p:pic>
      <p:sp>
        <p:nvSpPr>
          <p:cNvPr id="7" name="Barra lateral · nombre"/>
          <p:cNvSpPr txBox="1"/>
          <p:nvPr/>
        </p:nvSpPr>
        <p:spPr>
          <a:xfrm>
            <a:off x="1232977" y="1885493"/>
            <a:ext cx="1042416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-100" kern="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Pali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560320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D6C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1325880" y="2560320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Cobros</a:t>
            </a:r>
            <a:endParaRPr lang="en-US" sz="1400" dirty="0"/>
          </a:p>
        </p:txBody>
      </p:sp>
      <p:sp>
        <p:nvSpPr>
          <p:cNvPr id="10" name="Ítem activo"/>
          <p:cNvSpPr/>
          <p:nvPr/>
        </p:nvSpPr>
        <p:spPr>
          <a:xfrm>
            <a:off x="731520" y="3017520"/>
            <a:ext cx="2103120" cy="402336"/>
          </a:xfrm>
          <a:prstGeom prst="roundRect">
            <a:avLst>
              <a:gd name="adj" fmla="val 18182"/>
            </a:avLst>
          </a:prstGeom>
          <a:solidFill>
            <a:srgbClr val="A9D6C4"/>
          </a:solidFill>
          <a:ln w="12700">
            <a:solidFill>
              <a:srgbClr val="A9D6C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68680" y="3017520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1325880" y="3017520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D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Agenda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868680" y="3474720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D6C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1325880" y="3474720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Personas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868680" y="3931920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D6C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1325880" y="3931920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Reservas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868680" y="4389120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D6C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325880" y="4389120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Configuración</a:t>
            </a:r>
            <a:endParaRPr lang="en-US" sz="1400" dirty="0"/>
          </a:p>
        </p:txBody>
      </p:sp>
      <p:sp>
        <p:nvSpPr>
          <p:cNvPr id="19" name="Encabezado de página"/>
          <p:cNvSpPr/>
          <p:nvPr/>
        </p:nvSpPr>
        <p:spPr>
          <a:xfrm>
            <a:off x="3291840" y="1920240"/>
            <a:ext cx="8046720" cy="1188720"/>
          </a:xfrm>
          <a:prstGeom prst="roundRect">
            <a:avLst>
              <a:gd name="adj" fmla="val 11538"/>
            </a:avLst>
          </a:prstGeom>
          <a:solidFill>
            <a:srgbClr val="DFEEE6"/>
          </a:solidFill>
          <a:ln w="12700">
            <a:solidFill>
              <a:srgbClr val="DFEEE6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3566160" y="20574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BACKOFFICE · AGENDA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3566160" y="23317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Reservá un turno en </a:t>
            </a:r>
            <a:pPr indent="0" marL="0">
              <a:buNone/>
            </a:pPr>
            <a:r>
              <a:rPr lang="en-US" sz="2800" b="1" dirty="0">
                <a:solidFill>
                  <a:srgbClr val="1F6F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 clics</a:t>
            </a:r>
            <a:endParaRPr lang="en-US" sz="2800" dirty="0"/>
          </a:p>
        </p:txBody>
      </p:sp>
      <p:sp>
        <p:nvSpPr>
          <p:cNvPr id="22" name="Turno Libre"/>
          <p:cNvSpPr/>
          <p:nvPr/>
        </p:nvSpPr>
        <p:spPr>
          <a:xfrm>
            <a:off x="3291840" y="3429000"/>
            <a:ext cx="25146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CAD6CF"/>
            </a:solidFill>
            <a:prstDash val="dash"/>
          </a:ln>
        </p:spPr>
      </p:sp>
      <p:sp>
        <p:nvSpPr>
          <p:cNvPr id="23" name="Text 20"/>
          <p:cNvSpPr txBox="1"/>
          <p:nvPr/>
        </p:nvSpPr>
        <p:spPr>
          <a:xfrm>
            <a:off x="3474720" y="35661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3544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Libre · 19:30–21:00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3474720" y="38862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 de 4 personas</a:t>
            </a:r>
            <a:endParaRPr lang="en-US" sz="1200" dirty="0"/>
          </a:p>
        </p:txBody>
      </p:sp>
      <p:sp>
        <p:nvSpPr>
          <p:cNvPr id="25" name="Turno Reservado"/>
          <p:cNvSpPr/>
          <p:nvPr/>
        </p:nvSpPr>
        <p:spPr>
          <a:xfrm>
            <a:off x="5989320" y="3429000"/>
            <a:ext cx="2514600" cy="914400"/>
          </a:xfrm>
          <a:prstGeom prst="roundRect">
            <a:avLst>
              <a:gd name="adj" fmla="val 10000"/>
            </a:avLst>
          </a:prstGeom>
          <a:solidFill>
            <a:srgbClr val="E8F4EE"/>
          </a:solidFill>
          <a:ln w="15875">
            <a:solidFill>
              <a:srgbClr val="BCDCCB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172200" y="35661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Reservado · 19:30–21:00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6172200" y="38862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6F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 de 4 personas</a:t>
            </a:r>
            <a:endParaRPr lang="en-US" sz="1200" dirty="0"/>
          </a:p>
        </p:txBody>
      </p:sp>
      <p:sp>
        <p:nvSpPr>
          <p:cNvPr id="28" name="Turno Completo"/>
          <p:cNvSpPr/>
          <p:nvPr/>
        </p:nvSpPr>
        <p:spPr>
          <a:xfrm>
            <a:off x="8686800" y="3429000"/>
            <a:ext cx="2514600" cy="914400"/>
          </a:xfrm>
          <a:prstGeom prst="roundRect">
            <a:avLst>
              <a:gd name="adj" fmla="val 10000"/>
            </a:avLst>
          </a:prstGeom>
          <a:solidFill>
            <a:srgbClr val="0F3D2E"/>
          </a:solidFill>
          <a:ln w="12700">
            <a:solidFill>
              <a:srgbClr val="0F3D2E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8869680" y="35661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Completo · 19:30–21:00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8869680" y="38862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D6C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 de 4 personas</a:t>
            </a:r>
            <a:endParaRPr lang="en-US" sz="1200" dirty="0"/>
          </a:p>
        </p:txBody>
      </p:sp>
      <p:sp>
        <p:nvSpPr>
          <p:cNvPr id="31" name="Botón Reservar"/>
          <p:cNvSpPr/>
          <p:nvPr/>
        </p:nvSpPr>
        <p:spPr>
          <a:xfrm>
            <a:off x="3291840" y="4800600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1F6F57"/>
          </a:solidFill>
          <a:ln w="12700">
            <a:solidFill>
              <a:srgbClr val="1F6F57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3291840" y="48006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Reservar</a:t>
            </a:r>
            <a:endParaRPr lang="en-US" sz="1400" dirty="0"/>
          </a:p>
        </p:txBody>
      </p:sp>
      <p:sp>
        <p:nvSpPr>
          <p:cNvPr id="33" name="Botón Aceptar"/>
          <p:cNvSpPr/>
          <p:nvPr/>
        </p:nvSpPr>
        <p:spPr>
          <a:xfrm>
            <a:off x="5303520" y="4800600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0F3D2E"/>
          </a:solidFill>
          <a:ln w="12700">
            <a:solidFill>
              <a:srgbClr val="0F3D2E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5303520" y="48006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Aceptar</a:t>
            </a:r>
            <a:endParaRPr lang="en-US" sz="1400" dirty="0"/>
          </a:p>
        </p:txBody>
      </p:sp>
      <p:sp>
        <p:nvSpPr>
          <p:cNvPr id="35" name="Botón Cancelar"/>
          <p:cNvSpPr/>
          <p:nvPr/>
        </p:nvSpPr>
        <p:spPr>
          <a:xfrm>
            <a:off x="7315200" y="4800600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CAD6C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315200" y="48006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Cancelar</a:t>
            </a:r>
            <a:endParaRPr lang="en-US" sz="1400" dirty="0"/>
          </a:p>
        </p:txBody>
      </p:sp>
      <p:sp>
        <p:nvSpPr>
          <p:cNvPr id="37" name="Botón Cancelar turno"/>
          <p:cNvSpPr/>
          <p:nvPr/>
        </p:nvSpPr>
        <p:spPr>
          <a:xfrm>
            <a:off x="9326880" y="4800600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FDEEEA"/>
          </a:solidFill>
          <a:ln w="12700">
            <a:solidFill>
              <a:srgbClr val="F4B9AD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9326880" y="48006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553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Cancelar turno</a:t>
            </a:r>
            <a:endParaRPr lang="en-US" sz="1400" dirty="0"/>
          </a:p>
        </p:txBody>
      </p:sp>
      <p:sp>
        <p:nvSpPr>
          <p:cNvPr id="39" name="Text 36"/>
          <p:cNvSpPr txBox="1"/>
          <p:nvPr/>
        </p:nvSpPr>
        <p:spPr>
          <a:xfrm>
            <a:off x="3291840" y="5486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A7B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Un solo primario por vista. El coral aparece solo en cancelar.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A7B74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7315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Recursos y próximos pasos</a:t>
            </a:r>
            <a:endParaRPr lang="en-US" sz="4000" dirty="0"/>
          </a:p>
        </p:txBody>
      </p:sp>
      <p:sp>
        <p:nvSpPr>
          <p:cNvPr id="3" name="Tarjeta recursos"/>
          <p:cNvSpPr/>
          <p:nvPr/>
        </p:nvSpPr>
        <p:spPr>
          <a:xfrm>
            <a:off x="731520" y="1828800"/>
            <a:ext cx="5120640" cy="3657600"/>
          </a:xfrm>
          <a:prstGeom prst="roundRect">
            <a:avLst>
              <a:gd name="adj" fmla="val 3000"/>
            </a:avLst>
          </a:prstGeom>
          <a:solidFill>
            <a:srgbClr val="12221B"/>
          </a:solidFill>
          <a:ln w="12700">
            <a:solidFill>
              <a:srgbClr val="34503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05840" y="2011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Dónde está todo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2560320"/>
            <a:ext cx="4572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A9D6C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Diseño/logo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FEEE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Ícono y logo completo en SVG, en claro, oscuro, negro y blanco.</a:t>
            </a:r>
            <a:endParaRPr lang="en-US" sz="1600" dirty="0"/>
          </a:p>
          <a:p>
            <a:pPr indent="0" marL="0">
              <a:buNone/>
            </a:pPr>
            <a:r>
              <a:rPr lang="en-US" sz="600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A9D6C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mockup/css/tokens.css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FEEE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Colores, tipografía y espaciado como variables.</a:t>
            </a:r>
            <a:endParaRPr lang="en-US" sz="1600" dirty="0"/>
          </a:p>
          <a:p>
            <a:pPr indent="0" marL="0">
              <a:buNone/>
            </a:pPr>
            <a:r>
              <a:rPr lang="en-US" sz="600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A9D6C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Diseño/DESIGN-SYSTEM.md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FEEE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Componentes, patrones y reglas de pantalla.</a:t>
            </a:r>
            <a:endParaRPr lang="en-US" sz="1600" dirty="0"/>
          </a:p>
        </p:txBody>
      </p:sp>
      <p:sp>
        <p:nvSpPr>
          <p:cNvPr id="6" name="Tarjeta pendientes"/>
          <p:cNvSpPr/>
          <p:nvPr/>
        </p:nvSpPr>
        <p:spPr>
          <a:xfrm>
            <a:off x="6126480" y="1828800"/>
            <a:ext cx="5303520" cy="3657600"/>
          </a:xfrm>
          <a:prstGeom prst="roundRect">
            <a:avLst>
              <a:gd name="adj" fmla="val 3000"/>
            </a:avLst>
          </a:prstGeom>
          <a:solidFill>
            <a:srgbClr val="12221B"/>
          </a:solidFill>
          <a:ln w="12700">
            <a:solidFill>
              <a:srgbClr val="34503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0" y="2011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definir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400800" y="2560320"/>
            <a:ext cx="4754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DFEEE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Validar el logo claro (pelota verde) y las medidas de respeto y tamaño mínimo.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DFEEE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Corregir el contraste del gris de apoyo y del coral.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DFEEE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Versión impresa: colores en CMYK y papelería.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DFEEE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Uso en redes y en el chatbot de WhatsApp (foto de perfil).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DFEEE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Frase de marca, si se quiere sumar una.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li">
  <a:themeElements>
    <a:clrScheme name="Pali">
      <a:dk1>
        <a:srgbClr val="0D1F18"/>
      </a:dk1>
      <a:lt1>
        <a:srgbClr val="FFFFFF"/>
      </a:lt1>
      <a:dk2>
        <a:srgbClr val="0F3D2E"/>
      </a:dk2>
      <a:lt2>
        <a:srgbClr val="F5F8F6"/>
      </a:lt2>
      <a:accent1>
        <a:srgbClr val="1F6F57"/>
      </a:accent1>
      <a:accent2>
        <a:srgbClr val="A9D6C4"/>
      </a:accent2>
      <a:accent3>
        <a:srgbClr val="DFEEE6"/>
      </a:accent3>
      <a:accent4>
        <a:srgbClr val="E5533D"/>
      </a:accent4>
      <a:accent5>
        <a:srgbClr val="43544D"/>
      </a:accent5>
      <a:accent6>
        <a:srgbClr val="6A7B74"/>
      </a:accent6>
      <a:hlink>
        <a:srgbClr val="1F6F57"/>
      </a:hlink>
      <a:folHlink>
        <a:srgbClr val="43544D"/>
      </a:folHlink>
    </a:clrScheme>
    <a:fontScheme name="Pali">
      <a:majorFont>
        <a:latin typeface="IBM Plex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BM Plex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Pali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Manual de marca · Pali</dc:title>
  <dc:subject>PptxGenJS Presentation</dc:subject>
  <dc:creator>Pali</dc:creator>
  <cp:lastModifiedBy>Pali</cp:lastModifiedBy>
  <cp:revision>1</cp:revision>
  <dcterms:created xsi:type="dcterms:W3CDTF">2026-10-11T01:07:38Z</dcterms:created>
  <dcterms:modified xsi:type="dcterms:W3CDTF">2026-10-11T01:07:38Z</dcterms:modified>
</cp:coreProperties>
</file>